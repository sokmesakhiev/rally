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be02d62-97a5-1b11-6677-be28955e4f12}">
          <p14:sldIdLst>
            <p14:sldId id="256"/>
            <p14:sldId id="257"/>
            <p14:sldId id="258"/>
          </p14:sldIdLst>
        </p14:section>
        <p14:section name="Organizer product" id="{ff01f258-80ea-2069-3b79-228251795f67}">
          <p14:sldIdLst>
            <p14:sldId id="259"/>
            <p14:sldId id="260"/>
            <p14:sldId id="261"/>
            <p14:sldId id="262"/>
            <p14:sldId id="263"/>
            <p14:sldId id="264"/>
          </p14:sldIdLst>
        </p14:section>
        <p14:section name="Participant product" id="{6941d536-2496-3f7e-154f-7eb216723761}">
          <p14:sldIdLst>
            <p14:sldId id="265"/>
            <p14:sldId id="266"/>
            <p14:sldId id="267"/>
            <p14:sldId id="268"/>
            <p14:sldId id="269"/>
          </p14:sldIdLst>
        </p14:section>
        <p14:section name="Operations and trust" id="{e5811909-664d-a921-6a40-6e76a64568ae}">
          <p14:sldIdLst>
            <p14:sldId id="270"/>
            <p14:sldId id="271"/>
            <p14:sldId id="272"/>
            <p14:sldId id="273"/>
            <p14:sldId id="274"/>
            <p14:sldId id="275"/>
          </p14:sldIdLst>
        </p14:section>
        <p14:section name="Engineering" id="{c9d281c1-f7d3-cfd0-ebda-f4456d6c1d4a}">
          <p14:sldIdLst>
            <p14:sldId id="276"/>
            <p14:sldId id="277"/>
            <p14:sldId id="278"/>
            <p14:sldId id="279"/>
          </p14:sldIdLst>
        </p14:section>
        <p14:section name="Close" id="{62e40099-bf3d-4733-35fb-1bffa2704c49}">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F3C7E"/>
                </a:solidFill>
                <a:latin typeface="+mj-lt"/>
              </a:defRPr>
            </a:pPr>
            <a:r>
              <a:rPr sz="1300" b="0" i="0" u="none" strike="noStrike">
                <a:solidFill>
                  <a:srgbClr val="2F3C7E"/>
                </a:solidFill>
                <a:latin typeface="+mj-lt"/>
              </a:rPr>
              <a:t>Cost per place falls as the event grows (US cents)</a:t>
            </a:r>
          </a:p>
        </c:rich>
      </c:tx>
      <c:layout/>
      <c:overlay val="0"/>
    </c:title>
    <c:autoTitleDeleted val="0"/>
    <c:plotArea>
      <c:layout/>
      <c:barChart>
        <c:barDir val="col"/>
        <c:grouping val="clustered"/>
        <c:varyColors val="0"/>
        <c:ser>
          <c:idx val="0"/>
          <c:order val="0"/>
          <c:tx>
            <c:strRef>
              <c:f>Sheet1!$B$1</c:f>
              <c:strCache>
                <c:ptCount val="1"/>
                <c:pt idx="0">
                  <c:v>US cents per place</c:v>
                </c:pt>
              </c:strCache>
            </c:strRef>
          </c:tx>
          <c:spPr>
            <a:solidFill>
              <a:srgbClr val="F96167"/>
            </a:solidFill>
            <a:effectLst/>
          </c:spPr>
          <c:invertIfNegative val="0"/>
          <c:dLbls>
            <c:numFmt formatCode="0.#" sourceLinked="0"/>
            <c:txPr>
              <a:bodyPr/>
              <a:lstStyle/>
              <a:p>
                <a:pPr>
                  <a:defRPr b="0" i="0" strike="noStrike" sz="1100" u="none">
                    <a:solidFill>
                      <a:srgbClr val="2F3C7E"/>
                    </a:solidFill>
                    <a:latin typeface="+mn-lt"/>
                  </a:defRPr>
                </a:pPr>
              </a:p>
            </c:txPr>
            <c:dLblPos val="outEnd"/>
            <c:showLegendKey val="0"/>
            <c:showVal val="1"/>
            <c:showCatName val="0"/>
            <c:showSerName val="0"/>
            <c:showPercent val="0"/>
            <c:showBubbleSize val="0"/>
            <c:showLeaderLines val="0"/>
          </c:dLbls>
          <c:dPt>
            <c:idx val="0"/>
            <c:invertIfNegative val="0"/>
            <c:bubble3D val="0"/>
            <c:spPr>
              <a:solidFill>
                <a:srgbClr val="F96167"/>
              </a:solidFill>
              <a:effectLst/>
            </c:spPr>
          </c:dPt>
          <c:dPt>
            <c:idx val="1"/>
            <c:invertIfNegative val="0"/>
            <c:bubble3D val="0"/>
            <c:spPr>
              <a:solidFill>
                <a:srgbClr val="F96167"/>
              </a:solidFill>
              <a:effectLst/>
            </c:spPr>
          </c:dPt>
          <c:dPt>
            <c:idx val="2"/>
            <c:invertIfNegative val="0"/>
            <c:bubble3D val="0"/>
            <c:spPr>
              <a:solidFill>
                <a:srgbClr val="F96167"/>
              </a:solidFill>
              <a:effectLst/>
            </c:spPr>
          </c:dPt>
          <c:dPt>
            <c:idx val="3"/>
            <c:invertIfNegative val="0"/>
            <c:bubble3D val="0"/>
            <c:spPr>
              <a:solidFill>
                <a:srgbClr val="F96167"/>
              </a:solidFill>
              <a:effectLst/>
            </c:spPr>
          </c:dPt>
          <c:cat>
            <c:multiLvlStrRef>
              <c:f>Sheet1!$A$2:$A$5</c:f>
              <c:multiLvlStrCache>
                <c:ptCount val="4"/>
                <c:lvl>
                  <c:pt idx="0">
                    <c:v>Small
200</c:v>
                  </c:pt>
                  <c:pt idx="1">
                    <c:v>Medium
1,000</c:v>
                  </c:pt>
                  <c:pt idx="2">
                    <c:v>Large
10,000</c:v>
                  </c:pt>
                  <c:pt idx="3">
                    <c:v>Extra Large
30,000</c:v>
                  </c:pt>
                </c:lvl>
              </c:multiLvlStrCache>
            </c:multiLvlStrRef>
          </c:cat>
          <c:val>
            <c:numRef>
              <c:f>Sheet1!$B$2:$B$5</c:f>
              <c:numCache>
                <c:formatCode>General</c:formatCode>
                <c:ptCount val="4"/>
                <c:pt idx="0">
                  <c:v>50</c:v>
                </c:pt>
                <c:pt idx="1">
                  <c:v>30</c:v>
                </c:pt>
                <c:pt idx="2">
                  <c:v>10</c:v>
                </c:pt>
                <c:pt idx="3">
                  <c:v>6.7</c:v>
                </c:pt>
              </c:numCache>
            </c:numRef>
          </c:val>
        </c:ser>
        <c:dLbls>
          <c:numFmt formatCode="0.#" sourceLinked="0"/>
          <c:txPr>
            <a:bodyPr/>
            <a:lstStyle/>
            <a:p>
              <a:pPr>
                <a:defRPr b="0" i="0" strike="noStrike" sz="1100" u="none">
                  <a:solidFill>
                    <a:srgbClr val="2F3C7E"/>
                  </a:solidFill>
                  <a:latin typeface="+mn-lt"/>
                </a:defRPr>
              </a:pPr>
            </a:p>
          </c:txPr>
          <c:dLblPos val="outEnd"/>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6213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0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6213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Rally is a production event-registration platform for endurance sport, built for the Cambodian market with ABA PayWay / KHQR payments and a bilingual English-Khmer interface.
This deck walks the product as it exists today. Every number in it comes from the codebase, not a projection.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strategic point: competitors stop at the checkout. Rally's scope runs through race day, which is where organizer switching costs come from — once your timing results and certificates live here, moving platforms means losing your history.
All four figures are countable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Signpost slide. If the room only has ten minutes, sections 1 and 3 are the ones that differentiate Rally — section 1 is the revenue model, section 3 is why organizers trust it with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path: Dashboard → an event → Setup → Survey builder, then open the public event page and register to show the questions inline, then Survey Responses.
Why it matters commercially: organizers currently collect this in Google Forms and reconcile by hand. Removing that reconciliation is often what makes them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path: the create-event form, add two event types with different prices and capacities, then the public page showing them side by side.
Engineering note worth saying out loud if asked: capacity is enforced in model validations on both the event and the event-type level, and the error is machine-readable so the UI can lock and refresh rather than string-match a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revenue model slide. Two things to land:
1. Rally is paid up front, at publish time, on planned capacity — not a percentage of ticket sales. That means no exposure to an organizer's event underselling.
2. The per-place price falls with scale, which is what makes the large tiers attractive rather than punitive, and is the natural upsell path as an organizer grows.
The free tier at 20 places is the acquisition channel: a club run costs nothing, and the same account upgrades when they run something real.
Figures are Event::PLANS in the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path: the manage-event page has a QR panel with a download button; the participant's own ticket QR is on their registration.
Market context if asked: in Cambodia a large share of event discovery is still physical — Facebook posts and printed material at gyms and running clubs. A QR that looks designed rather than bolted on gets used.
The illustration on this slide is decorative; scan the real one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 do not describe this as “private events for specific people”. It is not access-controlled: anyone with the link can view and register, and a forwarded link works for whoever receives it.
The product deliberately uses the word “unlisted” for that reason — calling it private would invite an organizer to post the link in a public channel believing it was gated.
If an investor asks for true invite-only: the data model stores visibility as a string enum precisely so a third value (rotatable code, invite list) can be added without a migration or an API break. It is on the roadmap slide.
The 50-place verification gate is real and worth mentioning — it guards the transition, so an event that predates the rule stays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path: register for a paid event, show the KHQR screen, pay on the sandbox gateway, watch the status flip.
The per-organizer merchant credential is a commercially significant detail — it means Rally can serve organizers who insist on receiving funds directly, which removes a common objection and a regulatory burden.
Money is stored as integer cents throughout; there are no floats anywhere in the payment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“sold out” is where ticketing platforms leak revenue and goodwill. Rally distinguishes full from closed from expired, and only one of those three offers a waitlist.
An in-flight registration is allowed to finish: the validations are on creation only, so closing registration while somebody is at the payment screen does not take their money and then refuse the place.
There is an E2E test that walks the whole waitlist promotion journey in a real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path: the Check-in tab, then Results with a CSV import, then the Certificate panel with a template upload and a rendered preview.
The template upload is checked at upload time for placeholders that a word processor has split across internal runs — a real failure that would otherwise print literal braces on every certificate.
Commercially: results and certificates are the stickiest data in the product. An organizer who has three years of finisher history here is not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path: the notification bell, then profile notification preferences.
The architectural choice worth defending if a technical investor asks: real-time delivery is a push message plus a WebSocket, not long-polling. Long-polling would hold a request thread per connected user, and the web task runs three. A WebSocket hijacks the socket off the request pool, so open connections cost nothing from that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path: open the chat bubble as a participant, send a message, then switch to the admin console's Support tab and reply — the participant's panel updates live.
The retention test is a good detail for a governance-minded investor: the privacy policy cannot drift from what the code actually does, because a failing test is what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path: the admin console's Users tab — the row actions menu, the user detail panel, then the Approvals tab.
If asked why this matters at this stage: the four-eyes control is the thing that lets Rally hire its first support person without handing them the ability to delete a customer's paid event. It is cheap to build now and extremely expensive to retrofit after an incident.
Every staff action is written to an append-only audit log with the actor's role snapshotted at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path: an event's Participants tab with the stat cards, then the admin Overview tab.
The anecdote at the bottom is worth telling if the room is technical — it shows the team catching a money-reporting bug as a consequence of a performance change, which is the kind of discipline that is hard to demonstrate any other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 the claim to make is “see what the user sees”, not “fix anything on their behalf”. Impersonation cannot write. Password changes, email changes, account deletion and admin promotion are all blocked without any rule of their own, because they are writes.
Frame this as the governance answer rather than the capability. Every investor who has seen a support-tool scandal will ask what stops a rogue employee; the answer here is four independent mechanisms, and it is better than most companies of this size can give.
If they ask whether support can act for a user: no, and that is deliberate. The next step would be a scoped, approved write capability — not loosening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path: the Report button on a public event page, then the admin Reports tab grouped by event.
This slide is really about judgement. Plenty of teams would have shipped the classifier because it demos well; the reasoning for not doing so — false positives on a sports platform whose organizers pay to publish — is the kind of thing that tells an investor how the team makes decisions.
Be honest about the known gap: reporting scales with audience, so a brand-new event with no audience is not meaningfully covered. The compensating control is the verified-organization requirement on large unlisted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investor-relevant version: this is not a monolith that has to be untangled before the team can grow. Two people can ship frontend and backend changes the same afternoon without coordinating a release.
The worker split has a concrete origin: certificate rendering shells out to LibreOffice and was doing so inside the process serving web requests. Moving it out is why page response times are not hostage to a document conversion.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 the accurate statement is “ECS Fargate”, not “EC2 with Fargate”. Those are alternative launch types for ECS and Rally is on Fargate, which means there are no EC2 instances to manage at all. Saying both would be caught by anyone technical.
Also do NOT claim autoscaling. There is no scaling policy configured; both services run one task. The honest and still-strong framing is on the slide: the architecture is stateless, so scaling is a configuration change. If asked directly, say that plainly — it reads as discipline about what is actually built, and the alternative is being caught out.
Note the staging environment is deployed to a single EC2 box with Kamal, deliberately cheaper than a second Fargate cluster. If somebody has heard “EC2” internally, that is where it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are from the repository: 1,805 backend examples across 91 files, 9 frontend test files, 7 Playwright journeys.
The point is not the raw number — it is that the payment and capacity paths are covered by tests driving a real browser against a real database. That is what lets two or three people ship weekly without a manual regression pass.
Be candid if asked: the frontend has far fewer tests than the backend. That is a deliberate weighting — the backend is where the money is — not an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The two gaps named here are the two claims corrected out of the original feature list — stating them as funded roadmap is stronger than overclaiming them as shipped, and it means nobody can catch you out by checking.
The partner API is not speculative: a design document for it already exists in the repository, and the bib-number and certificate-generation work was built as its first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2F3C7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194560"/>
            <a:ext cx="8778240" cy="17373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822960" y="4114800"/>
            <a:ext cx="8229600" cy="1371600"/>
          </a:xfrm>
          <a:prstGeom prst="rect">
            <a:avLst/>
          </a:prstGeom>
          <a:noFill/>
          <a:ln/>
        </p:spPr>
        <p:txBody>
          <a:bodyPr wrap="square" rtlCol="0"/>
          <a:lstStyle>
            <a:lvl1pPr indent="0" marL="0">
              <a:buNone/>
              <a:defRPr lang="en-US" sz="1700" dirty="0">
                <a:solidFill>
                  <a:srgbClr val="E8ECF7"/>
                </a:solidFill>
              </a:defRPr>
            </a:lvl1pPr>
          </a:lstStyle>
          <a:p>
            <a:pPr indent="0" marL="0">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2F3C7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743200"/>
            <a:ext cx="960120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822960" y="3931920"/>
            <a:ext cx="9144000" cy="914400"/>
          </a:xfrm>
          <a:prstGeom prst="rect">
            <a:avLst/>
          </a:prstGeom>
          <a:noFill/>
          <a:ln/>
        </p:spPr>
        <p:txBody>
          <a:bodyPr wrap="square" rtlCol="0"/>
          <a:lstStyle>
            <a:lvl1pPr indent="0" marL="0">
              <a:buNone/>
              <a:defRPr lang="en-US" sz="1500" dirty="0">
                <a:solidFill>
                  <a:srgbClr val="F9E795"/>
                </a:solidFill>
              </a:defRPr>
            </a:lvl1pPr>
          </a:lstStyle>
          <a:p>
            <a:pPr indent="0" marL="0">
              <a:buNone/>
            </a:pP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lstStyle>
            <a:lvl1pPr algn="l" indent="0" marL="0">
              <a:buNone/>
              <a:defRPr lang="en-US" sz="3200" b="1" dirty="0">
                <a:solidFill>
                  <a:srgbClr val="2F3C7E"/>
                </a:solidFill>
              </a:defRPr>
            </a:lvl1pPr>
          </a:lstStyle>
          <a:p>
            <a:pPr algn="l" indent="0" marL="0">
              <a:buNone/>
            </a:pPr>
            <a:endParaRPr lang="en-US" sz="3200" dirty="0"/>
          </a:p>
        </p:txBody>
      </p:sp>
      <p:sp>
        <p:nvSpPr>
          <p:cNvPr id="3" name="Text 0"/>
          <p:cNvSpPr txBox="1"/>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8A93B2"/>
                </a:solidFill>
              </a:rPr>
              <a:t>Rally — platform overview</a:t>
            </a:r>
            <a:endParaRPr lang="en-US" sz="900" dirty="0"/>
          </a:p>
        </p:txBody>
      </p:sp>
      <p:sp>
        <p:nvSpPr>
          <p:cNvPr id="4" name="Text 1"/>
          <p:cNvSpPr/>
          <p:nvPr>
            <p:ph idx="102" hasCustomPrompt="1"/>
          </p:nvPr>
        </p:nvSpPr>
        <p:spPr>
          <a:xfrm>
            <a:off x="11247120" y="6355080"/>
            <a:ext cx="457200" cy="274320"/>
          </a:xfrm>
          <a:prstGeom prst="rect">
            <a:avLst/>
          </a:prstGeom>
          <a:noFill/>
          <a:ln/>
        </p:spPr>
        <p:txBody>
          <a:bodyPr wrap="square" rtlCol="0"/>
          <a:lstStyle>
            <a:lvl1pPr algn="r" indent="0" marL="0">
              <a:buNone/>
              <a:defRPr lang="en-US" sz="900" dirty="0">
                <a:solidFill>
                  <a:srgbClr val="8A93B2"/>
                </a:solidFill>
              </a:defRPr>
            </a:lvl1pPr>
          </a:lstStyle>
          <a:p>
            <a:pPr algn="r" indent="0" marL="0">
              <a:buNone/>
            </a:pPr>
            <a:endParaRPr lang="en-US" sz="9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2F3C7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txBox="1"/>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8A93B2"/>
                </a:solidFill>
              </a:rPr>
              <a:t>Rally — platform overview</a:t>
            </a:r>
            <a:endParaRPr lang="en-US" sz="900" dirty="0"/>
          </a:p>
        </p:txBody>
      </p:sp>
      <p:sp>
        <p:nvSpPr>
          <p:cNvPr id="4" name="Text 1"/>
          <p:cNvSpPr/>
          <p:nvPr>
            <p:ph idx="102" hasCustomPrompt="1"/>
          </p:nvPr>
        </p:nvSpPr>
        <p:spPr>
          <a:xfrm>
            <a:off x="11247120" y="6355080"/>
            <a:ext cx="457200" cy="274320"/>
          </a:xfrm>
          <a:prstGeom prst="rect">
            <a:avLst/>
          </a:prstGeom>
          <a:noFill/>
          <a:ln/>
        </p:spPr>
        <p:txBody>
          <a:bodyPr wrap="square" rtlCol="0"/>
          <a:lstStyle>
            <a:lvl1pPr algn="r" indent="0" marL="0">
              <a:buNone/>
              <a:defRPr lang="en-US" sz="900" dirty="0">
                <a:solidFill>
                  <a:srgbClr val="8A93B2"/>
                </a:solidFill>
              </a:defRPr>
            </a:lvl1pPr>
          </a:lstStyle>
          <a:p>
            <a:pPr algn="r" indent="0" marL="0">
              <a:buNone/>
            </a:pPr>
            <a:endParaRPr lang="en-US" sz="9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ART_NOT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lstStyle>
            <a:lvl1pPr algn="l" indent="0" marL="0">
              <a:buNone/>
              <a:defRPr lang="en-US" sz="3200" b="1" dirty="0">
                <a:solidFill>
                  <a:srgbClr val="2F3C7E"/>
                </a:solidFill>
              </a:defRPr>
            </a:lvl1pPr>
          </a:lstStyle>
          <a:p>
            <a:pPr algn="l" indent="0" marL="0">
              <a:buNone/>
            </a:pPr>
            <a:endParaRPr lang="en-US" sz="3200" dirty="0"/>
          </a:p>
        </p:txBody>
      </p:sp>
      <p:sp>
        <p:nvSpPr>
          <p:cNvPr id="3" name="Text 0"/>
          <p:cNvSpPr txBox="1"/>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8A93B2"/>
                </a:solidFill>
              </a:rPr>
              <a:t>Rally — platform overview</a:t>
            </a:r>
            <a:endParaRPr lang="en-US" sz="900" dirty="0"/>
          </a:p>
        </p:txBody>
      </p:sp>
      <p:sp>
        <p:nvSpPr>
          <p:cNvPr id="4" name="Text 1"/>
          <p:cNvSpPr/>
          <p:nvPr>
            <p:ph idx="102" hasCustomPrompt="1"/>
          </p:nvPr>
        </p:nvSpPr>
        <p:spPr>
          <a:xfrm>
            <a:off x="11247120" y="6355080"/>
            <a:ext cx="457200" cy="274320"/>
          </a:xfrm>
          <a:prstGeom prst="rect">
            <a:avLst/>
          </a:prstGeom>
          <a:noFill/>
          <a:ln/>
        </p:spPr>
        <p:txBody>
          <a:bodyPr wrap="square" rtlCol="0"/>
          <a:lstStyle>
            <a:lvl1pPr algn="r" indent="0" marL="0">
              <a:buNone/>
              <a:defRPr lang="en-US" sz="900" dirty="0">
                <a:solidFill>
                  <a:srgbClr val="8A93B2"/>
                </a:solidFill>
              </a:defRPr>
            </a:lvl1pPr>
          </a:lstStyle>
          <a:p>
            <a:pPr algn="r" indent="0" marL="0">
              <a:buNone/>
            </a:pPr>
            <a:endParaRPr lang="en-US" sz="900" dirty="0"/>
          </a:p>
        </p:txBody>
      </p:sp>
      <p:sp>
        <p:nvSpPr>
          <p:cNvPr id="5" name="Text 1"/>
          <p:cNvSpPr/>
          <p:nvPr>
            <p:ph idx="103" type="chart" hasCustomPrompt="1"/>
          </p:nvPr>
        </p:nvSpPr>
        <p:spPr>
          <a:xfrm>
            <a:off x="640080" y="1463040"/>
            <a:ext cx="6949440" cy="4480560"/>
          </a:xfrm>
          <a:prstGeom prst="rect">
            <a:avLst/>
          </a:prstGeom>
          <a:noFill/>
          <a:ln/>
        </p:spPr>
        <p:txBody>
          <a:bodyPr wrap="square" rtlCol="0"/>
          <a:lstStyle>
            <a:lvl1pPr indent="0" marL="0">
              <a:buNone/>
              <a:defRPr lang="en-US" dirty="0">
                <a:solidFill>
                  <a:srgbClr val="16213E"/>
                </a:solidFill>
              </a:defRPr>
            </a:lvl1pPr>
          </a:lstStyle>
          <a:p>
            <a:pPr indent="0" marL="0">
              <a:buNone/>
            </a:pPr>
            <a:endParaRPr lang="en-US" dirty="0"/>
          </a:p>
        </p:txBody>
      </p:sp>
      <p:sp>
        <p:nvSpPr>
          <p:cNvPr id="6" name="Text 1"/>
          <p:cNvSpPr/>
          <p:nvPr>
            <p:ph idx="104" type="body" hasCustomPrompt="1"/>
          </p:nvPr>
        </p:nvSpPr>
        <p:spPr>
          <a:xfrm>
            <a:off x="7955280" y="1554480"/>
            <a:ext cx="3566160" cy="4297680"/>
          </a:xfrm>
          <a:prstGeom prst="rect">
            <a:avLst/>
          </a:prstGeom>
          <a:noFill/>
          <a:ln/>
        </p:spPr>
        <p:txBody>
          <a:bodyPr wrap="square" rtlCol="0"/>
          <a:lstStyle>
            <a:lvl1pPr indent="0" marL="0">
              <a:buNone/>
              <a:defRPr lang="en-US" sz="1400" dirty="0">
                <a:solidFill>
                  <a:srgbClr val="16213E"/>
                </a:solidFill>
              </a:defRPr>
            </a:lvl1pPr>
          </a:lstStyle>
          <a:p>
            <a:pPr indent="0" marL="0">
              <a:buNone/>
            </a:pP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6.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194560"/>
            <a:ext cx="8778240" cy="1737360"/>
          </a:xfrm>
          <a:prstGeom prst="rect">
            <a:avLst/>
          </a:prstGeom>
          <a:noFill/>
          <a:ln/>
        </p:spPr>
        <p:txBody>
          <a:bodyPr wrap="square" rtlCol="0" anchor="b"/>
          <a:lstStyle/>
          <a:p>
            <a:pPr algn="l" indent="0" marL="0">
              <a:buNone/>
            </a:pPr>
            <a:r>
              <a:rPr lang="en-US" sz="4800" b="1" dirty="0">
                <a:solidFill>
                  <a:schemeClr val="bg1"/>
                </a:solidFill>
              </a:rPr>
              <a:t>Rally</a:t>
            </a:r>
            <a:endParaRPr lang="en-US" sz="4800" dirty="0"/>
          </a:p>
        </p:txBody>
      </p:sp>
      <p:sp>
        <p:nvSpPr>
          <p:cNvPr id="3" name="Text 0"/>
          <p:cNvSpPr/>
          <p:nvPr>
            <p:ph idx="101" type="body" hasCustomPrompt="1"/>
          </p:nvPr>
        </p:nvSpPr>
        <p:spPr>
          <a:xfrm>
            <a:off x="822960" y="4114800"/>
            <a:ext cx="8229600" cy="1371600"/>
          </a:xfrm>
          <a:prstGeom prst="rect">
            <a:avLst/>
          </a:prstGeom>
          <a:noFill/>
          <a:ln/>
        </p:spPr>
        <p:txBody>
          <a:bodyPr wrap="square" rtlCol="0" anchor="t"/>
          <a:lstStyle/>
          <a:p>
            <a:pPr indent="0" marL="0">
              <a:buNone/>
            </a:pPr>
            <a:r>
              <a:rPr lang="en-US" sz="1700" dirty="0">
                <a:solidFill>
                  <a:srgbClr val="E8ECF7"/>
                </a:solidFill>
              </a:rPr>
              <a:t>The event registration platform for endurance sport — running, cycling, swimming, triathlon.</a:t>
            </a:r>
            <a:endParaRPr lang="en-US" sz="1700" dirty="0"/>
          </a:p>
          <a:p>
            <a:pPr indent="0" marL="0">
              <a:buNone/>
            </a:pPr>
            <a:r>
              <a:rPr lang="en-US" sz="1700" dirty="0">
                <a:solidFill>
                  <a:srgbClr val="E8ECF7"/>
                </a:solidFill>
              </a:rPr>
              <a:t>Built for Cambodia, built to scale.</a:t>
            </a:r>
            <a:endParaRPr lang="en-US" sz="1700" dirty="0"/>
          </a:p>
        </p:txBody>
      </p:sp>
      <p:sp>
        <p:nvSpPr>
          <p:cNvPr id="4" name="title-mark"/>
          <p:cNvSpPr/>
          <p:nvPr/>
        </p:nvSpPr>
        <p:spPr>
          <a:xfrm>
            <a:off x="9692640" y="1920240"/>
            <a:ext cx="1828800" cy="1828800"/>
          </a:xfrm>
          <a:prstGeom prst="ellipse">
            <a:avLst/>
          </a:prstGeom>
          <a:solidFill>
            <a:srgbClr val="F96167"/>
          </a:solidFill>
          <a:ln w="12700">
            <a:solidFill>
              <a:srgbClr val="F96167"/>
            </a:solidFill>
            <a:prstDash val="solid"/>
          </a:ln>
        </p:spPr>
      </p:sp>
      <p:sp>
        <p:nvSpPr>
          <p:cNvPr id="5" name="title-mark-letter"/>
          <p:cNvSpPr txBox="1"/>
          <p:nvPr/>
        </p:nvSpPr>
        <p:spPr>
          <a:xfrm>
            <a:off x="9692640" y="1920240"/>
            <a:ext cx="1828800" cy="1828800"/>
          </a:xfrm>
          <a:prstGeom prst="rect">
            <a:avLst/>
          </a:prstGeom>
          <a:noFill/>
          <a:ln/>
        </p:spPr>
        <p:txBody>
          <a:bodyPr wrap="square" lIns="0" tIns="0" rIns="0" bIns="0" rtlCol="0" anchor="ctr"/>
          <a:lstStyle/>
          <a:p>
            <a:pPr algn="ctr" indent="0" marL="0">
              <a:buNone/>
            </a:pPr>
            <a:r>
              <a:rPr lang="en-US" sz="7200" b="1" dirty="0">
                <a:solidFill>
                  <a:srgbClr val="FFFFFF"/>
                </a:solidFill>
              </a:rPr>
              <a:t>R</a:t>
            </a:r>
            <a:endParaRPr lang="en-US" sz="7200" dirty="0"/>
          </a:p>
        </p:txBody>
      </p:sp>
      <p:sp>
        <p:nvSpPr>
          <p:cNvPr id="6" name="title-date"/>
          <p:cNvSpPr txBox="1"/>
          <p:nvPr/>
        </p:nvSpPr>
        <p:spPr>
          <a:xfrm>
            <a:off x="822960" y="5852160"/>
            <a:ext cx="6400800" cy="320040"/>
          </a:xfrm>
          <a:prstGeom prst="rect">
            <a:avLst/>
          </a:prstGeom>
          <a:noFill/>
          <a:ln/>
        </p:spPr>
        <p:txBody>
          <a:bodyPr wrap="square" lIns="0" tIns="0" rIns="0" bIns="0" rtlCol="0" anchor="ctr"/>
          <a:lstStyle/>
          <a:p>
            <a:pPr indent="0" marL="0">
              <a:buNone/>
            </a:pPr>
            <a:r>
              <a:rPr lang="en-US" sz="1200" dirty="0">
                <a:solidFill>
                  <a:srgbClr val="8A93B2"/>
                </a:solidFill>
              </a:rPr>
              <a:t>Platform overview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rgbClr val="2F3C7E"/>
                </a:solidFill>
              </a:rPr>
              <a:t>Organizers sell tickets. Rally runs the event</a:t>
            </a:r>
            <a:endParaRPr lang="en-US" sz="3200" dirty="0"/>
          </a:p>
        </p:txBody>
      </p:sp>
      <p:sp>
        <p:nvSpPr>
          <p:cNvPr id="3" name="Text 1"/>
          <p:cNvSpPr txBox="1"/>
          <p:nvPr/>
        </p:nvSpPr>
        <p:spPr>
          <a:xfrm>
            <a:off x="640080" y="1280160"/>
            <a:ext cx="10881360" cy="685800"/>
          </a:xfrm>
          <a:prstGeom prst="rect">
            <a:avLst/>
          </a:prstGeom>
          <a:noFill/>
          <a:ln/>
        </p:spPr>
        <p:txBody>
          <a:bodyPr wrap="square" lIns="0" tIns="0" rIns="0" bIns="0" rtlCol="0" anchor="ctr"/>
          <a:lstStyle/>
          <a:p>
            <a:pPr indent="0" marL="0">
              <a:buNone/>
            </a:pPr>
            <a:r>
              <a:rPr lang="en-US" sz="1500" dirty="0">
                <a:solidFill>
                  <a:srgbClr val="16213E"/>
                </a:solidFill>
              </a:rPr>
              <a:t>Registration is the entry point, not the product. Rally covers the whole arc — publish, sell, seat, check in, time, certify — so an organizer never leaves the platform on race week.</a:t>
            </a:r>
            <a:endParaRPr lang="en-US" sz="1500" dirty="0"/>
          </a:p>
        </p:txBody>
      </p:sp>
      <p:sp>
        <p:nvSpPr>
          <p:cNvPr id="4" name="flow-0"/>
          <p:cNvSpPr/>
          <p:nvPr/>
        </p:nvSpPr>
        <p:spPr>
          <a:xfrm>
            <a:off x="640080" y="2194560"/>
            <a:ext cx="2011680" cy="1371600"/>
          </a:xfrm>
          <a:prstGeom prst="roundRect">
            <a:avLst>
              <a:gd name="adj" fmla="val 5333"/>
            </a:avLst>
          </a:prstGeom>
          <a:solidFill>
            <a:srgbClr val="2F3C7E"/>
          </a:solidFill>
          <a:ln w="12700">
            <a:solidFill>
              <a:srgbClr val="2F3C7E"/>
            </a:solidFill>
            <a:prstDash val="solid"/>
          </a:ln>
        </p:spPr>
      </p:sp>
      <p:sp>
        <p:nvSpPr>
          <p:cNvPr id="5" name="flow-0-h"/>
          <p:cNvSpPr txBox="1"/>
          <p:nvPr/>
        </p:nvSpPr>
        <p:spPr>
          <a:xfrm>
            <a:off x="804672" y="2377440"/>
            <a:ext cx="1682496" cy="365760"/>
          </a:xfrm>
          <a:prstGeom prst="rect">
            <a:avLst/>
          </a:prstGeom>
          <a:noFill/>
          <a:ln/>
        </p:spPr>
        <p:txBody>
          <a:bodyPr wrap="square" lIns="0" tIns="0" rIns="0" bIns="0" rtlCol="0" anchor="ctr"/>
          <a:lstStyle/>
          <a:p>
            <a:pPr indent="0" marL="0">
              <a:buNone/>
            </a:pPr>
            <a:r>
              <a:rPr lang="en-US" sz="1500" b="1" dirty="0">
                <a:solidFill>
                  <a:srgbClr val="FFFFFF"/>
                </a:solidFill>
              </a:rPr>
              <a:t>Publish</a:t>
            </a:r>
            <a:endParaRPr lang="en-US" sz="1500" dirty="0"/>
          </a:p>
        </p:txBody>
      </p:sp>
      <p:sp>
        <p:nvSpPr>
          <p:cNvPr id="6" name="flow-0-b"/>
          <p:cNvSpPr txBox="1"/>
          <p:nvPr/>
        </p:nvSpPr>
        <p:spPr>
          <a:xfrm>
            <a:off x="804672" y="2743200"/>
            <a:ext cx="1682496" cy="685800"/>
          </a:xfrm>
          <a:prstGeom prst="rect">
            <a:avLst/>
          </a:prstGeom>
          <a:noFill/>
          <a:ln/>
        </p:spPr>
        <p:txBody>
          <a:bodyPr wrap="square" lIns="0" tIns="0" rIns="0" bIns="0" rtlCol="0" anchor="ctr"/>
          <a:lstStyle/>
          <a:p>
            <a:pPr indent="0" marL="0">
              <a:buNone/>
            </a:pPr>
            <a:r>
              <a:rPr lang="en-US" sz="1100" dirty="0">
                <a:solidFill>
                  <a:srgbClr val="D8DDF0"/>
                </a:solidFill>
              </a:rPr>
              <a:t>Plan tier sets capacity</a:t>
            </a:r>
            <a:endParaRPr lang="en-US" sz="1100" dirty="0"/>
          </a:p>
        </p:txBody>
      </p:sp>
      <p:sp>
        <p:nvSpPr>
          <p:cNvPr id="7" name="flow-arrow-0"/>
          <p:cNvSpPr txBox="1"/>
          <p:nvPr/>
        </p:nvSpPr>
        <p:spPr>
          <a:xfrm>
            <a:off x="2651760" y="2651760"/>
            <a:ext cx="219456" cy="457200"/>
          </a:xfrm>
          <a:prstGeom prst="rect">
            <a:avLst/>
          </a:prstGeom>
          <a:noFill/>
          <a:ln/>
        </p:spPr>
        <p:txBody>
          <a:bodyPr wrap="square" lIns="0" tIns="0" rIns="0" bIns="0" rtlCol="0" anchor="ctr"/>
          <a:lstStyle/>
          <a:p>
            <a:pPr algn="ctr" indent="0" marL="0">
              <a:buNone/>
            </a:pPr>
            <a:r>
              <a:rPr lang="en-US" sz="2200" b="1" dirty="0">
                <a:solidFill>
                  <a:srgbClr val="F96167"/>
                </a:solidFill>
              </a:rPr>
              <a:t>›</a:t>
            </a:r>
            <a:endParaRPr lang="en-US" sz="2200" dirty="0"/>
          </a:p>
        </p:txBody>
      </p:sp>
      <p:sp>
        <p:nvSpPr>
          <p:cNvPr id="8" name="flow-1"/>
          <p:cNvSpPr/>
          <p:nvPr/>
        </p:nvSpPr>
        <p:spPr>
          <a:xfrm>
            <a:off x="2871216" y="2194560"/>
            <a:ext cx="2011680" cy="1371600"/>
          </a:xfrm>
          <a:prstGeom prst="roundRect">
            <a:avLst>
              <a:gd name="adj" fmla="val 5333"/>
            </a:avLst>
          </a:prstGeom>
          <a:solidFill>
            <a:srgbClr val="F2F4FA"/>
          </a:solidFill>
          <a:ln w="12700">
            <a:solidFill>
              <a:srgbClr val="F2F4FA"/>
            </a:solidFill>
            <a:prstDash val="solid"/>
          </a:ln>
        </p:spPr>
      </p:sp>
      <p:sp>
        <p:nvSpPr>
          <p:cNvPr id="9" name="flow-1-h"/>
          <p:cNvSpPr txBox="1"/>
          <p:nvPr/>
        </p:nvSpPr>
        <p:spPr>
          <a:xfrm>
            <a:off x="3035808" y="2377440"/>
            <a:ext cx="1682496" cy="365760"/>
          </a:xfrm>
          <a:prstGeom prst="rect">
            <a:avLst/>
          </a:prstGeom>
          <a:noFill/>
          <a:ln/>
        </p:spPr>
        <p:txBody>
          <a:bodyPr wrap="square" lIns="0" tIns="0" rIns="0" bIns="0" rtlCol="0" anchor="ctr"/>
          <a:lstStyle/>
          <a:p>
            <a:pPr indent="0" marL="0">
              <a:buNone/>
            </a:pPr>
            <a:r>
              <a:rPr lang="en-US" sz="1500" b="1" dirty="0">
                <a:solidFill>
                  <a:srgbClr val="2F3C7E"/>
                </a:solidFill>
              </a:rPr>
              <a:t>Sell</a:t>
            </a:r>
            <a:endParaRPr lang="en-US" sz="1500" dirty="0"/>
          </a:p>
        </p:txBody>
      </p:sp>
      <p:sp>
        <p:nvSpPr>
          <p:cNvPr id="10" name="flow-1-b"/>
          <p:cNvSpPr txBox="1"/>
          <p:nvPr/>
        </p:nvSpPr>
        <p:spPr>
          <a:xfrm>
            <a:off x="3035808" y="2743200"/>
            <a:ext cx="1682496" cy="685800"/>
          </a:xfrm>
          <a:prstGeom prst="rect">
            <a:avLst/>
          </a:prstGeom>
          <a:noFill/>
          <a:ln/>
        </p:spPr>
        <p:txBody>
          <a:bodyPr wrap="square" lIns="0" tIns="0" rIns="0" bIns="0" rtlCol="0" anchor="ctr"/>
          <a:lstStyle/>
          <a:p>
            <a:pPr indent="0" marL="0">
              <a:buNone/>
            </a:pPr>
            <a:r>
              <a:rPr lang="en-US" sz="1100" dirty="0">
                <a:solidFill>
                  <a:srgbClr val="16213E"/>
                </a:solidFill>
              </a:rPr>
              <a:t>KHQR, sub-events, surveys</a:t>
            </a:r>
            <a:endParaRPr lang="en-US" sz="1100" dirty="0"/>
          </a:p>
        </p:txBody>
      </p:sp>
      <p:sp>
        <p:nvSpPr>
          <p:cNvPr id="11" name="flow-arrow-1"/>
          <p:cNvSpPr txBox="1"/>
          <p:nvPr/>
        </p:nvSpPr>
        <p:spPr>
          <a:xfrm>
            <a:off x="4882896" y="2651760"/>
            <a:ext cx="219456" cy="457200"/>
          </a:xfrm>
          <a:prstGeom prst="rect">
            <a:avLst/>
          </a:prstGeom>
          <a:noFill/>
          <a:ln/>
        </p:spPr>
        <p:txBody>
          <a:bodyPr wrap="square" lIns="0" tIns="0" rIns="0" bIns="0" rtlCol="0" anchor="ctr"/>
          <a:lstStyle/>
          <a:p>
            <a:pPr algn="ctr" indent="0" marL="0">
              <a:buNone/>
            </a:pPr>
            <a:r>
              <a:rPr lang="en-US" sz="2200" b="1" dirty="0">
                <a:solidFill>
                  <a:srgbClr val="F96167"/>
                </a:solidFill>
              </a:rPr>
              <a:t>›</a:t>
            </a:r>
            <a:endParaRPr lang="en-US" sz="2200" dirty="0"/>
          </a:p>
        </p:txBody>
      </p:sp>
      <p:sp>
        <p:nvSpPr>
          <p:cNvPr id="12" name="flow-2"/>
          <p:cNvSpPr/>
          <p:nvPr/>
        </p:nvSpPr>
        <p:spPr>
          <a:xfrm>
            <a:off x="5102352" y="2194560"/>
            <a:ext cx="2011680" cy="1371600"/>
          </a:xfrm>
          <a:prstGeom prst="roundRect">
            <a:avLst>
              <a:gd name="adj" fmla="val 5333"/>
            </a:avLst>
          </a:prstGeom>
          <a:solidFill>
            <a:srgbClr val="F2F4FA"/>
          </a:solidFill>
          <a:ln w="12700">
            <a:solidFill>
              <a:srgbClr val="F2F4FA"/>
            </a:solidFill>
            <a:prstDash val="solid"/>
          </a:ln>
        </p:spPr>
      </p:sp>
      <p:sp>
        <p:nvSpPr>
          <p:cNvPr id="13" name="flow-2-h"/>
          <p:cNvSpPr txBox="1"/>
          <p:nvPr/>
        </p:nvSpPr>
        <p:spPr>
          <a:xfrm>
            <a:off x="5266944" y="2377440"/>
            <a:ext cx="1682496" cy="365760"/>
          </a:xfrm>
          <a:prstGeom prst="rect">
            <a:avLst/>
          </a:prstGeom>
          <a:noFill/>
          <a:ln/>
        </p:spPr>
        <p:txBody>
          <a:bodyPr wrap="square" lIns="0" tIns="0" rIns="0" bIns="0" rtlCol="0" anchor="ctr"/>
          <a:lstStyle/>
          <a:p>
            <a:pPr indent="0" marL="0">
              <a:buNone/>
            </a:pPr>
            <a:r>
              <a:rPr lang="en-US" sz="1500" b="1" dirty="0">
                <a:solidFill>
                  <a:srgbClr val="2F3C7E"/>
                </a:solidFill>
              </a:rPr>
              <a:t>Seat</a:t>
            </a:r>
            <a:endParaRPr lang="en-US" sz="1500" dirty="0"/>
          </a:p>
        </p:txBody>
      </p:sp>
      <p:sp>
        <p:nvSpPr>
          <p:cNvPr id="14" name="flow-2-b"/>
          <p:cNvSpPr txBox="1"/>
          <p:nvPr/>
        </p:nvSpPr>
        <p:spPr>
          <a:xfrm>
            <a:off x="5266944" y="2743200"/>
            <a:ext cx="1682496" cy="685800"/>
          </a:xfrm>
          <a:prstGeom prst="rect">
            <a:avLst/>
          </a:prstGeom>
          <a:noFill/>
          <a:ln/>
        </p:spPr>
        <p:txBody>
          <a:bodyPr wrap="square" lIns="0" tIns="0" rIns="0" bIns="0" rtlCol="0" anchor="ctr"/>
          <a:lstStyle/>
          <a:p>
            <a:pPr indent="0" marL="0">
              <a:buNone/>
            </a:pPr>
            <a:r>
              <a:rPr lang="en-US" sz="1100" dirty="0">
                <a:solidFill>
                  <a:srgbClr val="16213E"/>
                </a:solidFill>
              </a:rPr>
              <a:t>Capacity, waitlist, close</a:t>
            </a:r>
            <a:endParaRPr lang="en-US" sz="1100" dirty="0"/>
          </a:p>
        </p:txBody>
      </p:sp>
      <p:sp>
        <p:nvSpPr>
          <p:cNvPr id="15" name="flow-arrow-2"/>
          <p:cNvSpPr txBox="1"/>
          <p:nvPr/>
        </p:nvSpPr>
        <p:spPr>
          <a:xfrm>
            <a:off x="7114032" y="2651760"/>
            <a:ext cx="219456" cy="457200"/>
          </a:xfrm>
          <a:prstGeom prst="rect">
            <a:avLst/>
          </a:prstGeom>
          <a:noFill/>
          <a:ln/>
        </p:spPr>
        <p:txBody>
          <a:bodyPr wrap="square" lIns="0" tIns="0" rIns="0" bIns="0" rtlCol="0" anchor="ctr"/>
          <a:lstStyle/>
          <a:p>
            <a:pPr algn="ctr" indent="0" marL="0">
              <a:buNone/>
            </a:pPr>
            <a:r>
              <a:rPr lang="en-US" sz="2200" b="1" dirty="0">
                <a:solidFill>
                  <a:srgbClr val="F96167"/>
                </a:solidFill>
              </a:rPr>
              <a:t>›</a:t>
            </a:r>
            <a:endParaRPr lang="en-US" sz="2200" dirty="0"/>
          </a:p>
        </p:txBody>
      </p:sp>
      <p:sp>
        <p:nvSpPr>
          <p:cNvPr id="16" name="flow-3"/>
          <p:cNvSpPr/>
          <p:nvPr/>
        </p:nvSpPr>
        <p:spPr>
          <a:xfrm>
            <a:off x="7333488" y="2194560"/>
            <a:ext cx="2011680" cy="1371600"/>
          </a:xfrm>
          <a:prstGeom prst="roundRect">
            <a:avLst>
              <a:gd name="adj" fmla="val 5333"/>
            </a:avLst>
          </a:prstGeom>
          <a:solidFill>
            <a:srgbClr val="F2F4FA"/>
          </a:solidFill>
          <a:ln w="12700">
            <a:solidFill>
              <a:srgbClr val="F2F4FA"/>
            </a:solidFill>
            <a:prstDash val="solid"/>
          </a:ln>
        </p:spPr>
      </p:sp>
      <p:sp>
        <p:nvSpPr>
          <p:cNvPr id="17" name="flow-3-h"/>
          <p:cNvSpPr txBox="1"/>
          <p:nvPr/>
        </p:nvSpPr>
        <p:spPr>
          <a:xfrm>
            <a:off x="7498080" y="2377440"/>
            <a:ext cx="1682496" cy="365760"/>
          </a:xfrm>
          <a:prstGeom prst="rect">
            <a:avLst/>
          </a:prstGeom>
          <a:noFill/>
          <a:ln/>
        </p:spPr>
        <p:txBody>
          <a:bodyPr wrap="square" lIns="0" tIns="0" rIns="0" bIns="0" rtlCol="0" anchor="ctr"/>
          <a:lstStyle/>
          <a:p>
            <a:pPr indent="0" marL="0">
              <a:buNone/>
            </a:pPr>
            <a:r>
              <a:rPr lang="en-US" sz="1500" b="1" dirty="0">
                <a:solidFill>
                  <a:srgbClr val="2F3C7E"/>
                </a:solidFill>
              </a:rPr>
              <a:t>Check in</a:t>
            </a:r>
            <a:endParaRPr lang="en-US" sz="1500" dirty="0"/>
          </a:p>
        </p:txBody>
      </p:sp>
      <p:sp>
        <p:nvSpPr>
          <p:cNvPr id="18" name="flow-3-b"/>
          <p:cNvSpPr txBox="1"/>
          <p:nvPr/>
        </p:nvSpPr>
        <p:spPr>
          <a:xfrm>
            <a:off x="7498080" y="2743200"/>
            <a:ext cx="1682496" cy="685800"/>
          </a:xfrm>
          <a:prstGeom prst="rect">
            <a:avLst/>
          </a:prstGeom>
          <a:noFill/>
          <a:ln/>
        </p:spPr>
        <p:txBody>
          <a:bodyPr wrap="square" lIns="0" tIns="0" rIns="0" bIns="0" rtlCol="0" anchor="ctr"/>
          <a:lstStyle/>
          <a:p>
            <a:pPr indent="0" marL="0">
              <a:buNone/>
            </a:pPr>
            <a:r>
              <a:rPr lang="en-US" sz="1100" dirty="0">
                <a:solidFill>
                  <a:srgbClr val="16213E"/>
                </a:solidFill>
              </a:rPr>
              <a:t>QR tickets, bib numbers</a:t>
            </a:r>
            <a:endParaRPr lang="en-US" sz="1100" dirty="0"/>
          </a:p>
        </p:txBody>
      </p:sp>
      <p:sp>
        <p:nvSpPr>
          <p:cNvPr id="19" name="flow-arrow-3"/>
          <p:cNvSpPr txBox="1"/>
          <p:nvPr/>
        </p:nvSpPr>
        <p:spPr>
          <a:xfrm>
            <a:off x="9345168" y="2651760"/>
            <a:ext cx="219456" cy="457200"/>
          </a:xfrm>
          <a:prstGeom prst="rect">
            <a:avLst/>
          </a:prstGeom>
          <a:noFill/>
          <a:ln/>
        </p:spPr>
        <p:txBody>
          <a:bodyPr wrap="square" lIns="0" tIns="0" rIns="0" bIns="0" rtlCol="0" anchor="ctr"/>
          <a:lstStyle/>
          <a:p>
            <a:pPr algn="ctr" indent="0" marL="0">
              <a:buNone/>
            </a:pPr>
            <a:r>
              <a:rPr lang="en-US" sz="2200" b="1" dirty="0">
                <a:solidFill>
                  <a:srgbClr val="F96167"/>
                </a:solidFill>
              </a:rPr>
              <a:t>›</a:t>
            </a:r>
            <a:endParaRPr lang="en-US" sz="2200" dirty="0"/>
          </a:p>
        </p:txBody>
      </p:sp>
      <p:sp>
        <p:nvSpPr>
          <p:cNvPr id="20" name="flow-4"/>
          <p:cNvSpPr/>
          <p:nvPr/>
        </p:nvSpPr>
        <p:spPr>
          <a:xfrm>
            <a:off x="9564624" y="2194560"/>
            <a:ext cx="2011680" cy="1371600"/>
          </a:xfrm>
          <a:prstGeom prst="roundRect">
            <a:avLst>
              <a:gd name="adj" fmla="val 5333"/>
            </a:avLst>
          </a:prstGeom>
          <a:solidFill>
            <a:srgbClr val="F2F4FA"/>
          </a:solidFill>
          <a:ln w="12700">
            <a:solidFill>
              <a:srgbClr val="F2F4FA"/>
            </a:solidFill>
            <a:prstDash val="solid"/>
          </a:ln>
        </p:spPr>
      </p:sp>
      <p:sp>
        <p:nvSpPr>
          <p:cNvPr id="21" name="flow-4-h"/>
          <p:cNvSpPr txBox="1"/>
          <p:nvPr/>
        </p:nvSpPr>
        <p:spPr>
          <a:xfrm>
            <a:off x="9729216" y="2377440"/>
            <a:ext cx="1682496" cy="365760"/>
          </a:xfrm>
          <a:prstGeom prst="rect">
            <a:avLst/>
          </a:prstGeom>
          <a:noFill/>
          <a:ln/>
        </p:spPr>
        <p:txBody>
          <a:bodyPr wrap="square" lIns="0" tIns="0" rIns="0" bIns="0" rtlCol="0" anchor="ctr"/>
          <a:lstStyle/>
          <a:p>
            <a:pPr indent="0" marL="0">
              <a:buNone/>
            </a:pPr>
            <a:r>
              <a:rPr lang="en-US" sz="1500" b="1" dirty="0">
                <a:solidFill>
                  <a:srgbClr val="2F3C7E"/>
                </a:solidFill>
              </a:rPr>
              <a:t>Result</a:t>
            </a:r>
            <a:endParaRPr lang="en-US" sz="1500" dirty="0"/>
          </a:p>
        </p:txBody>
      </p:sp>
      <p:sp>
        <p:nvSpPr>
          <p:cNvPr id="22" name="flow-4-b"/>
          <p:cNvSpPr txBox="1"/>
          <p:nvPr/>
        </p:nvSpPr>
        <p:spPr>
          <a:xfrm>
            <a:off x="9729216" y="2743200"/>
            <a:ext cx="1682496" cy="685800"/>
          </a:xfrm>
          <a:prstGeom prst="rect">
            <a:avLst/>
          </a:prstGeom>
          <a:noFill/>
          <a:ln/>
        </p:spPr>
        <p:txBody>
          <a:bodyPr wrap="square" lIns="0" tIns="0" rIns="0" bIns="0" rtlCol="0" anchor="ctr"/>
          <a:lstStyle/>
          <a:p>
            <a:pPr indent="0" marL="0">
              <a:buNone/>
            </a:pPr>
            <a:r>
              <a:rPr lang="en-US" sz="1100" dirty="0">
                <a:solidFill>
                  <a:srgbClr val="16213E"/>
                </a:solidFill>
              </a:rPr>
              <a:t>CSV import, certificates</a:t>
            </a:r>
            <a:endParaRPr lang="en-US" sz="1100" dirty="0"/>
          </a:p>
        </p:txBody>
      </p:sp>
      <p:sp>
        <p:nvSpPr>
          <p:cNvPr id="23" name="stat-Pricing ti-v"/>
          <p:cNvSpPr txBox="1"/>
          <p:nvPr/>
        </p:nvSpPr>
        <p:spPr>
          <a:xfrm>
            <a:off x="640080" y="4572000"/>
            <a:ext cx="2468880" cy="777240"/>
          </a:xfrm>
          <a:prstGeom prst="rect">
            <a:avLst/>
          </a:prstGeom>
          <a:noFill/>
          <a:ln/>
        </p:spPr>
        <p:txBody>
          <a:bodyPr wrap="square" lIns="0" tIns="0" rIns="0" bIns="0" rtlCol="0" anchor="ctr"/>
          <a:lstStyle/>
          <a:p>
            <a:pPr algn="ctr" indent="0" marL="0">
              <a:buNone/>
            </a:pPr>
            <a:r>
              <a:rPr lang="en-US" sz="4000" b="1" dirty="0">
                <a:solidFill>
                  <a:srgbClr val="F96167"/>
                </a:solidFill>
              </a:rPr>
              <a:t>5</a:t>
            </a:r>
            <a:endParaRPr lang="en-US" sz="4000" dirty="0"/>
          </a:p>
        </p:txBody>
      </p:sp>
      <p:sp>
        <p:nvSpPr>
          <p:cNvPr id="24" name="stat-Pricing ti-l"/>
          <p:cNvSpPr txBox="1"/>
          <p:nvPr/>
        </p:nvSpPr>
        <p:spPr>
          <a:xfrm>
            <a:off x="640080" y="5349240"/>
            <a:ext cx="2468880" cy="457200"/>
          </a:xfrm>
          <a:prstGeom prst="rect">
            <a:avLst/>
          </a:prstGeom>
          <a:noFill/>
          <a:ln/>
        </p:spPr>
        <p:txBody>
          <a:bodyPr wrap="square" lIns="0" tIns="0" rIns="0" bIns="0" rtlCol="0" anchor="ctr"/>
          <a:lstStyle/>
          <a:p>
            <a:pPr algn="ctr" indent="0" marL="0">
              <a:buNone/>
            </a:pPr>
            <a:r>
              <a:rPr lang="en-US" sz="1150" dirty="0">
                <a:solidFill>
                  <a:srgbClr val="16213E"/>
                </a:solidFill>
              </a:rPr>
              <a:t>Pricing tiers, 20 → 30,000 capacity</a:t>
            </a:r>
            <a:endParaRPr lang="en-US" sz="1150" dirty="0"/>
          </a:p>
        </p:txBody>
      </p:sp>
      <p:sp>
        <p:nvSpPr>
          <p:cNvPr id="25" name="stat-Notificati-v"/>
          <p:cNvSpPr txBox="1"/>
          <p:nvPr/>
        </p:nvSpPr>
        <p:spPr>
          <a:xfrm>
            <a:off x="3383280" y="4572000"/>
            <a:ext cx="2468880" cy="777240"/>
          </a:xfrm>
          <a:prstGeom prst="rect">
            <a:avLst/>
          </a:prstGeom>
          <a:noFill/>
          <a:ln/>
        </p:spPr>
        <p:txBody>
          <a:bodyPr wrap="square" lIns="0" tIns="0" rIns="0" bIns="0" rtlCol="0" anchor="ctr"/>
          <a:lstStyle/>
          <a:p>
            <a:pPr algn="ctr" indent="0" marL="0">
              <a:buNone/>
            </a:pPr>
            <a:r>
              <a:rPr lang="en-US" sz="4000" b="1" dirty="0">
                <a:solidFill>
                  <a:srgbClr val="2F3C7E"/>
                </a:solidFill>
              </a:rPr>
              <a:t>11</a:t>
            </a:r>
            <a:endParaRPr lang="en-US" sz="4000" dirty="0"/>
          </a:p>
        </p:txBody>
      </p:sp>
      <p:sp>
        <p:nvSpPr>
          <p:cNvPr id="26" name="stat-Notificati-l"/>
          <p:cNvSpPr txBox="1"/>
          <p:nvPr/>
        </p:nvSpPr>
        <p:spPr>
          <a:xfrm>
            <a:off x="3383280" y="5349240"/>
            <a:ext cx="2468880" cy="457200"/>
          </a:xfrm>
          <a:prstGeom prst="rect">
            <a:avLst/>
          </a:prstGeom>
          <a:noFill/>
          <a:ln/>
        </p:spPr>
        <p:txBody>
          <a:bodyPr wrap="square" lIns="0" tIns="0" rIns="0" bIns="0" rtlCol="0" anchor="ctr"/>
          <a:lstStyle/>
          <a:p>
            <a:pPr algn="ctr" indent="0" marL="0">
              <a:buNone/>
            </a:pPr>
            <a:r>
              <a:rPr lang="en-US" sz="1150" dirty="0">
                <a:solidFill>
                  <a:srgbClr val="16213E"/>
                </a:solidFill>
              </a:rPr>
              <a:t>Notification kinds, 3 channels</a:t>
            </a:r>
            <a:endParaRPr lang="en-US" sz="1150" dirty="0"/>
          </a:p>
        </p:txBody>
      </p:sp>
      <p:sp>
        <p:nvSpPr>
          <p:cNvPr id="27" name="stat-Staff role-v"/>
          <p:cNvSpPr txBox="1"/>
          <p:nvPr/>
        </p:nvSpPr>
        <p:spPr>
          <a:xfrm>
            <a:off x="6126480" y="4572000"/>
            <a:ext cx="2468880" cy="777240"/>
          </a:xfrm>
          <a:prstGeom prst="rect">
            <a:avLst/>
          </a:prstGeom>
          <a:noFill/>
          <a:ln/>
        </p:spPr>
        <p:txBody>
          <a:bodyPr wrap="square" lIns="0" tIns="0" rIns="0" bIns="0" rtlCol="0" anchor="ctr"/>
          <a:lstStyle/>
          <a:p>
            <a:pPr algn="ctr" indent="0" marL="0">
              <a:buNone/>
            </a:pPr>
            <a:r>
              <a:rPr lang="en-US" sz="4000" b="1" dirty="0">
                <a:solidFill>
                  <a:srgbClr val="F96167"/>
                </a:solidFill>
              </a:rPr>
              <a:t>3</a:t>
            </a:r>
            <a:endParaRPr lang="en-US" sz="4000" dirty="0"/>
          </a:p>
        </p:txBody>
      </p:sp>
      <p:sp>
        <p:nvSpPr>
          <p:cNvPr id="28" name="stat-Staff role-l"/>
          <p:cNvSpPr txBox="1"/>
          <p:nvPr/>
        </p:nvSpPr>
        <p:spPr>
          <a:xfrm>
            <a:off x="6126480" y="5349240"/>
            <a:ext cx="2468880" cy="457200"/>
          </a:xfrm>
          <a:prstGeom prst="rect">
            <a:avLst/>
          </a:prstGeom>
          <a:noFill/>
          <a:ln/>
        </p:spPr>
        <p:txBody>
          <a:bodyPr wrap="square" lIns="0" tIns="0" rIns="0" bIns="0" rtlCol="0" anchor="ctr"/>
          <a:lstStyle/>
          <a:p>
            <a:pPr algn="ctr" indent="0" marL="0">
              <a:buNone/>
            </a:pPr>
            <a:r>
              <a:rPr lang="en-US" sz="1150" dirty="0">
                <a:solidFill>
                  <a:srgbClr val="16213E"/>
                </a:solidFill>
              </a:rPr>
              <a:t>Staff roles, 25 capabilities</a:t>
            </a:r>
            <a:endParaRPr lang="en-US" sz="1150" dirty="0"/>
          </a:p>
        </p:txBody>
      </p:sp>
      <p:sp>
        <p:nvSpPr>
          <p:cNvPr id="29" name="stat-Automated -v"/>
          <p:cNvSpPr txBox="1"/>
          <p:nvPr/>
        </p:nvSpPr>
        <p:spPr>
          <a:xfrm>
            <a:off x="8869680" y="4572000"/>
            <a:ext cx="2651760" cy="777240"/>
          </a:xfrm>
          <a:prstGeom prst="rect">
            <a:avLst/>
          </a:prstGeom>
          <a:noFill/>
          <a:ln/>
        </p:spPr>
        <p:txBody>
          <a:bodyPr wrap="square" lIns="0" tIns="0" rIns="0" bIns="0" rtlCol="0" anchor="ctr"/>
          <a:lstStyle/>
          <a:p>
            <a:pPr algn="ctr" indent="0" marL="0">
              <a:buNone/>
            </a:pPr>
            <a:r>
              <a:rPr lang="en-US" sz="4000" b="1" dirty="0">
                <a:solidFill>
                  <a:srgbClr val="2F3C7E"/>
                </a:solidFill>
              </a:rPr>
              <a:t>1,805</a:t>
            </a:r>
            <a:endParaRPr lang="en-US" sz="4000" dirty="0"/>
          </a:p>
        </p:txBody>
      </p:sp>
      <p:sp>
        <p:nvSpPr>
          <p:cNvPr id="30" name="stat-Automated -l"/>
          <p:cNvSpPr txBox="1"/>
          <p:nvPr/>
        </p:nvSpPr>
        <p:spPr>
          <a:xfrm>
            <a:off x="8869680" y="5349240"/>
            <a:ext cx="2651760" cy="457200"/>
          </a:xfrm>
          <a:prstGeom prst="rect">
            <a:avLst/>
          </a:prstGeom>
          <a:noFill/>
          <a:ln/>
        </p:spPr>
        <p:txBody>
          <a:bodyPr wrap="square" lIns="0" tIns="0" rIns="0" bIns="0" rtlCol="0" anchor="ctr"/>
          <a:lstStyle/>
          <a:p>
            <a:pPr algn="ctr" indent="0" marL="0">
              <a:buNone/>
            </a:pPr>
            <a:r>
              <a:rPr lang="en-US" sz="1150" dirty="0">
                <a:solidFill>
                  <a:srgbClr val="16213E"/>
                </a:solidFill>
              </a:rPr>
              <a:t>Automated backend tests</a:t>
            </a:r>
            <a:endParaRPr lang="en-US" sz="1150" dirty="0"/>
          </a:p>
        </p:txBody>
      </p:sp>
      <p:sp>
        <p:nvSpPr>
          <p:cNvPr id="32" name="Text 1"/>
          <p:cNvSpPr/>
          <p:nvPr>
            <p:ph idx="102" hasCustomPrompt="1"/>
          </p:nvPr>
        </p:nvSpPr>
        <p:spPr>
          <a:xfrm>
            <a:off x="1124712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rgbClr val="2F3C7E"/>
                </a:solidFill>
              </a:rPr>
              <a:t>What this deck covers</a:t>
            </a:r>
            <a:endParaRPr lang="en-US" sz="3200" dirty="0"/>
          </a:p>
        </p:txBody>
      </p:sp>
      <p:sp>
        <p:nvSpPr>
          <p:cNvPr id="3" name="bullet-1-dot"/>
          <p:cNvSpPr/>
          <p:nvPr/>
        </p:nvSpPr>
        <p:spPr>
          <a:xfrm>
            <a:off x="731520" y="1508760"/>
            <a:ext cx="420624" cy="420624"/>
          </a:xfrm>
          <a:prstGeom prst="ellipse">
            <a:avLst/>
          </a:prstGeom>
          <a:solidFill>
            <a:srgbClr val="F96167"/>
          </a:solidFill>
          <a:ln w="12700">
            <a:solidFill>
              <a:srgbClr val="F96167"/>
            </a:solidFill>
            <a:prstDash val="solid"/>
          </a:ln>
        </p:spPr>
      </p:sp>
      <p:sp>
        <p:nvSpPr>
          <p:cNvPr id="4" name="bullet-1-num"/>
          <p:cNvSpPr txBox="1"/>
          <p:nvPr/>
        </p:nvSpPr>
        <p:spPr>
          <a:xfrm>
            <a:off x="731520" y="150876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bullet-1-label"/>
          <p:cNvSpPr txBox="1"/>
          <p:nvPr/>
        </p:nvSpPr>
        <p:spPr>
          <a:xfrm>
            <a:off x="1353312" y="1472184"/>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The organizer product</a:t>
            </a:r>
            <a:endParaRPr lang="en-US" sz="1500" dirty="0"/>
          </a:p>
        </p:txBody>
      </p:sp>
      <p:sp>
        <p:nvSpPr>
          <p:cNvPr id="6" name="bullet-1-body"/>
          <p:cNvSpPr txBox="1"/>
          <p:nvPr/>
        </p:nvSpPr>
        <p:spPr>
          <a:xfrm>
            <a:off x="1353312" y="1764792"/>
            <a:ext cx="9985248" cy="475488"/>
          </a:xfrm>
          <a:prstGeom prst="rect">
            <a:avLst/>
          </a:prstGeom>
          <a:noFill/>
          <a:ln/>
        </p:spPr>
        <p:txBody>
          <a:bodyPr wrap="square" lIns="0" tIns="0" rIns="0" bIns="0" rtlCol="0" anchor="ctr"/>
          <a:lstStyle/>
          <a:p>
            <a:pPr indent="0" marL="0">
              <a:buNone/>
            </a:pPr>
            <a:r>
              <a:rPr lang="en-US" sz="1250" dirty="0">
                <a:solidFill>
                  <a:srgbClr val="16213E"/>
                </a:solidFill>
              </a:rPr>
              <a:t>Publishing, sub-events at independent prices, capacity-tier billing, QR distribution, unlisted events.</a:t>
            </a:r>
            <a:endParaRPr lang="en-US" sz="1250" dirty="0"/>
          </a:p>
        </p:txBody>
      </p:sp>
      <p:sp>
        <p:nvSpPr>
          <p:cNvPr id="7" name="bullet-2-dot"/>
          <p:cNvSpPr/>
          <p:nvPr/>
        </p:nvSpPr>
        <p:spPr>
          <a:xfrm>
            <a:off x="731520" y="2441448"/>
            <a:ext cx="420624" cy="420624"/>
          </a:xfrm>
          <a:prstGeom prst="ellipse">
            <a:avLst/>
          </a:prstGeom>
          <a:solidFill>
            <a:srgbClr val="F96167"/>
          </a:solidFill>
          <a:ln w="12700">
            <a:solidFill>
              <a:srgbClr val="F96167"/>
            </a:solidFill>
            <a:prstDash val="solid"/>
          </a:ln>
        </p:spPr>
      </p:sp>
      <p:sp>
        <p:nvSpPr>
          <p:cNvPr id="8" name="bullet-2-num"/>
          <p:cNvSpPr txBox="1"/>
          <p:nvPr/>
        </p:nvSpPr>
        <p:spPr>
          <a:xfrm>
            <a:off x="731520" y="244144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bullet-2-label"/>
          <p:cNvSpPr txBox="1"/>
          <p:nvPr/>
        </p:nvSpPr>
        <p:spPr>
          <a:xfrm>
            <a:off x="1353312" y="2404872"/>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The participant product</a:t>
            </a:r>
            <a:endParaRPr lang="en-US" sz="1500" dirty="0"/>
          </a:p>
        </p:txBody>
      </p:sp>
      <p:sp>
        <p:nvSpPr>
          <p:cNvPr id="10" name="bullet-2-body"/>
          <p:cNvSpPr txBox="1"/>
          <p:nvPr/>
        </p:nvSpPr>
        <p:spPr>
          <a:xfrm>
            <a:off x="1353312" y="2697480"/>
            <a:ext cx="9985248" cy="475488"/>
          </a:xfrm>
          <a:prstGeom prst="rect">
            <a:avLst/>
          </a:prstGeom>
          <a:noFill/>
          <a:ln/>
        </p:spPr>
        <p:txBody>
          <a:bodyPr wrap="square" lIns="0" tIns="0" rIns="0" bIns="0" rtlCol="0" anchor="ctr"/>
          <a:lstStyle/>
          <a:p>
            <a:pPr indent="0" marL="0">
              <a:buNone/>
            </a:pPr>
            <a:r>
              <a:rPr lang="en-US" sz="1250" dirty="0">
                <a:solidFill>
                  <a:srgbClr val="16213E"/>
                </a:solidFill>
              </a:rPr>
              <a:t>Survey-driven registration, KHQR payment, waitlist with automatic promotion, race day and certificates.</a:t>
            </a:r>
            <a:endParaRPr lang="en-US" sz="1250" dirty="0"/>
          </a:p>
        </p:txBody>
      </p:sp>
      <p:sp>
        <p:nvSpPr>
          <p:cNvPr id="11" name="bullet-3-dot"/>
          <p:cNvSpPr/>
          <p:nvPr/>
        </p:nvSpPr>
        <p:spPr>
          <a:xfrm>
            <a:off x="731520" y="3374136"/>
            <a:ext cx="420624" cy="420624"/>
          </a:xfrm>
          <a:prstGeom prst="ellipse">
            <a:avLst/>
          </a:prstGeom>
          <a:solidFill>
            <a:srgbClr val="F96167"/>
          </a:solidFill>
          <a:ln w="12700">
            <a:solidFill>
              <a:srgbClr val="F96167"/>
            </a:solidFill>
            <a:prstDash val="solid"/>
          </a:ln>
        </p:spPr>
      </p:sp>
      <p:sp>
        <p:nvSpPr>
          <p:cNvPr id="12" name="bullet-3-num"/>
          <p:cNvSpPr txBox="1"/>
          <p:nvPr/>
        </p:nvSpPr>
        <p:spPr>
          <a:xfrm>
            <a:off x="731520" y="33741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3" name="bullet-3-label"/>
          <p:cNvSpPr txBox="1"/>
          <p:nvPr/>
        </p:nvSpPr>
        <p:spPr>
          <a:xfrm>
            <a:off x="1353312" y="3337560"/>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Operations and trust</a:t>
            </a:r>
            <a:endParaRPr lang="en-US" sz="1500" dirty="0"/>
          </a:p>
        </p:txBody>
      </p:sp>
      <p:sp>
        <p:nvSpPr>
          <p:cNvPr id="14" name="bullet-3-body"/>
          <p:cNvSpPr txBox="1"/>
          <p:nvPr/>
        </p:nvSpPr>
        <p:spPr>
          <a:xfrm>
            <a:off x="1353312" y="3630168"/>
            <a:ext cx="9985248" cy="475488"/>
          </a:xfrm>
          <a:prstGeom prst="rect">
            <a:avLst/>
          </a:prstGeom>
          <a:noFill/>
          <a:ln/>
        </p:spPr>
        <p:txBody>
          <a:bodyPr wrap="square" lIns="0" tIns="0" rIns="0" bIns="0" rtlCol="0" anchor="ctr"/>
          <a:lstStyle/>
          <a:p>
            <a:pPr indent="0" marL="0">
              <a:buNone/>
            </a:pPr>
            <a:r>
              <a:rPr lang="en-US" sz="1250" dirty="0">
                <a:solidFill>
                  <a:srgbClr val="16213E"/>
                </a:solidFill>
              </a:rPr>
              <a:t>Live support chat, admin console and reporting, read-only impersonation, moderation queue.</a:t>
            </a:r>
            <a:endParaRPr lang="en-US" sz="1250" dirty="0"/>
          </a:p>
        </p:txBody>
      </p:sp>
      <p:sp>
        <p:nvSpPr>
          <p:cNvPr id="15" name="bullet-4-dot"/>
          <p:cNvSpPr/>
          <p:nvPr/>
        </p:nvSpPr>
        <p:spPr>
          <a:xfrm>
            <a:off x="731520" y="4306824"/>
            <a:ext cx="420624" cy="420624"/>
          </a:xfrm>
          <a:prstGeom prst="ellipse">
            <a:avLst/>
          </a:prstGeom>
          <a:solidFill>
            <a:srgbClr val="F96167"/>
          </a:solidFill>
          <a:ln w="12700">
            <a:solidFill>
              <a:srgbClr val="F96167"/>
            </a:solidFill>
            <a:prstDash val="solid"/>
          </a:ln>
        </p:spPr>
      </p:sp>
      <p:sp>
        <p:nvSpPr>
          <p:cNvPr id="16" name="bullet-4-num"/>
          <p:cNvSpPr txBox="1"/>
          <p:nvPr/>
        </p:nvSpPr>
        <p:spPr>
          <a:xfrm>
            <a:off x="731520" y="43068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bullet-4-label"/>
          <p:cNvSpPr txBox="1"/>
          <p:nvPr/>
        </p:nvSpPr>
        <p:spPr>
          <a:xfrm>
            <a:off x="1353312" y="4270248"/>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Engineering and infrastructure</a:t>
            </a:r>
            <a:endParaRPr lang="en-US" sz="1500" dirty="0"/>
          </a:p>
        </p:txBody>
      </p:sp>
      <p:sp>
        <p:nvSpPr>
          <p:cNvPr id="18" name="bullet-4-body"/>
          <p:cNvSpPr txBox="1"/>
          <p:nvPr/>
        </p:nvSpPr>
        <p:spPr>
          <a:xfrm>
            <a:off x="1353312" y="4562856"/>
            <a:ext cx="9985248" cy="475488"/>
          </a:xfrm>
          <a:prstGeom prst="rect">
            <a:avLst/>
          </a:prstGeom>
          <a:noFill/>
          <a:ln/>
        </p:spPr>
        <p:txBody>
          <a:bodyPr wrap="square" lIns="0" tIns="0" rIns="0" bIns="0" rtlCol="0" anchor="ctr"/>
          <a:lstStyle/>
          <a:p>
            <a:pPr indent="0" marL="0">
              <a:buNone/>
            </a:pPr>
            <a:r>
              <a:rPr lang="en-US" sz="1250" dirty="0">
                <a:solidFill>
                  <a:srgbClr val="16213E"/>
                </a:solidFill>
              </a:rPr>
              <a:t>Separated frontend and backend, Terraform-managed AWS, and the test suite that guards it.</a:t>
            </a:r>
            <a:endParaRPr lang="en-US" sz="1250" dirty="0"/>
          </a:p>
        </p:txBody>
      </p:sp>
      <p:sp>
        <p:nvSpPr>
          <p:cNvPr id="19" name="bullet-5-dot"/>
          <p:cNvSpPr/>
          <p:nvPr/>
        </p:nvSpPr>
        <p:spPr>
          <a:xfrm>
            <a:off x="731520" y="5239512"/>
            <a:ext cx="420624" cy="420624"/>
          </a:xfrm>
          <a:prstGeom prst="ellipse">
            <a:avLst/>
          </a:prstGeom>
          <a:solidFill>
            <a:srgbClr val="F96167"/>
          </a:solidFill>
          <a:ln w="12700">
            <a:solidFill>
              <a:srgbClr val="F96167"/>
            </a:solidFill>
            <a:prstDash val="solid"/>
          </a:ln>
        </p:spPr>
      </p:sp>
      <p:sp>
        <p:nvSpPr>
          <p:cNvPr id="20" name="bullet-5-num"/>
          <p:cNvSpPr txBox="1"/>
          <p:nvPr/>
        </p:nvSpPr>
        <p:spPr>
          <a:xfrm>
            <a:off x="731520" y="52395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1" name="bullet-5-label"/>
          <p:cNvSpPr txBox="1"/>
          <p:nvPr/>
        </p:nvSpPr>
        <p:spPr>
          <a:xfrm>
            <a:off x="1353312" y="5202936"/>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Where investment goes next</a:t>
            </a:r>
            <a:endParaRPr lang="en-US" sz="1500" dirty="0"/>
          </a:p>
        </p:txBody>
      </p:sp>
      <p:sp>
        <p:nvSpPr>
          <p:cNvPr id="22" name="bullet-5-body"/>
          <p:cNvSpPr txBox="1"/>
          <p:nvPr/>
        </p:nvSpPr>
        <p:spPr>
          <a:xfrm>
            <a:off x="1353312" y="5495544"/>
            <a:ext cx="9985248" cy="475488"/>
          </a:xfrm>
          <a:prstGeom prst="rect">
            <a:avLst/>
          </a:prstGeom>
          <a:noFill/>
          <a:ln/>
        </p:spPr>
        <p:txBody>
          <a:bodyPr wrap="square" lIns="0" tIns="0" rIns="0" bIns="0" rtlCol="0" anchor="ctr"/>
          <a:lstStyle/>
          <a:p>
            <a:pPr indent="0" marL="0">
              <a:buNone/>
            </a:pPr>
            <a:r>
              <a:rPr lang="en-US" sz="1250" dirty="0">
                <a:solidFill>
                  <a:srgbClr val="16213E"/>
                </a:solidFill>
              </a:rPr>
              <a:t>The two capabilities the architecture is ready for and the product does not yet ship.</a:t>
            </a:r>
            <a:endParaRPr lang="en-US" sz="1250" dirty="0"/>
          </a:p>
        </p:txBody>
      </p:sp>
      <p:sp>
        <p:nvSpPr>
          <p:cNvPr id="24" name="Text 1"/>
          <p:cNvSpPr/>
          <p:nvPr>
            <p:ph idx="102" hasCustomPrompt="1"/>
          </p:nvPr>
        </p:nvSpPr>
        <p:spPr>
          <a:xfrm>
            <a:off x="1124712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22960" y="2743200"/>
            <a:ext cx="9601200" cy="1188720"/>
          </a:xfrm>
          <a:prstGeom prst="rect">
            <a:avLst/>
          </a:prstGeom>
          <a:noFill/>
          <a:ln/>
        </p:spPr>
        <p:txBody>
          <a:bodyPr wrap="square" rtlCol="0" anchor="ctr"/>
          <a:lstStyle/>
          <a:p>
            <a:pPr algn="l" indent="0" marL="0">
              <a:buNone/>
            </a:pPr>
            <a:r>
              <a:rPr lang="en-US" sz="4000" b="1" dirty="0">
                <a:solidFill>
                  <a:schemeClr val="bg1"/>
                </a:solidFill>
              </a:rPr>
              <a:t>01 — The organizer product</a:t>
            </a:r>
            <a:endParaRPr lang="en-US" sz="4000" dirty="0"/>
          </a:p>
        </p:txBody>
      </p:sp>
      <p:sp>
        <p:nvSpPr>
          <p:cNvPr id="3" name="Text 0"/>
          <p:cNvSpPr/>
          <p:nvPr>
            <p:ph idx="101" type="body" hasCustomPrompt="1"/>
          </p:nvPr>
        </p:nvSpPr>
        <p:spPr>
          <a:xfrm>
            <a:off x="822960" y="3931920"/>
            <a:ext cx="9144000" cy="914400"/>
          </a:xfrm>
          <a:prstGeom prst="rect">
            <a:avLst/>
          </a:prstGeom>
          <a:noFill/>
          <a:ln/>
        </p:spPr>
        <p:txBody>
          <a:bodyPr wrap="square" rtlCol="0"/>
          <a:lstStyle/>
          <a:p>
            <a:pPr indent="0" marL="0">
              <a:buNone/>
            </a:pPr>
            <a:r>
              <a:rPr lang="en-US" sz="1500" dirty="0">
                <a:solidFill>
                  <a:srgbClr val="F9E795"/>
                </a:solidFill>
              </a:rPr>
              <a:t>Publishing, pricing, distribution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rgbClr val="2F3C7E"/>
                </a:solidFill>
              </a:rPr>
              <a:t>Registration forms the organizer designs</a:t>
            </a:r>
            <a:endParaRPr lang="en-US" sz="3200" dirty="0"/>
          </a:p>
        </p:txBody>
      </p:sp>
      <p:sp>
        <p:nvSpPr>
          <p:cNvPr id="3" name="Text 1"/>
          <p:cNvSpPr txBox="1"/>
          <p:nvPr/>
        </p:nvSpPr>
        <p:spPr>
          <a:xfrm>
            <a:off x="640080" y="1280160"/>
            <a:ext cx="10881360" cy="731520"/>
          </a:xfrm>
          <a:prstGeom prst="rect">
            <a:avLst/>
          </a:prstGeom>
          <a:noFill/>
          <a:ln/>
        </p:spPr>
        <p:txBody>
          <a:bodyPr wrap="square" lIns="0" tIns="0" rIns="0" bIns="0" rtlCol="0" anchor="ctr"/>
          <a:lstStyle/>
          <a:p>
            <a:pPr indent="0" marL="0">
              <a:buNone/>
            </a:pPr>
            <a:r>
              <a:rPr lang="en-US" sz="1500" dirty="0">
                <a:solidFill>
                  <a:srgbClr val="16213E"/>
                </a:solidFill>
              </a:rPr>
              <a:t>Every event carries an optional survey. The organizer builds the questions; answers are attached to the registration and exportable — so t-shirt sizes, emergency contacts and club affiliations arrive with the entry.</a:t>
            </a:r>
            <a:endParaRPr lang="en-US" sz="1500" dirty="0"/>
          </a:p>
        </p:txBody>
      </p:sp>
      <p:sp>
        <p:nvSpPr>
          <p:cNvPr id="4" name="survey-build-card"/>
          <p:cNvSpPr/>
          <p:nvPr/>
        </p:nvSpPr>
        <p:spPr>
          <a:xfrm>
            <a:off x="640080" y="2240280"/>
            <a:ext cx="3429000" cy="2286000"/>
          </a:xfrm>
          <a:prstGeom prst="roundRect">
            <a:avLst>
              <a:gd name="adj" fmla="val 2400"/>
            </a:avLst>
          </a:prstGeom>
          <a:solidFill>
            <a:srgbClr val="F2F4FA"/>
          </a:solidFill>
          <a:ln w="12700">
            <a:solidFill>
              <a:srgbClr val="F2F4FA"/>
            </a:solidFill>
            <a:prstDash val="solid"/>
          </a:ln>
          <a:effectLst>
            <a:outerShdw sx="100000" sy="100000" kx="0" ky="0" algn="bl" rotWithShape="0" blurRad="76200" dist="12700" dir="5400000">
              <a:srgbClr val="16213E">
                <a:alpha val="10000"/>
              </a:srgbClr>
            </a:outerShdw>
          </a:effectLst>
        </p:spPr>
      </p:sp>
      <p:sp>
        <p:nvSpPr>
          <p:cNvPr id="5" name="survey-build-h"/>
          <p:cNvSpPr txBox="1"/>
          <p:nvPr/>
        </p:nvSpPr>
        <p:spPr>
          <a:xfrm>
            <a:off x="877824" y="2423160"/>
            <a:ext cx="2953512" cy="365760"/>
          </a:xfrm>
          <a:prstGeom prst="rect">
            <a:avLst/>
          </a:prstGeom>
          <a:noFill/>
          <a:ln/>
        </p:spPr>
        <p:txBody>
          <a:bodyPr wrap="square" lIns="0" tIns="0" rIns="0" bIns="0" rtlCol="0" anchor="t"/>
          <a:lstStyle/>
          <a:p>
            <a:pPr indent="0" marL="0">
              <a:buNone/>
            </a:pPr>
            <a:r>
              <a:rPr lang="en-US" sz="1500" b="1" dirty="0">
                <a:solidFill>
                  <a:srgbClr val="2F3C7E"/>
                </a:solidFill>
              </a:rPr>
              <a:t>Organizer builds</a:t>
            </a:r>
            <a:endParaRPr lang="en-US" sz="1500" dirty="0"/>
          </a:p>
        </p:txBody>
      </p:sp>
      <p:sp>
        <p:nvSpPr>
          <p:cNvPr id="6" name="survey-build-b"/>
          <p:cNvSpPr txBox="1"/>
          <p:nvPr/>
        </p:nvSpPr>
        <p:spPr>
          <a:xfrm>
            <a:off x="877824" y="2843784"/>
            <a:ext cx="2953512" cy="14630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13E"/>
                </a:solidFill>
              </a:rPr>
              <a:t>Question types with option lists</a:t>
            </a:r>
            <a:endParaRPr lang="en-US" sz="1200" dirty="0"/>
          </a:p>
          <a:p>
            <a:pPr marL="342900" indent="-342900">
              <a:spcAft>
                <a:spcPts val="500"/>
              </a:spcAft>
              <a:buSzPct val="100000"/>
              <a:buChar char="•"/>
            </a:pPr>
            <a:r>
              <a:rPr lang="en-US" sz="1200" dirty="0">
                <a:solidFill>
                  <a:srgbClr val="16213E"/>
                </a:solidFill>
              </a:rPr>
              <a:t>Attach one survey per event</a:t>
            </a:r>
            <a:endParaRPr lang="en-US" sz="1200" dirty="0"/>
          </a:p>
          <a:p>
            <a:pPr marL="342900" indent="-342900">
              <a:spcAft>
                <a:spcPts val="500"/>
              </a:spcAft>
              <a:buSzPct val="100000"/>
              <a:buChar char="•"/>
            </a:pPr>
            <a:r>
              <a:rPr lang="en-US" sz="1200" dirty="0">
                <a:solidFill>
                  <a:srgbClr val="16213E"/>
                </a:solidFill>
              </a:rPr>
              <a:t>Reorder and edit before publishing</a:t>
            </a:r>
            <a:endParaRPr lang="en-US" sz="1200" dirty="0"/>
          </a:p>
        </p:txBody>
      </p:sp>
      <p:sp>
        <p:nvSpPr>
          <p:cNvPr id="7" name="survey-answer-card"/>
          <p:cNvSpPr/>
          <p:nvPr/>
        </p:nvSpPr>
        <p:spPr>
          <a:xfrm>
            <a:off x="4343400" y="2240280"/>
            <a:ext cx="3429000" cy="2286000"/>
          </a:xfrm>
          <a:prstGeom prst="roundRect">
            <a:avLst>
              <a:gd name="adj" fmla="val 2400"/>
            </a:avLst>
          </a:prstGeom>
          <a:solidFill>
            <a:srgbClr val="F2F4FA"/>
          </a:solidFill>
          <a:ln w="12700">
            <a:solidFill>
              <a:srgbClr val="F2F4FA"/>
            </a:solidFill>
            <a:prstDash val="solid"/>
          </a:ln>
          <a:effectLst>
            <a:outerShdw sx="100000" sy="100000" kx="0" ky="0" algn="bl" rotWithShape="0" blurRad="76200" dist="12700" dir="5400000">
              <a:srgbClr val="16213E">
                <a:alpha val="10000"/>
              </a:srgbClr>
            </a:outerShdw>
          </a:effectLst>
        </p:spPr>
      </p:sp>
      <p:sp>
        <p:nvSpPr>
          <p:cNvPr id="8" name="survey-answer-h"/>
          <p:cNvSpPr txBox="1"/>
          <p:nvPr/>
        </p:nvSpPr>
        <p:spPr>
          <a:xfrm>
            <a:off x="4581144" y="2423160"/>
            <a:ext cx="2953512" cy="365760"/>
          </a:xfrm>
          <a:prstGeom prst="rect">
            <a:avLst/>
          </a:prstGeom>
          <a:noFill/>
          <a:ln/>
        </p:spPr>
        <p:txBody>
          <a:bodyPr wrap="square" lIns="0" tIns="0" rIns="0" bIns="0" rtlCol="0" anchor="t"/>
          <a:lstStyle/>
          <a:p>
            <a:pPr indent="0" marL="0">
              <a:buNone/>
            </a:pPr>
            <a:r>
              <a:rPr lang="en-US" sz="1500" b="1" dirty="0">
                <a:solidFill>
                  <a:srgbClr val="2F3C7E"/>
                </a:solidFill>
              </a:rPr>
              <a:t>Participant answers</a:t>
            </a:r>
            <a:endParaRPr lang="en-US" sz="1500" dirty="0"/>
          </a:p>
        </p:txBody>
      </p:sp>
      <p:sp>
        <p:nvSpPr>
          <p:cNvPr id="9" name="survey-answer-b"/>
          <p:cNvSpPr txBox="1"/>
          <p:nvPr/>
        </p:nvSpPr>
        <p:spPr>
          <a:xfrm>
            <a:off x="4581144" y="2843784"/>
            <a:ext cx="2953512" cy="14630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13E"/>
                </a:solidFill>
              </a:rPr>
              <a:t>Inline in the registration flow</a:t>
            </a:r>
            <a:endParaRPr lang="en-US" sz="1200" dirty="0"/>
          </a:p>
          <a:p>
            <a:pPr marL="342900" indent="-342900">
              <a:spcAft>
                <a:spcPts val="500"/>
              </a:spcAft>
              <a:buSzPct val="100000"/>
              <a:buChar char="•"/>
            </a:pPr>
            <a:r>
              <a:rPr lang="en-US" sz="1200" dirty="0">
                <a:solidFill>
                  <a:srgbClr val="16213E"/>
                </a:solidFill>
              </a:rPr>
              <a:t>Selected options validated server-side</a:t>
            </a:r>
            <a:endParaRPr lang="en-US" sz="1200" dirty="0"/>
          </a:p>
          <a:p>
            <a:pPr marL="342900" indent="-342900">
              <a:spcAft>
                <a:spcPts val="500"/>
              </a:spcAft>
              <a:buSzPct val="100000"/>
              <a:buChar char="•"/>
            </a:pPr>
            <a:r>
              <a:rPr lang="en-US" sz="1200" dirty="0">
                <a:solidFill>
                  <a:srgbClr val="16213E"/>
                </a:solidFill>
              </a:rPr>
              <a:t>No separate form to chase</a:t>
            </a:r>
            <a:endParaRPr lang="en-US" sz="1200" dirty="0"/>
          </a:p>
        </p:txBody>
      </p:sp>
      <p:sp>
        <p:nvSpPr>
          <p:cNvPr id="10" name="survey-use-card"/>
          <p:cNvSpPr/>
          <p:nvPr/>
        </p:nvSpPr>
        <p:spPr>
          <a:xfrm>
            <a:off x="8046720" y="2240280"/>
            <a:ext cx="3474720" cy="2286000"/>
          </a:xfrm>
          <a:prstGeom prst="roundRect">
            <a:avLst>
              <a:gd name="adj" fmla="val 2400"/>
            </a:avLst>
          </a:prstGeom>
          <a:solidFill>
            <a:srgbClr val="F2F4FA"/>
          </a:solidFill>
          <a:ln w="12700">
            <a:solidFill>
              <a:srgbClr val="F2F4FA"/>
            </a:solidFill>
            <a:prstDash val="solid"/>
          </a:ln>
          <a:effectLst>
            <a:outerShdw sx="100000" sy="100000" kx="0" ky="0" algn="bl" rotWithShape="0" blurRad="76200" dist="12700" dir="5400000">
              <a:srgbClr val="16213E">
                <a:alpha val="10000"/>
              </a:srgbClr>
            </a:outerShdw>
          </a:effectLst>
        </p:spPr>
      </p:sp>
      <p:sp>
        <p:nvSpPr>
          <p:cNvPr id="11" name="survey-use-h"/>
          <p:cNvSpPr txBox="1"/>
          <p:nvPr/>
        </p:nvSpPr>
        <p:spPr>
          <a:xfrm>
            <a:off x="8284464" y="2423160"/>
            <a:ext cx="2999232" cy="365760"/>
          </a:xfrm>
          <a:prstGeom prst="rect">
            <a:avLst/>
          </a:prstGeom>
          <a:noFill/>
          <a:ln/>
        </p:spPr>
        <p:txBody>
          <a:bodyPr wrap="square" lIns="0" tIns="0" rIns="0" bIns="0" rtlCol="0" anchor="t"/>
          <a:lstStyle/>
          <a:p>
            <a:pPr indent="0" marL="0">
              <a:buNone/>
            </a:pPr>
            <a:r>
              <a:rPr lang="en-US" sz="1500" b="1" dirty="0">
                <a:solidFill>
                  <a:srgbClr val="2F3C7E"/>
                </a:solidFill>
              </a:rPr>
              <a:t>Organizer uses</a:t>
            </a:r>
            <a:endParaRPr lang="en-US" sz="1500" dirty="0"/>
          </a:p>
        </p:txBody>
      </p:sp>
      <p:sp>
        <p:nvSpPr>
          <p:cNvPr id="12" name="survey-use-b"/>
          <p:cNvSpPr txBox="1"/>
          <p:nvPr/>
        </p:nvSpPr>
        <p:spPr>
          <a:xfrm>
            <a:off x="8284464" y="2843784"/>
            <a:ext cx="2999232" cy="14630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13E"/>
                </a:solidFill>
              </a:rPr>
              <a:t>Responses tab in the dashboard</a:t>
            </a:r>
            <a:endParaRPr lang="en-US" sz="1200" dirty="0"/>
          </a:p>
          <a:p>
            <a:pPr marL="342900" indent="-342900">
              <a:spcAft>
                <a:spcPts val="500"/>
              </a:spcAft>
              <a:buSzPct val="100000"/>
              <a:buChar char="•"/>
            </a:pPr>
            <a:r>
              <a:rPr lang="en-US" sz="1200" dirty="0">
                <a:solidFill>
                  <a:srgbClr val="16213E"/>
                </a:solidFill>
              </a:rPr>
              <a:t>CSV export alongside entries</a:t>
            </a:r>
            <a:endParaRPr lang="en-US" sz="1200" dirty="0"/>
          </a:p>
          <a:p>
            <a:pPr marL="342900" indent="-342900">
              <a:spcAft>
                <a:spcPts val="500"/>
              </a:spcAft>
              <a:buSzPct val="100000"/>
              <a:buChar char="•"/>
            </a:pPr>
            <a:r>
              <a:rPr lang="en-US" sz="1200" dirty="0">
                <a:solidFill>
                  <a:srgbClr val="16213E"/>
                </a:solidFill>
              </a:rPr>
              <a:t>Searchable participant list</a:t>
            </a:r>
            <a:endParaRPr lang="en-US" sz="1200" dirty="0"/>
          </a:p>
        </p:txBody>
      </p:sp>
      <p:sp>
        <p:nvSpPr>
          <p:cNvPr id="13" name="Text 11"/>
          <p:cNvSpPr txBox="1"/>
          <p:nvPr/>
        </p:nvSpPr>
        <p:spPr>
          <a:xfrm>
            <a:off x="640080" y="4800600"/>
            <a:ext cx="10881360" cy="548640"/>
          </a:xfrm>
          <a:prstGeom prst="rect">
            <a:avLst/>
          </a:prstGeom>
          <a:noFill/>
          <a:ln/>
        </p:spPr>
        <p:txBody>
          <a:bodyPr wrap="square" lIns="0" tIns="0" rIns="0" bIns="0" rtlCol="0" anchor="ctr"/>
          <a:lstStyle/>
          <a:p>
            <a:pPr indent="0" marL="0">
              <a:buNone/>
            </a:pPr>
            <a:r>
              <a:rPr lang="en-US" sz="1250" i="1" dirty="0">
                <a:solidFill>
                  <a:srgbClr val="5A6BA8"/>
                </a:solidFill>
              </a:rPr>
              <a:t>Validity of every selected option is checked on the server, not just in the browser — a tampered form cannot write an answer that was never offered.</a:t>
            </a:r>
            <a:endParaRPr lang="en-US" sz="1250" dirty="0"/>
          </a:p>
        </p:txBody>
      </p:sp>
      <p:sp>
        <p:nvSpPr>
          <p:cNvPr id="15" name="Text 1"/>
          <p:cNvSpPr/>
          <p:nvPr>
            <p:ph idx="102" hasCustomPrompt="1"/>
          </p:nvPr>
        </p:nvSpPr>
        <p:spPr>
          <a:xfrm>
            <a:off x="1124712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rgbClr val="2F3C7E"/>
                </a:solidFill>
              </a:rPr>
              <a:t>One event, many races, independent prices</a:t>
            </a:r>
            <a:endParaRPr lang="en-US" sz="3200" dirty="0"/>
          </a:p>
        </p:txBody>
      </p:sp>
      <p:sp>
        <p:nvSpPr>
          <p:cNvPr id="3" name="Text 1"/>
          <p:cNvSpPr txBox="1"/>
          <p:nvPr/>
        </p:nvSpPr>
        <p:spPr>
          <a:xfrm>
            <a:off x="640080" y="1280160"/>
            <a:ext cx="10881360" cy="548640"/>
          </a:xfrm>
          <a:prstGeom prst="rect">
            <a:avLst/>
          </a:prstGeom>
          <a:noFill/>
          <a:ln/>
        </p:spPr>
        <p:txBody>
          <a:bodyPr wrap="square" lIns="0" tIns="0" rIns="0" bIns="0" rtlCol="0" anchor="ctr"/>
          <a:lstStyle/>
          <a:p>
            <a:pPr indent="0" marL="0">
              <a:buNone/>
            </a:pPr>
            <a:r>
              <a:rPr lang="en-US" sz="1500" dirty="0">
                <a:solidFill>
                  <a:srgbClr val="16213E"/>
                </a:solidFill>
              </a:rPr>
              <a:t>A marathon is not one product. Each distance is an event type with its own price and its own capacity, sold from a single event page.</a:t>
            </a:r>
            <a:endParaRPr lang="en-US" sz="1500" dirty="0"/>
          </a:p>
        </p:txBody>
      </p:sp>
      <p:sp>
        <p:nvSpPr>
          <p:cNvPr id="4" name="type-0"/>
          <p:cNvSpPr/>
          <p:nvPr/>
        </p:nvSpPr>
        <p:spPr>
          <a:xfrm>
            <a:off x="640080" y="2011680"/>
            <a:ext cx="6766560" cy="658368"/>
          </a:xfrm>
          <a:prstGeom prst="roundRect">
            <a:avLst>
              <a:gd name="adj" fmla="val 8333"/>
            </a:avLst>
          </a:prstGeom>
          <a:solidFill>
            <a:srgbClr val="F2F4FA"/>
          </a:solidFill>
          <a:ln w="12700">
            <a:solidFill>
              <a:srgbClr val="F2F4FA"/>
            </a:solidFill>
            <a:prstDash val="solid"/>
          </a:ln>
        </p:spPr>
      </p:sp>
      <p:sp>
        <p:nvSpPr>
          <p:cNvPr id="5" name="type-0-n"/>
          <p:cNvSpPr txBox="1"/>
          <p:nvPr/>
        </p:nvSpPr>
        <p:spPr>
          <a:xfrm>
            <a:off x="914400" y="2011680"/>
            <a:ext cx="3017520" cy="658368"/>
          </a:xfrm>
          <a:prstGeom prst="rect">
            <a:avLst/>
          </a:prstGeom>
          <a:noFill/>
          <a:ln/>
        </p:spPr>
        <p:txBody>
          <a:bodyPr wrap="square" lIns="0" tIns="0" rIns="0" bIns="0" rtlCol="0" anchor="ctr"/>
          <a:lstStyle/>
          <a:p>
            <a:pPr indent="0" marL="0">
              <a:buNone/>
            </a:pPr>
            <a:r>
              <a:rPr lang="en-US" sz="1400" b="1" dirty="0">
                <a:solidFill>
                  <a:srgbClr val="2F3C7E"/>
                </a:solidFill>
              </a:rPr>
              <a:t>5K Fun Run</a:t>
            </a:r>
            <a:endParaRPr lang="en-US" sz="1400" dirty="0"/>
          </a:p>
        </p:txBody>
      </p:sp>
      <p:sp>
        <p:nvSpPr>
          <p:cNvPr id="6" name="type-0-p"/>
          <p:cNvSpPr txBox="1"/>
          <p:nvPr/>
        </p:nvSpPr>
        <p:spPr>
          <a:xfrm>
            <a:off x="3931920" y="2011680"/>
            <a:ext cx="1280160" cy="658368"/>
          </a:xfrm>
          <a:prstGeom prst="rect">
            <a:avLst/>
          </a:prstGeom>
          <a:noFill/>
          <a:ln/>
        </p:spPr>
        <p:txBody>
          <a:bodyPr wrap="square" lIns="0" tIns="0" rIns="0" bIns="0" rtlCol="0" anchor="ctr"/>
          <a:lstStyle/>
          <a:p>
            <a:pPr indent="0" marL="0">
              <a:buNone/>
            </a:pPr>
            <a:r>
              <a:rPr lang="en-US" sz="1600" b="1" dirty="0">
                <a:solidFill>
                  <a:srgbClr val="F96167"/>
                </a:solidFill>
              </a:rPr>
              <a:t>$5</a:t>
            </a:r>
            <a:endParaRPr lang="en-US" sz="1600" dirty="0"/>
          </a:p>
        </p:txBody>
      </p:sp>
      <p:sp>
        <p:nvSpPr>
          <p:cNvPr id="7" name="type-0-c"/>
          <p:cNvSpPr txBox="1"/>
          <p:nvPr/>
        </p:nvSpPr>
        <p:spPr>
          <a:xfrm>
            <a:off x="5303520" y="2011680"/>
            <a:ext cx="1920240" cy="658368"/>
          </a:xfrm>
          <a:prstGeom prst="rect">
            <a:avLst/>
          </a:prstGeom>
          <a:noFill/>
          <a:ln/>
        </p:spPr>
        <p:txBody>
          <a:bodyPr wrap="square" lIns="0" tIns="0" rIns="0" bIns="0" rtlCol="0" anchor="ctr"/>
          <a:lstStyle/>
          <a:p>
            <a:pPr indent="0" marL="0">
              <a:buNone/>
            </a:pPr>
            <a:r>
              <a:rPr lang="en-US" sz="1300" dirty="0">
                <a:solidFill>
                  <a:srgbClr val="16213E"/>
                </a:solidFill>
              </a:rPr>
              <a:t>600 places</a:t>
            </a:r>
            <a:endParaRPr lang="en-US" sz="1300" dirty="0"/>
          </a:p>
        </p:txBody>
      </p:sp>
      <p:sp>
        <p:nvSpPr>
          <p:cNvPr id="8" name="type-1"/>
          <p:cNvSpPr/>
          <p:nvPr/>
        </p:nvSpPr>
        <p:spPr>
          <a:xfrm>
            <a:off x="640080" y="2798064"/>
            <a:ext cx="6766560" cy="658368"/>
          </a:xfrm>
          <a:prstGeom prst="roundRect">
            <a:avLst>
              <a:gd name="adj" fmla="val 8333"/>
            </a:avLst>
          </a:prstGeom>
          <a:solidFill>
            <a:srgbClr val="F2F4FA"/>
          </a:solidFill>
          <a:ln w="12700">
            <a:solidFill>
              <a:srgbClr val="F2F4FA"/>
            </a:solidFill>
            <a:prstDash val="solid"/>
          </a:ln>
        </p:spPr>
      </p:sp>
      <p:sp>
        <p:nvSpPr>
          <p:cNvPr id="9" name="type-1-n"/>
          <p:cNvSpPr txBox="1"/>
          <p:nvPr/>
        </p:nvSpPr>
        <p:spPr>
          <a:xfrm>
            <a:off x="914400" y="2798064"/>
            <a:ext cx="3017520" cy="658368"/>
          </a:xfrm>
          <a:prstGeom prst="rect">
            <a:avLst/>
          </a:prstGeom>
          <a:noFill/>
          <a:ln/>
        </p:spPr>
        <p:txBody>
          <a:bodyPr wrap="square" lIns="0" tIns="0" rIns="0" bIns="0" rtlCol="0" anchor="ctr"/>
          <a:lstStyle/>
          <a:p>
            <a:pPr indent="0" marL="0">
              <a:buNone/>
            </a:pPr>
            <a:r>
              <a:rPr lang="en-US" sz="1400" b="1" dirty="0">
                <a:solidFill>
                  <a:srgbClr val="2F3C7E"/>
                </a:solidFill>
              </a:rPr>
              <a:t>10K</a:t>
            </a:r>
            <a:endParaRPr lang="en-US" sz="1400" dirty="0"/>
          </a:p>
        </p:txBody>
      </p:sp>
      <p:sp>
        <p:nvSpPr>
          <p:cNvPr id="10" name="type-1-p"/>
          <p:cNvSpPr txBox="1"/>
          <p:nvPr/>
        </p:nvSpPr>
        <p:spPr>
          <a:xfrm>
            <a:off x="3931920" y="2798064"/>
            <a:ext cx="1280160" cy="658368"/>
          </a:xfrm>
          <a:prstGeom prst="rect">
            <a:avLst/>
          </a:prstGeom>
          <a:noFill/>
          <a:ln/>
        </p:spPr>
        <p:txBody>
          <a:bodyPr wrap="square" lIns="0" tIns="0" rIns="0" bIns="0" rtlCol="0" anchor="ctr"/>
          <a:lstStyle/>
          <a:p>
            <a:pPr indent="0" marL="0">
              <a:buNone/>
            </a:pPr>
            <a:r>
              <a:rPr lang="en-US" sz="1600" b="1" dirty="0">
                <a:solidFill>
                  <a:srgbClr val="F96167"/>
                </a:solidFill>
              </a:rPr>
              <a:t>$12</a:t>
            </a:r>
            <a:endParaRPr lang="en-US" sz="1600" dirty="0"/>
          </a:p>
        </p:txBody>
      </p:sp>
      <p:sp>
        <p:nvSpPr>
          <p:cNvPr id="11" name="type-1-c"/>
          <p:cNvSpPr txBox="1"/>
          <p:nvPr/>
        </p:nvSpPr>
        <p:spPr>
          <a:xfrm>
            <a:off x="5303520" y="2798064"/>
            <a:ext cx="1920240" cy="658368"/>
          </a:xfrm>
          <a:prstGeom prst="rect">
            <a:avLst/>
          </a:prstGeom>
          <a:noFill/>
          <a:ln/>
        </p:spPr>
        <p:txBody>
          <a:bodyPr wrap="square" lIns="0" tIns="0" rIns="0" bIns="0" rtlCol="0" anchor="ctr"/>
          <a:lstStyle/>
          <a:p>
            <a:pPr indent="0" marL="0">
              <a:buNone/>
            </a:pPr>
            <a:r>
              <a:rPr lang="en-US" sz="1300" dirty="0">
                <a:solidFill>
                  <a:srgbClr val="16213E"/>
                </a:solidFill>
              </a:rPr>
              <a:t>400 places</a:t>
            </a:r>
            <a:endParaRPr lang="en-US" sz="1300" dirty="0"/>
          </a:p>
        </p:txBody>
      </p:sp>
      <p:sp>
        <p:nvSpPr>
          <p:cNvPr id="12" name="type-2"/>
          <p:cNvSpPr/>
          <p:nvPr/>
        </p:nvSpPr>
        <p:spPr>
          <a:xfrm>
            <a:off x="640080" y="3584448"/>
            <a:ext cx="6766560" cy="658368"/>
          </a:xfrm>
          <a:prstGeom prst="roundRect">
            <a:avLst>
              <a:gd name="adj" fmla="val 8333"/>
            </a:avLst>
          </a:prstGeom>
          <a:solidFill>
            <a:srgbClr val="F2F4FA"/>
          </a:solidFill>
          <a:ln w="12700">
            <a:solidFill>
              <a:srgbClr val="F2F4FA"/>
            </a:solidFill>
            <a:prstDash val="solid"/>
          </a:ln>
        </p:spPr>
      </p:sp>
      <p:sp>
        <p:nvSpPr>
          <p:cNvPr id="13" name="type-2-n"/>
          <p:cNvSpPr txBox="1"/>
          <p:nvPr/>
        </p:nvSpPr>
        <p:spPr>
          <a:xfrm>
            <a:off x="914400" y="3584448"/>
            <a:ext cx="3017520" cy="658368"/>
          </a:xfrm>
          <a:prstGeom prst="rect">
            <a:avLst/>
          </a:prstGeom>
          <a:noFill/>
          <a:ln/>
        </p:spPr>
        <p:txBody>
          <a:bodyPr wrap="square" lIns="0" tIns="0" rIns="0" bIns="0" rtlCol="0" anchor="ctr"/>
          <a:lstStyle/>
          <a:p>
            <a:pPr indent="0" marL="0">
              <a:buNone/>
            </a:pPr>
            <a:r>
              <a:rPr lang="en-US" sz="1400" b="1" dirty="0">
                <a:solidFill>
                  <a:srgbClr val="2F3C7E"/>
                </a:solidFill>
              </a:rPr>
              <a:t>Half marathon</a:t>
            </a:r>
            <a:endParaRPr lang="en-US" sz="1400" dirty="0"/>
          </a:p>
        </p:txBody>
      </p:sp>
      <p:sp>
        <p:nvSpPr>
          <p:cNvPr id="14" name="type-2-p"/>
          <p:cNvSpPr txBox="1"/>
          <p:nvPr/>
        </p:nvSpPr>
        <p:spPr>
          <a:xfrm>
            <a:off x="3931920" y="3584448"/>
            <a:ext cx="1280160" cy="658368"/>
          </a:xfrm>
          <a:prstGeom prst="rect">
            <a:avLst/>
          </a:prstGeom>
          <a:noFill/>
          <a:ln/>
        </p:spPr>
        <p:txBody>
          <a:bodyPr wrap="square" lIns="0" tIns="0" rIns="0" bIns="0" rtlCol="0" anchor="ctr"/>
          <a:lstStyle/>
          <a:p>
            <a:pPr indent="0" marL="0">
              <a:buNone/>
            </a:pPr>
            <a:r>
              <a:rPr lang="en-US" sz="1600" b="1" dirty="0">
                <a:solidFill>
                  <a:srgbClr val="F96167"/>
                </a:solidFill>
              </a:rPr>
              <a:t>$25</a:t>
            </a:r>
            <a:endParaRPr lang="en-US" sz="1600" dirty="0"/>
          </a:p>
        </p:txBody>
      </p:sp>
      <p:sp>
        <p:nvSpPr>
          <p:cNvPr id="15" name="type-2-c"/>
          <p:cNvSpPr txBox="1"/>
          <p:nvPr/>
        </p:nvSpPr>
        <p:spPr>
          <a:xfrm>
            <a:off x="5303520" y="3584448"/>
            <a:ext cx="1920240" cy="658368"/>
          </a:xfrm>
          <a:prstGeom prst="rect">
            <a:avLst/>
          </a:prstGeom>
          <a:noFill/>
          <a:ln/>
        </p:spPr>
        <p:txBody>
          <a:bodyPr wrap="square" lIns="0" tIns="0" rIns="0" bIns="0" rtlCol="0" anchor="ctr"/>
          <a:lstStyle/>
          <a:p>
            <a:pPr indent="0" marL="0">
              <a:buNone/>
            </a:pPr>
            <a:r>
              <a:rPr lang="en-US" sz="1300" dirty="0">
                <a:solidFill>
                  <a:srgbClr val="16213E"/>
                </a:solidFill>
              </a:rPr>
              <a:t>250 places</a:t>
            </a:r>
            <a:endParaRPr lang="en-US" sz="1300" dirty="0"/>
          </a:p>
        </p:txBody>
      </p:sp>
      <p:sp>
        <p:nvSpPr>
          <p:cNvPr id="16" name="type-3"/>
          <p:cNvSpPr/>
          <p:nvPr/>
        </p:nvSpPr>
        <p:spPr>
          <a:xfrm>
            <a:off x="640080" y="4370832"/>
            <a:ext cx="6766560" cy="658368"/>
          </a:xfrm>
          <a:prstGeom prst="roundRect">
            <a:avLst>
              <a:gd name="adj" fmla="val 8333"/>
            </a:avLst>
          </a:prstGeom>
          <a:solidFill>
            <a:srgbClr val="F2F4FA"/>
          </a:solidFill>
          <a:ln w="12700">
            <a:solidFill>
              <a:srgbClr val="F2F4FA"/>
            </a:solidFill>
            <a:prstDash val="solid"/>
          </a:ln>
        </p:spPr>
      </p:sp>
      <p:sp>
        <p:nvSpPr>
          <p:cNvPr id="17" name="type-3-n"/>
          <p:cNvSpPr txBox="1"/>
          <p:nvPr/>
        </p:nvSpPr>
        <p:spPr>
          <a:xfrm>
            <a:off x="914400" y="4370832"/>
            <a:ext cx="3017520" cy="658368"/>
          </a:xfrm>
          <a:prstGeom prst="rect">
            <a:avLst/>
          </a:prstGeom>
          <a:noFill/>
          <a:ln/>
        </p:spPr>
        <p:txBody>
          <a:bodyPr wrap="square" lIns="0" tIns="0" rIns="0" bIns="0" rtlCol="0" anchor="ctr"/>
          <a:lstStyle/>
          <a:p>
            <a:pPr indent="0" marL="0">
              <a:buNone/>
            </a:pPr>
            <a:r>
              <a:rPr lang="en-US" sz="1400" b="1" dirty="0">
                <a:solidFill>
                  <a:srgbClr val="2F3C7E"/>
                </a:solidFill>
              </a:rPr>
              <a:t>Full marathon</a:t>
            </a:r>
            <a:endParaRPr lang="en-US" sz="1400" dirty="0"/>
          </a:p>
        </p:txBody>
      </p:sp>
      <p:sp>
        <p:nvSpPr>
          <p:cNvPr id="18" name="type-3-p"/>
          <p:cNvSpPr txBox="1"/>
          <p:nvPr/>
        </p:nvSpPr>
        <p:spPr>
          <a:xfrm>
            <a:off x="3931920" y="4370832"/>
            <a:ext cx="1280160" cy="658368"/>
          </a:xfrm>
          <a:prstGeom prst="rect">
            <a:avLst/>
          </a:prstGeom>
          <a:noFill/>
          <a:ln/>
        </p:spPr>
        <p:txBody>
          <a:bodyPr wrap="square" lIns="0" tIns="0" rIns="0" bIns="0" rtlCol="0" anchor="ctr"/>
          <a:lstStyle/>
          <a:p>
            <a:pPr indent="0" marL="0">
              <a:buNone/>
            </a:pPr>
            <a:r>
              <a:rPr lang="en-US" sz="1600" b="1" dirty="0">
                <a:solidFill>
                  <a:srgbClr val="F96167"/>
                </a:solidFill>
              </a:rPr>
              <a:t>$40</a:t>
            </a:r>
            <a:endParaRPr lang="en-US" sz="1600" dirty="0"/>
          </a:p>
        </p:txBody>
      </p:sp>
      <p:sp>
        <p:nvSpPr>
          <p:cNvPr id="19" name="type-3-c"/>
          <p:cNvSpPr txBox="1"/>
          <p:nvPr/>
        </p:nvSpPr>
        <p:spPr>
          <a:xfrm>
            <a:off x="5303520" y="4370832"/>
            <a:ext cx="1920240" cy="658368"/>
          </a:xfrm>
          <a:prstGeom prst="rect">
            <a:avLst/>
          </a:prstGeom>
          <a:noFill/>
          <a:ln/>
        </p:spPr>
        <p:txBody>
          <a:bodyPr wrap="square" lIns="0" tIns="0" rIns="0" bIns="0" rtlCol="0" anchor="ctr"/>
          <a:lstStyle/>
          <a:p>
            <a:pPr indent="0" marL="0">
              <a:buNone/>
            </a:pPr>
            <a:r>
              <a:rPr lang="en-US" sz="1300" dirty="0">
                <a:solidFill>
                  <a:srgbClr val="16213E"/>
                </a:solidFill>
              </a:rPr>
              <a:t>150 places</a:t>
            </a:r>
            <a:endParaRPr lang="en-US" sz="1300" dirty="0"/>
          </a:p>
        </p:txBody>
      </p:sp>
      <p:sp>
        <p:nvSpPr>
          <p:cNvPr id="20" name="types-detail-card"/>
          <p:cNvSpPr/>
          <p:nvPr/>
        </p:nvSpPr>
        <p:spPr>
          <a:xfrm>
            <a:off x="7772400" y="2011680"/>
            <a:ext cx="3749040" cy="3145536"/>
          </a:xfrm>
          <a:prstGeom prst="roundRect">
            <a:avLst>
              <a:gd name="adj" fmla="val 1744"/>
            </a:avLst>
          </a:prstGeom>
          <a:solidFill>
            <a:srgbClr val="F2F4FA"/>
          </a:solidFill>
          <a:ln w="12700">
            <a:solidFill>
              <a:srgbClr val="F2F4FA"/>
            </a:solidFill>
            <a:prstDash val="solid"/>
          </a:ln>
          <a:effectLst>
            <a:outerShdw sx="100000" sy="100000" kx="0" ky="0" algn="bl" rotWithShape="0" blurRad="76200" dist="12700" dir="5400000">
              <a:srgbClr val="16213E">
                <a:alpha val="10000"/>
              </a:srgbClr>
            </a:outerShdw>
          </a:effectLst>
        </p:spPr>
      </p:sp>
      <p:sp>
        <p:nvSpPr>
          <p:cNvPr id="21" name="types-detail-h"/>
          <p:cNvSpPr txBox="1"/>
          <p:nvPr/>
        </p:nvSpPr>
        <p:spPr>
          <a:xfrm>
            <a:off x="8010144" y="2194560"/>
            <a:ext cx="3273552" cy="365760"/>
          </a:xfrm>
          <a:prstGeom prst="rect">
            <a:avLst/>
          </a:prstGeom>
          <a:noFill/>
          <a:ln/>
        </p:spPr>
        <p:txBody>
          <a:bodyPr wrap="square" lIns="0" tIns="0" rIns="0" bIns="0" rtlCol="0" anchor="t"/>
          <a:lstStyle/>
          <a:p>
            <a:pPr indent="0" marL="0">
              <a:buNone/>
            </a:pPr>
            <a:r>
              <a:rPr lang="en-US" sz="1500" b="1" dirty="0">
                <a:solidFill>
                  <a:srgbClr val="2F3C7E"/>
                </a:solidFill>
              </a:rPr>
              <a:t>How it behaves</a:t>
            </a:r>
            <a:endParaRPr lang="en-US" sz="1500" dirty="0"/>
          </a:p>
        </p:txBody>
      </p:sp>
      <p:sp>
        <p:nvSpPr>
          <p:cNvPr id="22" name="types-detail-b"/>
          <p:cNvSpPr txBox="1"/>
          <p:nvPr/>
        </p:nvSpPr>
        <p:spPr>
          <a:xfrm>
            <a:off x="8010144" y="2615184"/>
            <a:ext cx="3273552" cy="232257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13E"/>
                </a:solidFill>
              </a:rPr>
              <a:t>Each type has its own capacity, enforced independently — the 10K can sell out while the half is open</a:t>
            </a:r>
            <a:endParaRPr lang="en-US" sz="1200" dirty="0"/>
          </a:p>
          <a:p>
            <a:pPr marL="342900" indent="-342900">
              <a:spcAft>
                <a:spcPts val="500"/>
              </a:spcAft>
              <a:buSzPct val="100000"/>
              <a:buChar char="•"/>
            </a:pPr>
            <a:r>
              <a:rPr lang="en-US" sz="1200" dirty="0">
                <a:solidFill>
                  <a:srgbClr val="16213E"/>
                </a:solidFill>
              </a:rPr>
              <a:t>A type with no price of its own inherits the event's</a:t>
            </a:r>
            <a:endParaRPr lang="en-US" sz="1200" dirty="0"/>
          </a:p>
          <a:p>
            <a:pPr marL="342900" indent="-342900">
              <a:spcAft>
                <a:spcPts val="500"/>
              </a:spcAft>
              <a:buSzPct val="100000"/>
              <a:buChar char="•"/>
            </a:pPr>
            <a:r>
              <a:rPr lang="en-US" sz="1200" dirty="0">
                <a:solidFill>
                  <a:srgbClr val="16213E"/>
                </a:solidFill>
              </a:rPr>
              <a:t>Capacity across all types is validated against the plan tier before payment is attempted</a:t>
            </a:r>
            <a:endParaRPr lang="en-US" sz="1200" dirty="0"/>
          </a:p>
          <a:p>
            <a:pPr marL="342900" indent="-342900">
              <a:spcAft>
                <a:spcPts val="500"/>
              </a:spcAft>
              <a:buSzPct val="100000"/>
              <a:buChar char="•"/>
            </a:pPr>
            <a:r>
              <a:rPr lang="en-US" sz="1200" dirty="0">
                <a:solidFill>
                  <a:srgbClr val="16213E"/>
                </a:solidFill>
              </a:rPr>
              <a:t>Participants pick one or more types in a single registration</a:t>
            </a:r>
            <a:endParaRPr lang="en-US" sz="1200" dirty="0"/>
          </a:p>
        </p:txBody>
      </p:sp>
      <p:sp>
        <p:nvSpPr>
          <p:cNvPr id="24" name="Text 1"/>
          <p:cNvSpPr/>
          <p:nvPr>
            <p:ph idx="102" hasCustomPrompt="1"/>
          </p:nvPr>
        </p:nvSpPr>
        <p:spPr>
          <a:xfrm>
            <a:off x="1124712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rgbClr val="2F3C7E"/>
                </a:solidFill>
              </a:rPr>
              <a:t>Rally is paid on planned capacity</a:t>
            </a:r>
            <a:endParaRPr lang="en-US" sz="3200" dirty="0"/>
          </a:p>
        </p:txBody>
      </p:sp>
      <p:graphicFrame>
        <p:nvGraphicFramePr>
          <p:cNvPr id="3" name="Chart 0" descr=""/>
          <p:cNvGraphicFramePr/>
          <p:nvPr>
            <p:ph idx="103" type="chart" hasCustomPrompt="1"/>
          </p:nvPr>
        </p:nvGraphicFramePr>
        <p:xfrm>
          <a:off x="640080" y="146304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ph idx="104" type="body" hasCustomPrompt="1"/>
          </p:nvPr>
        </p:nvSpPr>
        <p:spPr>
          <a:xfrm>
            <a:off x="7955280" y="1554480"/>
            <a:ext cx="3566160" cy="4297680"/>
          </a:xfrm>
          <a:prstGeom prst="rect">
            <a:avLst/>
          </a:prstGeom>
          <a:noFill/>
          <a:ln/>
        </p:spPr>
        <p:txBody>
          <a:bodyPr wrap="square" rtlCol="0" anchor="t"/>
          <a:lstStyle/>
          <a:p>
            <a:pPr indent="0" marL="0">
              <a:spcAft>
                <a:spcPts val="400"/>
              </a:spcAft>
              <a:buNone/>
            </a:pPr>
            <a:r>
              <a:rPr lang="en-US" sz="1400" dirty="0">
                <a:solidFill>
                  <a:srgbClr val="16213E"/>
                </a:solidFill>
              </a:rPr>
              <a:t>The organizer picks a tier at publish time. The tier sets the event's capacity and its fee.</a:t>
            </a:r>
            <a:endParaRPr lang="en-US" sz="1400" dirty="0"/>
          </a:p>
          <a:p>
            <a:pPr indent="0" marL="0">
              <a:spcAft>
                <a:spcPts val="400"/>
              </a:spcAft>
              <a:buNone/>
            </a:pPr>
            <a:endParaRPr lang="en-US" sz="1400" dirty="0"/>
          </a:p>
          <a:p>
            <a:pPr marL="342900" indent="-342900">
              <a:spcAft>
                <a:spcPts val="400"/>
              </a:spcAft>
              <a:buSzPct val="100000"/>
              <a:buChar char="•"/>
            </a:pPr>
            <a:r>
              <a:rPr lang="en-US" sz="1400" dirty="0">
                <a:solidFill>
                  <a:srgbClr val="16213E"/>
                </a:solidFill>
              </a:rPr>
              <a:t>Free · 20 places · $0</a:t>
            </a:r>
            <a:endParaRPr lang="en-US" sz="1400" dirty="0"/>
          </a:p>
          <a:p>
            <a:pPr marL="342900" indent="-342900">
              <a:spcAft>
                <a:spcPts val="400"/>
              </a:spcAft>
              <a:buSzPct val="100000"/>
              <a:buChar char="•"/>
            </a:pPr>
            <a:r>
              <a:rPr lang="en-US" sz="1400" dirty="0">
                <a:solidFill>
                  <a:srgbClr val="16213E"/>
                </a:solidFill>
              </a:rPr>
              <a:t>Small · 200 · $100</a:t>
            </a:r>
            <a:endParaRPr lang="en-US" sz="1400" dirty="0"/>
          </a:p>
          <a:p>
            <a:pPr marL="342900" indent="-342900">
              <a:spcAft>
                <a:spcPts val="400"/>
              </a:spcAft>
              <a:buSzPct val="100000"/>
              <a:buChar char="•"/>
            </a:pPr>
            <a:r>
              <a:rPr lang="en-US" sz="1400" dirty="0">
                <a:solidFill>
                  <a:srgbClr val="16213E"/>
                </a:solidFill>
              </a:rPr>
              <a:t>Medium · 1,000 · $300</a:t>
            </a:r>
            <a:endParaRPr lang="en-US" sz="1400" dirty="0"/>
          </a:p>
          <a:p>
            <a:pPr marL="342900" indent="-342900">
              <a:spcAft>
                <a:spcPts val="400"/>
              </a:spcAft>
              <a:buSzPct val="100000"/>
              <a:buChar char="•"/>
            </a:pPr>
            <a:r>
              <a:rPr lang="en-US" sz="1400" dirty="0">
                <a:solidFill>
                  <a:srgbClr val="16213E"/>
                </a:solidFill>
              </a:rPr>
              <a:t>Large · 10,000 · $1,000</a:t>
            </a:r>
            <a:endParaRPr lang="en-US" sz="1400" dirty="0"/>
          </a:p>
          <a:p>
            <a:pPr marL="342900" indent="-342900">
              <a:spcAft>
                <a:spcPts val="400"/>
              </a:spcAft>
              <a:buSzPct val="100000"/>
              <a:buChar char="•"/>
            </a:pPr>
            <a:r>
              <a:rPr lang="en-US" sz="1400" dirty="0">
                <a:solidFill>
                  <a:srgbClr val="16213E"/>
                </a:solidFill>
              </a:rPr>
              <a:t>Extra Large · 30,000 · $2,000</a:t>
            </a:r>
            <a:endParaRPr lang="en-US" sz="1400" dirty="0"/>
          </a:p>
          <a:p>
            <a:pPr indent="0" marL="0">
              <a:spcAft>
                <a:spcPts val="400"/>
              </a:spcAft>
              <a:buNone/>
            </a:pPr>
            <a:endParaRPr lang="en-US" sz="1400" dirty="0"/>
          </a:p>
          <a:p>
            <a:pPr indent="0" marL="0">
              <a:spcAft>
                <a:spcPts val="400"/>
              </a:spcAft>
              <a:buNone/>
            </a:pPr>
            <a:r>
              <a:rPr lang="en-US" sz="1400" dirty="0">
                <a:solidFill>
                  <a:srgbClr val="16213E"/>
                </a:solidFill>
              </a:rPr>
              <a:t>Revenue is recognised before the event runs, and it is independent of whether tickets sell — Rally is not taking ticketing risk.</a:t>
            </a:r>
            <a:endParaRPr lang="en-US" sz="1400" dirty="0"/>
          </a:p>
        </p:txBody>
      </p:sp>
      <p:sp>
        <p:nvSpPr>
          <p:cNvPr id="6" name="Text 1"/>
          <p:cNvSpPr/>
          <p:nvPr>
            <p:ph idx="102" hasCustomPrompt="1"/>
          </p:nvPr>
        </p:nvSpPr>
        <p:spPr>
          <a:xfrm>
            <a:off x="1124712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rgbClr val="2F3C7E"/>
                </a:solidFill>
              </a:rPr>
              <a:t>Every event has a QR code built for print</a:t>
            </a:r>
            <a:endParaRPr lang="en-US" sz="3200" dirty="0"/>
          </a:p>
        </p:txBody>
      </p:sp>
      <p:sp>
        <p:nvSpPr>
          <p:cNvPr id="3" name="Text 1"/>
          <p:cNvSpPr txBox="1"/>
          <p:nvPr/>
        </p:nvSpPr>
        <p:spPr>
          <a:xfrm>
            <a:off x="640080" y="1280160"/>
            <a:ext cx="6766560" cy="731520"/>
          </a:xfrm>
          <a:prstGeom prst="rect">
            <a:avLst/>
          </a:prstGeom>
          <a:noFill/>
          <a:ln/>
        </p:spPr>
        <p:txBody>
          <a:bodyPr wrap="square" lIns="0" tIns="0" rIns="0" bIns="0" rtlCol="0" anchor="ctr"/>
          <a:lstStyle/>
          <a:p>
            <a:pPr indent="0" marL="0">
              <a:buNone/>
            </a:pPr>
            <a:r>
              <a:rPr lang="en-US" sz="1500" dirty="0">
                <a:solidFill>
                  <a:srgbClr val="16213E"/>
                </a:solidFill>
              </a:rPr>
              <a:t>The event page generates a downloadable QR encoding its own URL, rendered in the organizer's brand colour. Scan it and you land on the registration page.</a:t>
            </a:r>
            <a:endParaRPr lang="en-US" sz="1500" dirty="0"/>
          </a:p>
        </p:txBody>
      </p:sp>
      <p:sp>
        <p:nvSpPr>
          <p:cNvPr id="4" name="bullet-1-dot"/>
          <p:cNvSpPr/>
          <p:nvPr/>
        </p:nvSpPr>
        <p:spPr>
          <a:xfrm>
            <a:off x="731520" y="2194560"/>
            <a:ext cx="420624" cy="420624"/>
          </a:xfrm>
          <a:prstGeom prst="ellipse">
            <a:avLst/>
          </a:prstGeom>
          <a:solidFill>
            <a:srgbClr val="F96167"/>
          </a:solidFill>
          <a:ln w="12700">
            <a:solidFill>
              <a:srgbClr val="F96167"/>
            </a:solidFill>
            <a:prstDash val="solid"/>
          </a:ln>
        </p:spPr>
      </p:sp>
      <p:sp>
        <p:nvSpPr>
          <p:cNvPr id="5" name="bullet-1-num"/>
          <p:cNvSpPr txBox="1"/>
          <p:nvPr/>
        </p:nvSpPr>
        <p:spPr>
          <a:xfrm>
            <a:off x="731520" y="219456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bullet-1-label"/>
          <p:cNvSpPr txBox="1"/>
          <p:nvPr/>
        </p:nvSpPr>
        <p:spPr>
          <a:xfrm>
            <a:off x="1353312" y="2157984"/>
            <a:ext cx="6144768" cy="292608"/>
          </a:xfrm>
          <a:prstGeom prst="rect">
            <a:avLst/>
          </a:prstGeom>
          <a:noFill/>
          <a:ln/>
        </p:spPr>
        <p:txBody>
          <a:bodyPr wrap="square" lIns="0" tIns="0" rIns="0" bIns="0" rtlCol="0" anchor="ctr"/>
          <a:lstStyle/>
          <a:p>
            <a:pPr indent="0" marL="0">
              <a:buNone/>
            </a:pPr>
            <a:r>
              <a:rPr lang="en-US" sz="1500" b="1" dirty="0">
                <a:solidFill>
                  <a:srgbClr val="2F3C7E"/>
                </a:solidFill>
              </a:rPr>
              <a:t>Download and print</a:t>
            </a:r>
            <a:endParaRPr lang="en-US" sz="1500" dirty="0"/>
          </a:p>
        </p:txBody>
      </p:sp>
      <p:sp>
        <p:nvSpPr>
          <p:cNvPr id="7" name="bullet-1-body"/>
          <p:cNvSpPr txBox="1"/>
          <p:nvPr/>
        </p:nvSpPr>
        <p:spPr>
          <a:xfrm>
            <a:off x="1353312" y="2450592"/>
            <a:ext cx="6144768" cy="475488"/>
          </a:xfrm>
          <a:prstGeom prst="rect">
            <a:avLst/>
          </a:prstGeom>
          <a:noFill/>
          <a:ln/>
        </p:spPr>
        <p:txBody>
          <a:bodyPr wrap="square" lIns="0" tIns="0" rIns="0" bIns="0" rtlCol="0" anchor="ctr"/>
          <a:lstStyle/>
          <a:p>
            <a:pPr indent="0" marL="0">
              <a:buNone/>
            </a:pPr>
            <a:r>
              <a:rPr lang="en-US" sz="1250" dirty="0">
                <a:solidFill>
                  <a:srgbClr val="16213E"/>
                </a:solidFill>
              </a:rPr>
              <a:t>Posters, gym noticeboards, sponsor banners, race-pack inserts — offline channels that still dominate here.</a:t>
            </a:r>
            <a:endParaRPr lang="en-US" sz="1250" dirty="0"/>
          </a:p>
        </p:txBody>
      </p:sp>
      <p:sp>
        <p:nvSpPr>
          <p:cNvPr id="8" name="bullet-2-dot"/>
          <p:cNvSpPr/>
          <p:nvPr/>
        </p:nvSpPr>
        <p:spPr>
          <a:xfrm>
            <a:off x="731520" y="3246120"/>
            <a:ext cx="420624" cy="420624"/>
          </a:xfrm>
          <a:prstGeom prst="ellipse">
            <a:avLst/>
          </a:prstGeom>
          <a:solidFill>
            <a:srgbClr val="F96167"/>
          </a:solidFill>
          <a:ln w="12700">
            <a:solidFill>
              <a:srgbClr val="F96167"/>
            </a:solidFill>
            <a:prstDash val="solid"/>
          </a:ln>
        </p:spPr>
      </p:sp>
      <p:sp>
        <p:nvSpPr>
          <p:cNvPr id="9" name="bullet-2-num"/>
          <p:cNvSpPr txBox="1"/>
          <p:nvPr/>
        </p:nvSpPr>
        <p:spPr>
          <a:xfrm>
            <a:off x="731520" y="32461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0" name="bullet-2-label"/>
          <p:cNvSpPr txBox="1"/>
          <p:nvPr/>
        </p:nvSpPr>
        <p:spPr>
          <a:xfrm>
            <a:off x="1353312" y="3209544"/>
            <a:ext cx="6144768" cy="292608"/>
          </a:xfrm>
          <a:prstGeom prst="rect">
            <a:avLst/>
          </a:prstGeom>
          <a:noFill/>
          <a:ln/>
        </p:spPr>
        <p:txBody>
          <a:bodyPr wrap="square" lIns="0" tIns="0" rIns="0" bIns="0" rtlCol="0" anchor="ctr"/>
          <a:lstStyle/>
          <a:p>
            <a:pPr indent="0" marL="0">
              <a:buNone/>
            </a:pPr>
            <a:r>
              <a:rPr lang="en-US" sz="1500" b="1" dirty="0">
                <a:solidFill>
                  <a:srgbClr val="2F3C7E"/>
                </a:solidFill>
              </a:rPr>
              <a:t>Carries the brand colour</a:t>
            </a:r>
            <a:endParaRPr lang="en-US" sz="1500" dirty="0"/>
          </a:p>
        </p:txBody>
      </p:sp>
      <p:sp>
        <p:nvSpPr>
          <p:cNvPr id="11" name="bullet-2-body"/>
          <p:cNvSpPr txBox="1"/>
          <p:nvPr/>
        </p:nvSpPr>
        <p:spPr>
          <a:xfrm>
            <a:off x="1353312" y="3502152"/>
            <a:ext cx="6144768" cy="475488"/>
          </a:xfrm>
          <a:prstGeom prst="rect">
            <a:avLst/>
          </a:prstGeom>
          <a:noFill/>
          <a:ln/>
        </p:spPr>
        <p:txBody>
          <a:bodyPr wrap="square" lIns="0" tIns="0" rIns="0" bIns="0" rtlCol="0" anchor="ctr"/>
          <a:lstStyle/>
          <a:p>
            <a:pPr indent="0" marL="0">
              <a:buNone/>
            </a:pPr>
            <a:r>
              <a:rPr lang="en-US" sz="1250" dirty="0">
                <a:solidFill>
                  <a:srgbClr val="16213E"/>
                </a:solidFill>
              </a:rPr>
              <a:t>Generated with the event's own palette, so it does not look like a generic black square on a designed poster.</a:t>
            </a:r>
            <a:endParaRPr lang="en-US" sz="1250" dirty="0"/>
          </a:p>
        </p:txBody>
      </p:sp>
      <p:sp>
        <p:nvSpPr>
          <p:cNvPr id="12" name="bullet-3-dot"/>
          <p:cNvSpPr/>
          <p:nvPr/>
        </p:nvSpPr>
        <p:spPr>
          <a:xfrm>
            <a:off x="731520" y="4297680"/>
            <a:ext cx="420624" cy="420624"/>
          </a:xfrm>
          <a:prstGeom prst="ellipse">
            <a:avLst/>
          </a:prstGeom>
          <a:solidFill>
            <a:srgbClr val="F96167"/>
          </a:solidFill>
          <a:ln w="12700">
            <a:solidFill>
              <a:srgbClr val="F96167"/>
            </a:solidFill>
            <a:prstDash val="solid"/>
          </a:ln>
        </p:spPr>
      </p:sp>
      <p:sp>
        <p:nvSpPr>
          <p:cNvPr id="13" name="bullet-3-num"/>
          <p:cNvSpPr txBox="1"/>
          <p:nvPr/>
        </p:nvSpPr>
        <p:spPr>
          <a:xfrm>
            <a:off x="731520" y="42976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bullet-3-label"/>
          <p:cNvSpPr txBox="1"/>
          <p:nvPr/>
        </p:nvSpPr>
        <p:spPr>
          <a:xfrm>
            <a:off x="1353312" y="4261104"/>
            <a:ext cx="6144768" cy="292608"/>
          </a:xfrm>
          <a:prstGeom prst="rect">
            <a:avLst/>
          </a:prstGeom>
          <a:noFill/>
          <a:ln/>
        </p:spPr>
        <p:txBody>
          <a:bodyPr wrap="square" lIns="0" tIns="0" rIns="0" bIns="0" rtlCol="0" anchor="ctr"/>
          <a:lstStyle/>
          <a:p>
            <a:pPr indent="0" marL="0">
              <a:buNone/>
            </a:pPr>
            <a:r>
              <a:rPr lang="en-US" sz="1500" b="1" dirty="0">
                <a:solidFill>
                  <a:srgbClr val="2F3C7E"/>
                </a:solidFill>
              </a:rPr>
              <a:t>Participants get one too</a:t>
            </a:r>
            <a:endParaRPr lang="en-US" sz="1500" dirty="0"/>
          </a:p>
        </p:txBody>
      </p:sp>
      <p:sp>
        <p:nvSpPr>
          <p:cNvPr id="15" name="bullet-3-body"/>
          <p:cNvSpPr txBox="1"/>
          <p:nvPr/>
        </p:nvSpPr>
        <p:spPr>
          <a:xfrm>
            <a:off x="1353312" y="4553712"/>
            <a:ext cx="6144768" cy="475488"/>
          </a:xfrm>
          <a:prstGeom prst="rect">
            <a:avLst/>
          </a:prstGeom>
          <a:noFill/>
          <a:ln/>
        </p:spPr>
        <p:txBody>
          <a:bodyPr wrap="square" lIns="0" tIns="0" rIns="0" bIns="0" rtlCol="0" anchor="ctr"/>
          <a:lstStyle/>
          <a:p>
            <a:pPr indent="0" marL="0">
              <a:buNone/>
            </a:pPr>
            <a:r>
              <a:rPr lang="en-US" sz="1250" dirty="0">
                <a:solidFill>
                  <a:srgbClr val="16213E"/>
                </a:solidFill>
              </a:rPr>
              <a:t>Each registration renders its own QR ticket, which is what the check-in desk scans on race day.</a:t>
            </a:r>
            <a:endParaRPr lang="en-US" sz="1250" dirty="0"/>
          </a:p>
        </p:txBody>
      </p:sp>
      <p:sp>
        <p:nvSpPr>
          <p:cNvPr id="16" name="qr-frame"/>
          <p:cNvSpPr/>
          <p:nvPr/>
        </p:nvSpPr>
        <p:spPr>
          <a:xfrm>
            <a:off x="8138160" y="1463040"/>
            <a:ext cx="3383280" cy="3383280"/>
          </a:xfrm>
          <a:prstGeom prst="roundRect">
            <a:avLst>
              <a:gd name="adj" fmla="val 2703"/>
            </a:avLst>
          </a:prstGeom>
          <a:solidFill>
            <a:srgbClr val="F2F4FA"/>
          </a:solidFill>
          <a:ln w="12700">
            <a:solidFill>
              <a:srgbClr val="F2F4FA"/>
            </a:solidFill>
            <a:prstDash val="solid"/>
          </a:ln>
        </p:spPr>
      </p:sp>
      <p:sp>
        <p:nvSpPr>
          <p:cNvPr id="17" name="qr-0-0"/>
          <p:cNvSpPr/>
          <p:nvPr/>
        </p:nvSpPr>
        <p:spPr>
          <a:xfrm>
            <a:off x="8732520" y="1828800"/>
            <a:ext cx="301752" cy="301752"/>
          </a:xfrm>
          <a:prstGeom prst="rect">
            <a:avLst/>
          </a:prstGeom>
          <a:solidFill>
            <a:srgbClr val="2F3C7E"/>
          </a:solidFill>
          <a:ln w="12700">
            <a:solidFill>
              <a:srgbClr val="2F3C7E"/>
            </a:solidFill>
            <a:prstDash val="solid"/>
          </a:ln>
        </p:spPr>
      </p:sp>
      <p:sp>
        <p:nvSpPr>
          <p:cNvPr id="18" name="qr-0-1"/>
          <p:cNvSpPr/>
          <p:nvPr/>
        </p:nvSpPr>
        <p:spPr>
          <a:xfrm>
            <a:off x="9034272" y="1828800"/>
            <a:ext cx="301752" cy="301752"/>
          </a:xfrm>
          <a:prstGeom prst="rect">
            <a:avLst/>
          </a:prstGeom>
          <a:solidFill>
            <a:srgbClr val="2F3C7E"/>
          </a:solidFill>
          <a:ln w="12700">
            <a:solidFill>
              <a:srgbClr val="2F3C7E"/>
            </a:solidFill>
            <a:prstDash val="solid"/>
          </a:ln>
        </p:spPr>
      </p:sp>
      <p:sp>
        <p:nvSpPr>
          <p:cNvPr id="19" name="qr-0-2"/>
          <p:cNvSpPr/>
          <p:nvPr/>
        </p:nvSpPr>
        <p:spPr>
          <a:xfrm>
            <a:off x="9336024" y="1828800"/>
            <a:ext cx="301752" cy="301752"/>
          </a:xfrm>
          <a:prstGeom prst="rect">
            <a:avLst/>
          </a:prstGeom>
          <a:solidFill>
            <a:srgbClr val="2F3C7E"/>
          </a:solidFill>
          <a:ln w="12700">
            <a:solidFill>
              <a:srgbClr val="2F3C7E"/>
            </a:solidFill>
            <a:prstDash val="solid"/>
          </a:ln>
        </p:spPr>
      </p:sp>
      <p:sp>
        <p:nvSpPr>
          <p:cNvPr id="20" name="qr-0-4"/>
          <p:cNvSpPr/>
          <p:nvPr/>
        </p:nvSpPr>
        <p:spPr>
          <a:xfrm>
            <a:off x="9939528" y="1828800"/>
            <a:ext cx="301752" cy="301752"/>
          </a:xfrm>
          <a:prstGeom prst="rect">
            <a:avLst/>
          </a:prstGeom>
          <a:solidFill>
            <a:srgbClr val="2F3C7E"/>
          </a:solidFill>
          <a:ln w="12700">
            <a:solidFill>
              <a:srgbClr val="2F3C7E"/>
            </a:solidFill>
            <a:prstDash val="solid"/>
          </a:ln>
        </p:spPr>
      </p:sp>
      <p:sp>
        <p:nvSpPr>
          <p:cNvPr id="21" name="qr-0-5"/>
          <p:cNvSpPr/>
          <p:nvPr/>
        </p:nvSpPr>
        <p:spPr>
          <a:xfrm>
            <a:off x="10241280" y="1828800"/>
            <a:ext cx="301752" cy="301752"/>
          </a:xfrm>
          <a:prstGeom prst="rect">
            <a:avLst/>
          </a:prstGeom>
          <a:solidFill>
            <a:srgbClr val="2F3C7E"/>
          </a:solidFill>
          <a:ln w="12700">
            <a:solidFill>
              <a:srgbClr val="2F3C7E"/>
            </a:solidFill>
            <a:prstDash val="solid"/>
          </a:ln>
        </p:spPr>
      </p:sp>
      <p:sp>
        <p:nvSpPr>
          <p:cNvPr id="22" name="qr-0-6"/>
          <p:cNvSpPr/>
          <p:nvPr/>
        </p:nvSpPr>
        <p:spPr>
          <a:xfrm>
            <a:off x="10543032" y="1828800"/>
            <a:ext cx="301752" cy="301752"/>
          </a:xfrm>
          <a:prstGeom prst="rect">
            <a:avLst/>
          </a:prstGeom>
          <a:solidFill>
            <a:srgbClr val="2F3C7E"/>
          </a:solidFill>
          <a:ln w="12700">
            <a:solidFill>
              <a:srgbClr val="2F3C7E"/>
            </a:solidFill>
            <a:prstDash val="solid"/>
          </a:ln>
        </p:spPr>
      </p:sp>
      <p:sp>
        <p:nvSpPr>
          <p:cNvPr id="23" name="qr-1-0"/>
          <p:cNvSpPr/>
          <p:nvPr/>
        </p:nvSpPr>
        <p:spPr>
          <a:xfrm>
            <a:off x="8732520" y="2130552"/>
            <a:ext cx="301752" cy="301752"/>
          </a:xfrm>
          <a:prstGeom prst="rect">
            <a:avLst/>
          </a:prstGeom>
          <a:solidFill>
            <a:srgbClr val="2F3C7E"/>
          </a:solidFill>
          <a:ln w="12700">
            <a:solidFill>
              <a:srgbClr val="2F3C7E"/>
            </a:solidFill>
            <a:prstDash val="solid"/>
          </a:ln>
        </p:spPr>
      </p:sp>
      <p:sp>
        <p:nvSpPr>
          <p:cNvPr id="24" name="qr-1-4"/>
          <p:cNvSpPr/>
          <p:nvPr/>
        </p:nvSpPr>
        <p:spPr>
          <a:xfrm>
            <a:off x="9939528" y="2130552"/>
            <a:ext cx="301752" cy="301752"/>
          </a:xfrm>
          <a:prstGeom prst="rect">
            <a:avLst/>
          </a:prstGeom>
          <a:solidFill>
            <a:srgbClr val="2F3C7E"/>
          </a:solidFill>
          <a:ln w="12700">
            <a:solidFill>
              <a:srgbClr val="2F3C7E"/>
            </a:solidFill>
            <a:prstDash val="solid"/>
          </a:ln>
        </p:spPr>
      </p:sp>
      <p:sp>
        <p:nvSpPr>
          <p:cNvPr id="25" name="qr-1-6"/>
          <p:cNvSpPr/>
          <p:nvPr/>
        </p:nvSpPr>
        <p:spPr>
          <a:xfrm>
            <a:off x="10543032" y="2130552"/>
            <a:ext cx="301752" cy="301752"/>
          </a:xfrm>
          <a:prstGeom prst="rect">
            <a:avLst/>
          </a:prstGeom>
          <a:solidFill>
            <a:srgbClr val="2F3C7E"/>
          </a:solidFill>
          <a:ln w="12700">
            <a:solidFill>
              <a:srgbClr val="2F3C7E"/>
            </a:solidFill>
            <a:prstDash val="solid"/>
          </a:ln>
        </p:spPr>
      </p:sp>
      <p:sp>
        <p:nvSpPr>
          <p:cNvPr id="26" name="qr-2-0"/>
          <p:cNvSpPr/>
          <p:nvPr/>
        </p:nvSpPr>
        <p:spPr>
          <a:xfrm>
            <a:off x="8732520" y="2432304"/>
            <a:ext cx="301752" cy="301752"/>
          </a:xfrm>
          <a:prstGeom prst="rect">
            <a:avLst/>
          </a:prstGeom>
          <a:solidFill>
            <a:srgbClr val="2F3C7E"/>
          </a:solidFill>
          <a:ln w="12700">
            <a:solidFill>
              <a:srgbClr val="2F3C7E"/>
            </a:solidFill>
            <a:prstDash val="solid"/>
          </a:ln>
        </p:spPr>
      </p:sp>
      <p:sp>
        <p:nvSpPr>
          <p:cNvPr id="27" name="qr-2-2"/>
          <p:cNvSpPr/>
          <p:nvPr/>
        </p:nvSpPr>
        <p:spPr>
          <a:xfrm>
            <a:off x="9336024" y="2432304"/>
            <a:ext cx="301752" cy="301752"/>
          </a:xfrm>
          <a:prstGeom prst="rect">
            <a:avLst/>
          </a:prstGeom>
          <a:solidFill>
            <a:srgbClr val="2F3C7E"/>
          </a:solidFill>
          <a:ln w="12700">
            <a:solidFill>
              <a:srgbClr val="2F3C7E"/>
            </a:solidFill>
            <a:prstDash val="solid"/>
          </a:ln>
        </p:spPr>
      </p:sp>
      <p:sp>
        <p:nvSpPr>
          <p:cNvPr id="28" name="qr-2-3"/>
          <p:cNvSpPr/>
          <p:nvPr/>
        </p:nvSpPr>
        <p:spPr>
          <a:xfrm>
            <a:off x="9637776" y="2432304"/>
            <a:ext cx="301752" cy="301752"/>
          </a:xfrm>
          <a:prstGeom prst="rect">
            <a:avLst/>
          </a:prstGeom>
          <a:solidFill>
            <a:srgbClr val="2F3C7E"/>
          </a:solidFill>
          <a:ln w="12700">
            <a:solidFill>
              <a:srgbClr val="2F3C7E"/>
            </a:solidFill>
            <a:prstDash val="solid"/>
          </a:ln>
        </p:spPr>
      </p:sp>
      <p:sp>
        <p:nvSpPr>
          <p:cNvPr id="29" name="qr-2-4"/>
          <p:cNvSpPr/>
          <p:nvPr/>
        </p:nvSpPr>
        <p:spPr>
          <a:xfrm>
            <a:off x="9939528" y="2432304"/>
            <a:ext cx="301752" cy="301752"/>
          </a:xfrm>
          <a:prstGeom prst="rect">
            <a:avLst/>
          </a:prstGeom>
          <a:solidFill>
            <a:srgbClr val="2F3C7E"/>
          </a:solidFill>
          <a:ln w="12700">
            <a:solidFill>
              <a:srgbClr val="2F3C7E"/>
            </a:solidFill>
            <a:prstDash val="solid"/>
          </a:ln>
        </p:spPr>
      </p:sp>
      <p:sp>
        <p:nvSpPr>
          <p:cNvPr id="30" name="qr-2-6"/>
          <p:cNvSpPr/>
          <p:nvPr/>
        </p:nvSpPr>
        <p:spPr>
          <a:xfrm>
            <a:off x="10543032" y="2432304"/>
            <a:ext cx="301752" cy="301752"/>
          </a:xfrm>
          <a:prstGeom prst="rect">
            <a:avLst/>
          </a:prstGeom>
          <a:solidFill>
            <a:srgbClr val="2F3C7E"/>
          </a:solidFill>
          <a:ln w="12700">
            <a:solidFill>
              <a:srgbClr val="2F3C7E"/>
            </a:solidFill>
            <a:prstDash val="solid"/>
          </a:ln>
        </p:spPr>
      </p:sp>
      <p:sp>
        <p:nvSpPr>
          <p:cNvPr id="31" name="qr-3-0"/>
          <p:cNvSpPr/>
          <p:nvPr/>
        </p:nvSpPr>
        <p:spPr>
          <a:xfrm>
            <a:off x="8732520" y="2734056"/>
            <a:ext cx="301752" cy="301752"/>
          </a:xfrm>
          <a:prstGeom prst="rect">
            <a:avLst/>
          </a:prstGeom>
          <a:solidFill>
            <a:srgbClr val="2F3C7E"/>
          </a:solidFill>
          <a:ln w="12700">
            <a:solidFill>
              <a:srgbClr val="2F3C7E"/>
            </a:solidFill>
            <a:prstDash val="solid"/>
          </a:ln>
        </p:spPr>
      </p:sp>
      <p:sp>
        <p:nvSpPr>
          <p:cNvPr id="32" name="qr-3-2"/>
          <p:cNvSpPr/>
          <p:nvPr/>
        </p:nvSpPr>
        <p:spPr>
          <a:xfrm>
            <a:off x="9336024" y="2734056"/>
            <a:ext cx="301752" cy="301752"/>
          </a:xfrm>
          <a:prstGeom prst="rect">
            <a:avLst/>
          </a:prstGeom>
          <a:solidFill>
            <a:srgbClr val="2F3C7E"/>
          </a:solidFill>
          <a:ln w="12700">
            <a:solidFill>
              <a:srgbClr val="2F3C7E"/>
            </a:solidFill>
            <a:prstDash val="solid"/>
          </a:ln>
        </p:spPr>
      </p:sp>
      <p:sp>
        <p:nvSpPr>
          <p:cNvPr id="33" name="qr-3-6"/>
          <p:cNvSpPr/>
          <p:nvPr/>
        </p:nvSpPr>
        <p:spPr>
          <a:xfrm>
            <a:off x="10543032" y="2734056"/>
            <a:ext cx="301752" cy="301752"/>
          </a:xfrm>
          <a:prstGeom prst="rect">
            <a:avLst/>
          </a:prstGeom>
          <a:solidFill>
            <a:srgbClr val="2F3C7E"/>
          </a:solidFill>
          <a:ln w="12700">
            <a:solidFill>
              <a:srgbClr val="2F3C7E"/>
            </a:solidFill>
            <a:prstDash val="solid"/>
          </a:ln>
        </p:spPr>
      </p:sp>
      <p:sp>
        <p:nvSpPr>
          <p:cNvPr id="34" name="qr-4-0"/>
          <p:cNvSpPr/>
          <p:nvPr/>
        </p:nvSpPr>
        <p:spPr>
          <a:xfrm>
            <a:off x="8732520" y="3035808"/>
            <a:ext cx="301752" cy="301752"/>
          </a:xfrm>
          <a:prstGeom prst="rect">
            <a:avLst/>
          </a:prstGeom>
          <a:solidFill>
            <a:srgbClr val="2F3C7E"/>
          </a:solidFill>
          <a:ln w="12700">
            <a:solidFill>
              <a:srgbClr val="2F3C7E"/>
            </a:solidFill>
            <a:prstDash val="solid"/>
          </a:ln>
        </p:spPr>
      </p:sp>
      <p:sp>
        <p:nvSpPr>
          <p:cNvPr id="35" name="qr-4-1"/>
          <p:cNvSpPr/>
          <p:nvPr/>
        </p:nvSpPr>
        <p:spPr>
          <a:xfrm>
            <a:off x="9034272" y="3035808"/>
            <a:ext cx="301752" cy="301752"/>
          </a:xfrm>
          <a:prstGeom prst="rect">
            <a:avLst/>
          </a:prstGeom>
          <a:solidFill>
            <a:srgbClr val="2F3C7E"/>
          </a:solidFill>
          <a:ln w="12700">
            <a:solidFill>
              <a:srgbClr val="2F3C7E"/>
            </a:solidFill>
            <a:prstDash val="solid"/>
          </a:ln>
        </p:spPr>
      </p:sp>
      <p:sp>
        <p:nvSpPr>
          <p:cNvPr id="36" name="qr-4-2"/>
          <p:cNvSpPr/>
          <p:nvPr/>
        </p:nvSpPr>
        <p:spPr>
          <a:xfrm>
            <a:off x="9336024" y="3035808"/>
            <a:ext cx="301752" cy="301752"/>
          </a:xfrm>
          <a:prstGeom prst="rect">
            <a:avLst/>
          </a:prstGeom>
          <a:solidFill>
            <a:srgbClr val="2F3C7E"/>
          </a:solidFill>
          <a:ln w="12700">
            <a:solidFill>
              <a:srgbClr val="2F3C7E"/>
            </a:solidFill>
            <a:prstDash val="solid"/>
          </a:ln>
        </p:spPr>
      </p:sp>
      <p:sp>
        <p:nvSpPr>
          <p:cNvPr id="37" name="qr-4-4"/>
          <p:cNvSpPr/>
          <p:nvPr/>
        </p:nvSpPr>
        <p:spPr>
          <a:xfrm>
            <a:off x="9939528" y="3035808"/>
            <a:ext cx="301752" cy="301752"/>
          </a:xfrm>
          <a:prstGeom prst="rect">
            <a:avLst/>
          </a:prstGeom>
          <a:solidFill>
            <a:srgbClr val="2F3C7E"/>
          </a:solidFill>
          <a:ln w="12700">
            <a:solidFill>
              <a:srgbClr val="2F3C7E"/>
            </a:solidFill>
            <a:prstDash val="solid"/>
          </a:ln>
        </p:spPr>
      </p:sp>
      <p:sp>
        <p:nvSpPr>
          <p:cNvPr id="38" name="qr-4-5"/>
          <p:cNvSpPr/>
          <p:nvPr/>
        </p:nvSpPr>
        <p:spPr>
          <a:xfrm>
            <a:off x="10241280" y="3035808"/>
            <a:ext cx="301752" cy="301752"/>
          </a:xfrm>
          <a:prstGeom prst="rect">
            <a:avLst/>
          </a:prstGeom>
          <a:solidFill>
            <a:srgbClr val="2F3C7E"/>
          </a:solidFill>
          <a:ln w="12700">
            <a:solidFill>
              <a:srgbClr val="2F3C7E"/>
            </a:solidFill>
            <a:prstDash val="solid"/>
          </a:ln>
        </p:spPr>
      </p:sp>
      <p:sp>
        <p:nvSpPr>
          <p:cNvPr id="39" name="qr-4-6"/>
          <p:cNvSpPr/>
          <p:nvPr/>
        </p:nvSpPr>
        <p:spPr>
          <a:xfrm>
            <a:off x="10543032" y="3035808"/>
            <a:ext cx="301752" cy="301752"/>
          </a:xfrm>
          <a:prstGeom prst="rect">
            <a:avLst/>
          </a:prstGeom>
          <a:solidFill>
            <a:srgbClr val="2F3C7E"/>
          </a:solidFill>
          <a:ln w="12700">
            <a:solidFill>
              <a:srgbClr val="2F3C7E"/>
            </a:solidFill>
            <a:prstDash val="solid"/>
          </a:ln>
        </p:spPr>
      </p:sp>
      <p:sp>
        <p:nvSpPr>
          <p:cNvPr id="40" name="qr-5-5"/>
          <p:cNvSpPr/>
          <p:nvPr/>
        </p:nvSpPr>
        <p:spPr>
          <a:xfrm>
            <a:off x="10241280" y="3337560"/>
            <a:ext cx="301752" cy="301752"/>
          </a:xfrm>
          <a:prstGeom prst="rect">
            <a:avLst/>
          </a:prstGeom>
          <a:solidFill>
            <a:srgbClr val="2F3C7E"/>
          </a:solidFill>
          <a:ln w="12700">
            <a:solidFill>
              <a:srgbClr val="2F3C7E"/>
            </a:solidFill>
            <a:prstDash val="solid"/>
          </a:ln>
        </p:spPr>
      </p:sp>
      <p:sp>
        <p:nvSpPr>
          <p:cNvPr id="41" name="qr-6-0"/>
          <p:cNvSpPr/>
          <p:nvPr/>
        </p:nvSpPr>
        <p:spPr>
          <a:xfrm>
            <a:off x="8732520" y="3639312"/>
            <a:ext cx="301752" cy="301752"/>
          </a:xfrm>
          <a:prstGeom prst="rect">
            <a:avLst/>
          </a:prstGeom>
          <a:solidFill>
            <a:srgbClr val="2F3C7E"/>
          </a:solidFill>
          <a:ln w="12700">
            <a:solidFill>
              <a:srgbClr val="2F3C7E"/>
            </a:solidFill>
            <a:prstDash val="solid"/>
          </a:ln>
        </p:spPr>
      </p:sp>
      <p:sp>
        <p:nvSpPr>
          <p:cNvPr id="42" name="qr-6-1"/>
          <p:cNvSpPr/>
          <p:nvPr/>
        </p:nvSpPr>
        <p:spPr>
          <a:xfrm>
            <a:off x="9034272" y="3639312"/>
            <a:ext cx="301752" cy="301752"/>
          </a:xfrm>
          <a:prstGeom prst="rect">
            <a:avLst/>
          </a:prstGeom>
          <a:solidFill>
            <a:srgbClr val="2F3C7E"/>
          </a:solidFill>
          <a:ln w="12700">
            <a:solidFill>
              <a:srgbClr val="2F3C7E"/>
            </a:solidFill>
            <a:prstDash val="solid"/>
          </a:ln>
        </p:spPr>
      </p:sp>
      <p:sp>
        <p:nvSpPr>
          <p:cNvPr id="43" name="qr-6-3"/>
          <p:cNvSpPr/>
          <p:nvPr/>
        </p:nvSpPr>
        <p:spPr>
          <a:xfrm>
            <a:off x="9637776" y="3639312"/>
            <a:ext cx="301752" cy="301752"/>
          </a:xfrm>
          <a:prstGeom prst="rect">
            <a:avLst/>
          </a:prstGeom>
          <a:solidFill>
            <a:srgbClr val="2F3C7E"/>
          </a:solidFill>
          <a:ln w="12700">
            <a:solidFill>
              <a:srgbClr val="2F3C7E"/>
            </a:solidFill>
            <a:prstDash val="solid"/>
          </a:ln>
        </p:spPr>
      </p:sp>
      <p:sp>
        <p:nvSpPr>
          <p:cNvPr id="44" name="qr-6-5"/>
          <p:cNvSpPr/>
          <p:nvPr/>
        </p:nvSpPr>
        <p:spPr>
          <a:xfrm>
            <a:off x="10241280" y="3639312"/>
            <a:ext cx="301752" cy="301752"/>
          </a:xfrm>
          <a:prstGeom prst="rect">
            <a:avLst/>
          </a:prstGeom>
          <a:solidFill>
            <a:srgbClr val="2F3C7E"/>
          </a:solidFill>
          <a:ln w="12700">
            <a:solidFill>
              <a:srgbClr val="2F3C7E"/>
            </a:solidFill>
            <a:prstDash val="solid"/>
          </a:ln>
        </p:spPr>
      </p:sp>
      <p:sp>
        <p:nvSpPr>
          <p:cNvPr id="45" name="qr-6-6"/>
          <p:cNvSpPr/>
          <p:nvPr/>
        </p:nvSpPr>
        <p:spPr>
          <a:xfrm>
            <a:off x="10543032" y="3639312"/>
            <a:ext cx="301752" cy="301752"/>
          </a:xfrm>
          <a:prstGeom prst="rect">
            <a:avLst/>
          </a:prstGeom>
          <a:solidFill>
            <a:srgbClr val="2F3C7E"/>
          </a:solidFill>
          <a:ln w="12700">
            <a:solidFill>
              <a:srgbClr val="2F3C7E"/>
            </a:solidFill>
            <a:prstDash val="solid"/>
          </a:ln>
        </p:spPr>
      </p:sp>
      <p:sp>
        <p:nvSpPr>
          <p:cNvPr id="46" name="qr-caption"/>
          <p:cNvSpPr txBox="1"/>
          <p:nvPr/>
        </p:nvSpPr>
        <p:spPr>
          <a:xfrm>
            <a:off x="8138160" y="4206240"/>
            <a:ext cx="3383280" cy="365760"/>
          </a:xfrm>
          <a:prstGeom prst="rect">
            <a:avLst/>
          </a:prstGeom>
          <a:noFill/>
          <a:ln/>
        </p:spPr>
        <p:txBody>
          <a:bodyPr wrap="square" lIns="0" tIns="0" rIns="0" bIns="0" rtlCol="0" anchor="ctr"/>
          <a:lstStyle/>
          <a:p>
            <a:pPr algn="ctr" indent="0" marL="0">
              <a:buNone/>
            </a:pPr>
            <a:r>
              <a:rPr lang="en-US" sz="1200" b="1" dirty="0">
                <a:solidFill>
                  <a:srgbClr val="2F3C7E"/>
                </a:solidFill>
              </a:rPr>
              <a:t>Scan to register</a:t>
            </a:r>
            <a:endParaRPr lang="en-US" sz="1200" dirty="0"/>
          </a:p>
        </p:txBody>
      </p:sp>
      <p:sp>
        <p:nvSpPr>
          <p:cNvPr id="48" name="Text 1"/>
          <p:cNvSpPr/>
          <p:nvPr>
            <p:ph idx="102" hasCustomPrompt="1"/>
          </p:nvPr>
        </p:nvSpPr>
        <p:spPr>
          <a:xfrm>
            <a:off x="1124712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rgbClr val="2F3C7E"/>
                </a:solidFill>
              </a:rPr>
              <a:t>Unlisted events, for invitation-led races</a:t>
            </a:r>
            <a:endParaRPr lang="en-US" sz="3200" dirty="0"/>
          </a:p>
        </p:txBody>
      </p:sp>
      <p:sp>
        <p:nvSpPr>
          <p:cNvPr id="3" name="Text 1"/>
          <p:cNvSpPr txBox="1"/>
          <p:nvPr/>
        </p:nvSpPr>
        <p:spPr>
          <a:xfrm>
            <a:off x="640080" y="1280160"/>
            <a:ext cx="10881360" cy="731520"/>
          </a:xfrm>
          <a:prstGeom prst="rect">
            <a:avLst/>
          </a:prstGeom>
          <a:noFill/>
          <a:ln/>
        </p:spPr>
        <p:txBody>
          <a:bodyPr wrap="square" lIns="0" tIns="0" rIns="0" bIns="0" rtlCol="0" anchor="ctr"/>
          <a:lstStyle/>
          <a:p>
            <a:pPr indent="0" marL="0">
              <a:buNone/>
            </a:pPr>
            <a:r>
              <a:rPr lang="en-US" sz="1500" dirty="0">
                <a:solidFill>
                  <a:srgbClr val="16213E"/>
                </a:solidFill>
              </a:rPr>
              <a:t>A published event can be kept off the public catalogue. It takes registrations, issues certificates and shows results exactly like any other — it simply is not browsable or searchable.</a:t>
            </a:r>
            <a:endParaRPr lang="en-US" sz="1500" dirty="0"/>
          </a:p>
        </p:txBody>
      </p:sp>
      <p:sp>
        <p:nvSpPr>
          <p:cNvPr id="4" name="unlisted-is-card"/>
          <p:cNvSpPr/>
          <p:nvPr/>
        </p:nvSpPr>
        <p:spPr>
          <a:xfrm>
            <a:off x="640080" y="2240280"/>
            <a:ext cx="5349240" cy="2240280"/>
          </a:xfrm>
          <a:prstGeom prst="roundRect">
            <a:avLst>
              <a:gd name="adj" fmla="val 2449"/>
            </a:avLst>
          </a:prstGeom>
          <a:solidFill>
            <a:srgbClr val="F2F4FA"/>
          </a:solidFill>
          <a:ln w="12700">
            <a:solidFill>
              <a:srgbClr val="F2F4FA"/>
            </a:solidFill>
            <a:prstDash val="solid"/>
          </a:ln>
          <a:effectLst>
            <a:outerShdw sx="100000" sy="100000" kx="0" ky="0" algn="bl" rotWithShape="0" blurRad="76200" dist="12700" dir="5400000">
              <a:srgbClr val="16213E">
                <a:alpha val="10000"/>
              </a:srgbClr>
            </a:outerShdw>
          </a:effectLst>
        </p:spPr>
      </p:sp>
      <p:sp>
        <p:nvSpPr>
          <p:cNvPr id="5" name="unlisted-is-h"/>
          <p:cNvSpPr txBox="1"/>
          <p:nvPr/>
        </p:nvSpPr>
        <p:spPr>
          <a:xfrm>
            <a:off x="877824" y="2423160"/>
            <a:ext cx="4873752" cy="365760"/>
          </a:xfrm>
          <a:prstGeom prst="rect">
            <a:avLst/>
          </a:prstGeom>
          <a:noFill/>
          <a:ln/>
        </p:spPr>
        <p:txBody>
          <a:bodyPr wrap="square" lIns="0" tIns="0" rIns="0" bIns="0" rtlCol="0" anchor="t"/>
          <a:lstStyle/>
          <a:p>
            <a:pPr indent="0" marL="0">
              <a:buNone/>
            </a:pPr>
            <a:r>
              <a:rPr lang="en-US" sz="1500" b="1" dirty="0">
                <a:solidFill>
                  <a:srgbClr val="2F3C7E"/>
                </a:solidFill>
              </a:rPr>
              <a:t>What it is</a:t>
            </a:r>
            <a:endParaRPr lang="en-US" sz="1500" dirty="0"/>
          </a:p>
        </p:txBody>
      </p:sp>
      <p:sp>
        <p:nvSpPr>
          <p:cNvPr id="6" name="unlisted-is-b"/>
          <p:cNvSpPr txBox="1"/>
          <p:nvPr/>
        </p:nvSpPr>
        <p:spPr>
          <a:xfrm>
            <a:off x="877824" y="2843784"/>
            <a:ext cx="4873752" cy="14173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13E"/>
                </a:solidFill>
              </a:rPr>
              <a:t>Corporate races, club championships, sponsor-invite events</a:t>
            </a:r>
            <a:endParaRPr lang="en-US" sz="1200" dirty="0"/>
          </a:p>
          <a:p>
            <a:pPr marL="342900" indent="-342900">
              <a:spcAft>
                <a:spcPts val="500"/>
              </a:spcAft>
              <a:buSzPct val="100000"/>
              <a:buChar char="•"/>
            </a:pPr>
            <a:r>
              <a:rPr lang="en-US" sz="1200" dirty="0">
                <a:solidFill>
                  <a:srgbClr val="16213E"/>
                </a:solidFill>
              </a:rPr>
              <a:t>Distributed by link or QR to the people who should enter</a:t>
            </a:r>
            <a:endParaRPr lang="en-US" sz="1200" dirty="0"/>
          </a:p>
          <a:p>
            <a:pPr marL="342900" indent="-342900">
              <a:spcAft>
                <a:spcPts val="500"/>
              </a:spcAft>
              <a:buSzPct val="100000"/>
              <a:buChar char="•"/>
            </a:pPr>
            <a:r>
              <a:rPr lang="en-US" sz="1200" dirty="0">
                <a:solidFill>
                  <a:srgbClr val="16213E"/>
                </a:solidFill>
              </a:rPr>
              <a:t>Fully functional: payments, waitlist, check-in, results</a:t>
            </a:r>
            <a:endParaRPr lang="en-US" sz="1200" dirty="0"/>
          </a:p>
        </p:txBody>
      </p:sp>
      <p:sp>
        <p:nvSpPr>
          <p:cNvPr id="7" name="unlisted-isnot-card"/>
          <p:cNvSpPr/>
          <p:nvPr/>
        </p:nvSpPr>
        <p:spPr>
          <a:xfrm>
            <a:off x="6172200" y="2240280"/>
            <a:ext cx="5349240" cy="2240280"/>
          </a:xfrm>
          <a:prstGeom prst="roundRect">
            <a:avLst>
              <a:gd name="adj" fmla="val 2449"/>
            </a:avLst>
          </a:prstGeom>
          <a:solidFill>
            <a:srgbClr val="FBE9EA"/>
          </a:solidFill>
          <a:ln w="12700">
            <a:solidFill>
              <a:srgbClr val="FBE9EA"/>
            </a:solidFill>
            <a:prstDash val="solid"/>
          </a:ln>
          <a:effectLst>
            <a:outerShdw sx="100000" sy="100000" kx="0" ky="0" algn="bl" rotWithShape="0" blurRad="76200" dist="12700" dir="5400000">
              <a:srgbClr val="16213E">
                <a:alpha val="10000"/>
              </a:srgbClr>
            </a:outerShdw>
          </a:effectLst>
        </p:spPr>
      </p:sp>
      <p:sp>
        <p:nvSpPr>
          <p:cNvPr id="8" name="unlisted-isnot-h"/>
          <p:cNvSpPr txBox="1"/>
          <p:nvPr/>
        </p:nvSpPr>
        <p:spPr>
          <a:xfrm>
            <a:off x="6409944" y="2423160"/>
            <a:ext cx="4873752" cy="365760"/>
          </a:xfrm>
          <a:prstGeom prst="rect">
            <a:avLst/>
          </a:prstGeom>
          <a:noFill/>
          <a:ln/>
        </p:spPr>
        <p:txBody>
          <a:bodyPr wrap="square" lIns="0" tIns="0" rIns="0" bIns="0" rtlCol="0" anchor="t"/>
          <a:lstStyle/>
          <a:p>
            <a:pPr indent="0" marL="0">
              <a:buNone/>
            </a:pPr>
            <a:r>
              <a:rPr lang="en-US" sz="1500" b="1" dirty="0">
                <a:solidFill>
                  <a:srgbClr val="2F3C7E"/>
                </a:solidFill>
              </a:rPr>
              <a:t>What we are careful to say</a:t>
            </a:r>
            <a:endParaRPr lang="en-US" sz="1500" dirty="0"/>
          </a:p>
        </p:txBody>
      </p:sp>
      <p:sp>
        <p:nvSpPr>
          <p:cNvPr id="9" name="unlisted-isnot-b"/>
          <p:cNvSpPr txBox="1"/>
          <p:nvPr/>
        </p:nvSpPr>
        <p:spPr>
          <a:xfrm>
            <a:off x="6409944" y="2843784"/>
            <a:ext cx="4873752" cy="14173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13E"/>
                </a:solidFill>
              </a:rPr>
              <a:t>Access is the link — anyone holding it can open and register</a:t>
            </a:r>
            <a:endParaRPr lang="en-US" sz="1200" dirty="0"/>
          </a:p>
          <a:p>
            <a:pPr marL="342900" indent="-342900">
              <a:spcAft>
                <a:spcPts val="500"/>
              </a:spcAft>
              <a:buSzPct val="100000"/>
              <a:buChar char="•"/>
            </a:pPr>
            <a:r>
              <a:rPr lang="en-US" sz="1200" dirty="0">
                <a:solidFill>
                  <a:srgbClr val="16213E"/>
                </a:solidFill>
              </a:rPr>
              <a:t>So it is “unlisted”, never “private”, in the product copy</a:t>
            </a:r>
            <a:endParaRPr lang="en-US" sz="1200" dirty="0"/>
          </a:p>
          <a:p>
            <a:pPr marL="342900" indent="-342900">
              <a:spcAft>
                <a:spcPts val="500"/>
              </a:spcAft>
              <a:buSzPct val="100000"/>
              <a:buChar char="•"/>
            </a:pPr>
            <a:r>
              <a:rPr lang="en-US" sz="1200" dirty="0">
                <a:solidFill>
                  <a:srgbClr val="16213E"/>
                </a:solidFill>
              </a:rPr>
              <a:t>A rotatable code or invite list is a planned third mode</a:t>
            </a:r>
            <a:endParaRPr lang="en-US" sz="1200" dirty="0"/>
          </a:p>
        </p:txBody>
      </p:sp>
      <p:sp>
        <p:nvSpPr>
          <p:cNvPr id="10" name="Text 8"/>
          <p:cNvSpPr txBox="1"/>
          <p:nvPr/>
        </p:nvSpPr>
        <p:spPr>
          <a:xfrm>
            <a:off x="640080" y="4754880"/>
            <a:ext cx="10881360" cy="594360"/>
          </a:xfrm>
          <a:prstGeom prst="rect">
            <a:avLst/>
          </a:prstGeom>
          <a:noFill/>
          <a:ln/>
        </p:spPr>
        <p:txBody>
          <a:bodyPr wrap="square" lIns="0" tIns="0" rIns="0" bIns="0" rtlCol="0" anchor="ctr"/>
          <a:lstStyle/>
          <a:p>
            <a:pPr indent="0" marL="0">
              <a:buNone/>
            </a:pPr>
            <a:r>
              <a:rPr lang="en-US" sz="1300" i="1" dirty="0">
                <a:solidFill>
                  <a:srgbClr val="5A6BA8"/>
                </a:solidFill>
              </a:rPr>
              <a:t>Above 50 places, publishing an unlisted event requires a verified organization — the one place where “off the catalogue” could otherwise hide something at scale.</a:t>
            </a:r>
            <a:endParaRPr lang="en-US" sz="1300" dirty="0"/>
          </a:p>
        </p:txBody>
      </p:sp>
      <p:sp>
        <p:nvSpPr>
          <p:cNvPr id="12" name="Text 1"/>
          <p:cNvSpPr/>
          <p:nvPr>
            <p:ph idx="102" hasCustomPrompt="1"/>
          </p:nvPr>
        </p:nvSpPr>
        <p:spPr>
          <a:xfrm>
            <a:off x="1124712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822960" y="2743200"/>
            <a:ext cx="9601200" cy="1188720"/>
          </a:xfrm>
          <a:prstGeom prst="rect">
            <a:avLst/>
          </a:prstGeom>
          <a:noFill/>
          <a:ln/>
        </p:spPr>
        <p:txBody>
          <a:bodyPr wrap="square" rtlCol="0" anchor="ctr"/>
          <a:lstStyle/>
          <a:p>
            <a:pPr algn="l" indent="0" marL="0">
              <a:buNone/>
            </a:pPr>
            <a:r>
              <a:rPr lang="en-US" sz="4000" b="1" dirty="0">
                <a:solidFill>
                  <a:schemeClr val="bg1"/>
                </a:solidFill>
              </a:rPr>
              <a:t>02 — The participant product</a:t>
            </a:r>
            <a:endParaRPr lang="en-US" sz="4000" dirty="0"/>
          </a:p>
        </p:txBody>
      </p:sp>
      <p:sp>
        <p:nvSpPr>
          <p:cNvPr id="3" name="Text 0"/>
          <p:cNvSpPr/>
          <p:nvPr>
            <p:ph idx="101" type="body" hasCustomPrompt="1"/>
          </p:nvPr>
        </p:nvSpPr>
        <p:spPr>
          <a:xfrm>
            <a:off x="822960" y="3931920"/>
            <a:ext cx="9144000" cy="914400"/>
          </a:xfrm>
          <a:prstGeom prst="rect">
            <a:avLst/>
          </a:prstGeom>
          <a:noFill/>
          <a:ln/>
        </p:spPr>
        <p:txBody>
          <a:bodyPr wrap="square" rtlCol="0"/>
          <a:lstStyle/>
          <a:p>
            <a:pPr indent="0" marL="0">
              <a:buNone/>
            </a:pPr>
            <a:r>
              <a:rPr lang="en-US" sz="1500" dirty="0">
                <a:solidFill>
                  <a:srgbClr val="F9E795"/>
                </a:solidFill>
              </a:rPr>
              <a:t>Payment, capacity, race day</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rgbClr val="2F3C7E"/>
                </a:solidFill>
              </a:rPr>
              <a:t>Paid in the way Cambodia actually pays</a:t>
            </a:r>
            <a:endParaRPr lang="en-US" sz="3200" dirty="0"/>
          </a:p>
        </p:txBody>
      </p:sp>
      <p:sp>
        <p:nvSpPr>
          <p:cNvPr id="3" name="Text 1"/>
          <p:cNvSpPr txBox="1"/>
          <p:nvPr/>
        </p:nvSpPr>
        <p:spPr>
          <a:xfrm>
            <a:off x="640080" y="1280160"/>
            <a:ext cx="10881360" cy="731520"/>
          </a:xfrm>
          <a:prstGeom prst="rect">
            <a:avLst/>
          </a:prstGeom>
          <a:noFill/>
          <a:ln/>
        </p:spPr>
        <p:txBody>
          <a:bodyPr wrap="square" lIns="0" tIns="0" rIns="0" bIns="0" rtlCol="0" anchor="ctr"/>
          <a:lstStyle/>
          <a:p>
            <a:pPr indent="0" marL="0">
              <a:buNone/>
            </a:pPr>
            <a:r>
              <a:rPr lang="en-US" sz="1500" dirty="0">
                <a:solidFill>
                  <a:srgbClr val="16213E"/>
                </a:solidFill>
              </a:rPr>
              <a:t>Registration and payment are one flow, settled over ABA PayWay with a KHQR code. Confirmation arrives by webhook and by polling, so a participant is never left wondering whether their money landed.</a:t>
            </a:r>
            <a:endParaRPr lang="en-US" sz="1500" dirty="0"/>
          </a:p>
        </p:txBody>
      </p:sp>
      <p:sp>
        <p:nvSpPr>
          <p:cNvPr id="4" name="bullet-1-dot"/>
          <p:cNvSpPr/>
          <p:nvPr/>
        </p:nvSpPr>
        <p:spPr>
          <a:xfrm>
            <a:off x="731520" y="2194560"/>
            <a:ext cx="420624" cy="420624"/>
          </a:xfrm>
          <a:prstGeom prst="ellipse">
            <a:avLst/>
          </a:prstGeom>
          <a:solidFill>
            <a:srgbClr val="F96167"/>
          </a:solidFill>
          <a:ln w="12700">
            <a:solidFill>
              <a:srgbClr val="F96167"/>
            </a:solidFill>
            <a:prstDash val="solid"/>
          </a:ln>
        </p:spPr>
      </p:sp>
      <p:sp>
        <p:nvSpPr>
          <p:cNvPr id="5" name="bullet-1-num"/>
          <p:cNvSpPr txBox="1"/>
          <p:nvPr/>
        </p:nvSpPr>
        <p:spPr>
          <a:xfrm>
            <a:off x="731520" y="219456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bullet-1-label"/>
          <p:cNvSpPr txBox="1"/>
          <p:nvPr/>
        </p:nvSpPr>
        <p:spPr>
          <a:xfrm>
            <a:off x="1353312" y="2157984"/>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Two gateway paths, one source of truth</a:t>
            </a:r>
            <a:endParaRPr lang="en-US" sz="1500" dirty="0"/>
          </a:p>
        </p:txBody>
      </p:sp>
      <p:sp>
        <p:nvSpPr>
          <p:cNvPr id="7" name="bullet-1-body"/>
          <p:cNvSpPr txBox="1"/>
          <p:nvPr/>
        </p:nvSpPr>
        <p:spPr>
          <a:xfrm>
            <a:off x="1353312" y="2450592"/>
            <a:ext cx="9985248" cy="475488"/>
          </a:xfrm>
          <a:prstGeom prst="rect">
            <a:avLst/>
          </a:prstGeom>
          <a:noFill/>
          <a:ln/>
        </p:spPr>
        <p:txBody>
          <a:bodyPr wrap="square" lIns="0" tIns="0" rIns="0" bIns="0" rtlCol="0" anchor="ctr"/>
          <a:lstStyle/>
          <a:p>
            <a:pPr indent="0" marL="0">
              <a:buNone/>
            </a:pPr>
            <a:r>
              <a:rPr lang="en-US" sz="1250" dirty="0">
                <a:solidFill>
                  <a:srgbClr val="16213E"/>
                </a:solidFill>
              </a:rPr>
              <a:t>The ABA webhook and the polling endpoint both confirm payment, and both route through a single notifier — so the two can never tell the participant different things.</a:t>
            </a:r>
            <a:endParaRPr lang="en-US" sz="1250" dirty="0"/>
          </a:p>
        </p:txBody>
      </p:sp>
      <p:sp>
        <p:nvSpPr>
          <p:cNvPr id="8" name="bullet-2-dot"/>
          <p:cNvSpPr/>
          <p:nvPr/>
        </p:nvSpPr>
        <p:spPr>
          <a:xfrm>
            <a:off x="731520" y="3182112"/>
            <a:ext cx="420624" cy="420624"/>
          </a:xfrm>
          <a:prstGeom prst="ellipse">
            <a:avLst/>
          </a:prstGeom>
          <a:solidFill>
            <a:srgbClr val="F96167"/>
          </a:solidFill>
          <a:ln w="12700">
            <a:solidFill>
              <a:srgbClr val="F96167"/>
            </a:solidFill>
            <a:prstDash val="solid"/>
          </a:ln>
        </p:spPr>
      </p:sp>
      <p:sp>
        <p:nvSpPr>
          <p:cNvPr id="9" name="bullet-2-num"/>
          <p:cNvSpPr txBox="1"/>
          <p:nvPr/>
        </p:nvSpPr>
        <p:spPr>
          <a:xfrm>
            <a:off x="731520" y="3182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0" name="bullet-2-label"/>
          <p:cNvSpPr txBox="1"/>
          <p:nvPr/>
        </p:nvSpPr>
        <p:spPr>
          <a:xfrm>
            <a:off x="1353312" y="3145536"/>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Organizers can use their own merchant account</a:t>
            </a:r>
            <a:endParaRPr lang="en-US" sz="1500" dirty="0"/>
          </a:p>
        </p:txBody>
      </p:sp>
      <p:sp>
        <p:nvSpPr>
          <p:cNvPr id="11" name="bullet-2-body"/>
          <p:cNvSpPr txBox="1"/>
          <p:nvPr/>
        </p:nvSpPr>
        <p:spPr>
          <a:xfrm>
            <a:off x="1353312" y="3438144"/>
            <a:ext cx="9985248" cy="475488"/>
          </a:xfrm>
          <a:prstGeom prst="rect">
            <a:avLst/>
          </a:prstGeom>
          <a:noFill/>
          <a:ln/>
        </p:spPr>
        <p:txBody>
          <a:bodyPr wrap="square" lIns="0" tIns="0" rIns="0" bIns="0" rtlCol="0" anchor="ctr"/>
          <a:lstStyle/>
          <a:p>
            <a:pPr indent="0" marL="0">
              <a:buNone/>
            </a:pPr>
            <a:r>
              <a:rPr lang="en-US" sz="1250" dirty="0">
                <a:solidFill>
                  <a:srgbClr val="16213E"/>
                </a:solidFill>
              </a:rPr>
              <a:t>Per-organizer PayWay credentials are stored encrypted. Money can settle directly to the organizer rather than through Rally.</a:t>
            </a:r>
            <a:endParaRPr lang="en-US" sz="1250" dirty="0"/>
          </a:p>
        </p:txBody>
      </p:sp>
      <p:sp>
        <p:nvSpPr>
          <p:cNvPr id="12" name="bullet-3-dot"/>
          <p:cNvSpPr/>
          <p:nvPr/>
        </p:nvSpPr>
        <p:spPr>
          <a:xfrm>
            <a:off x="731520" y="4169664"/>
            <a:ext cx="420624" cy="420624"/>
          </a:xfrm>
          <a:prstGeom prst="ellipse">
            <a:avLst/>
          </a:prstGeom>
          <a:solidFill>
            <a:srgbClr val="F96167"/>
          </a:solidFill>
          <a:ln w="12700">
            <a:solidFill>
              <a:srgbClr val="F96167"/>
            </a:solidFill>
            <a:prstDash val="solid"/>
          </a:ln>
        </p:spPr>
      </p:sp>
      <p:sp>
        <p:nvSpPr>
          <p:cNvPr id="13" name="bullet-3-num"/>
          <p:cNvSpPr txBox="1"/>
          <p:nvPr/>
        </p:nvSpPr>
        <p:spPr>
          <a:xfrm>
            <a:off x="731520" y="4169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bullet-3-label"/>
          <p:cNvSpPr txBox="1"/>
          <p:nvPr/>
        </p:nvSpPr>
        <p:spPr>
          <a:xfrm>
            <a:off x="1353312" y="4133088"/>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Abandoned registrations release their seat</a:t>
            </a:r>
            <a:endParaRPr lang="en-US" sz="1500" dirty="0"/>
          </a:p>
        </p:txBody>
      </p:sp>
      <p:sp>
        <p:nvSpPr>
          <p:cNvPr id="15" name="bullet-3-body"/>
          <p:cNvSpPr txBox="1"/>
          <p:nvPr/>
        </p:nvSpPr>
        <p:spPr>
          <a:xfrm>
            <a:off x="1353312" y="4425696"/>
            <a:ext cx="9985248" cy="475488"/>
          </a:xfrm>
          <a:prstGeom prst="rect">
            <a:avLst/>
          </a:prstGeom>
          <a:noFill/>
          <a:ln/>
        </p:spPr>
        <p:txBody>
          <a:bodyPr wrap="square" lIns="0" tIns="0" rIns="0" bIns="0" rtlCol="0" anchor="ctr"/>
          <a:lstStyle/>
          <a:p>
            <a:pPr indent="0" marL="0">
              <a:buNone/>
            </a:pPr>
            <a:r>
              <a:rPr lang="en-US" sz="1250" dirty="0">
                <a:solidFill>
                  <a:srgbClr val="16213E"/>
                </a:solidFill>
              </a:rPr>
              <a:t>An unpaid entry holds a real place. An hourly sweep frees it after an hour's grace, re-checked under a row lock so a late webhook cannot cancel a paid entry.</a:t>
            </a:r>
            <a:endParaRPr lang="en-US" sz="1250" dirty="0"/>
          </a:p>
        </p:txBody>
      </p:sp>
      <p:sp>
        <p:nvSpPr>
          <p:cNvPr id="16" name="bullet-4-dot"/>
          <p:cNvSpPr/>
          <p:nvPr/>
        </p:nvSpPr>
        <p:spPr>
          <a:xfrm>
            <a:off x="731520" y="5157216"/>
            <a:ext cx="420624" cy="420624"/>
          </a:xfrm>
          <a:prstGeom prst="ellipse">
            <a:avLst/>
          </a:prstGeom>
          <a:solidFill>
            <a:srgbClr val="F96167"/>
          </a:solidFill>
          <a:ln w="12700">
            <a:solidFill>
              <a:srgbClr val="F96167"/>
            </a:solidFill>
            <a:prstDash val="solid"/>
          </a:ln>
        </p:spPr>
      </p:sp>
      <p:sp>
        <p:nvSpPr>
          <p:cNvPr id="17" name="bullet-4-num"/>
          <p:cNvSpPr txBox="1"/>
          <p:nvPr/>
        </p:nvSpPr>
        <p:spPr>
          <a:xfrm>
            <a:off x="731520" y="51572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8" name="bullet-4-label"/>
          <p:cNvSpPr txBox="1"/>
          <p:nvPr/>
        </p:nvSpPr>
        <p:spPr>
          <a:xfrm>
            <a:off x="1353312" y="5120640"/>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Refunds are first-class</a:t>
            </a:r>
            <a:endParaRPr lang="en-US" sz="1500" dirty="0"/>
          </a:p>
        </p:txBody>
      </p:sp>
      <p:sp>
        <p:nvSpPr>
          <p:cNvPr id="19" name="bullet-4-body"/>
          <p:cNvSpPr txBox="1"/>
          <p:nvPr/>
        </p:nvSpPr>
        <p:spPr>
          <a:xfrm>
            <a:off x="1353312" y="5413248"/>
            <a:ext cx="9985248" cy="475488"/>
          </a:xfrm>
          <a:prstGeom prst="rect">
            <a:avLst/>
          </a:prstGeom>
          <a:noFill/>
          <a:ln/>
        </p:spPr>
        <p:txBody>
          <a:bodyPr wrap="square" lIns="0" tIns="0" rIns="0" bIns="0" rtlCol="0" anchor="ctr"/>
          <a:lstStyle/>
          <a:p>
            <a:pPr indent="0" marL="0">
              <a:buNone/>
            </a:pPr>
            <a:r>
              <a:rPr lang="en-US" sz="1250" dirty="0">
                <a:solidFill>
                  <a:srgbClr val="16213E"/>
                </a:solidFill>
              </a:rPr>
              <a:t>Partial and full refunds, recorded against the payment, with the refund policy snapshotted at registration time.</a:t>
            </a:r>
            <a:endParaRPr lang="en-US" sz="1250" dirty="0"/>
          </a:p>
        </p:txBody>
      </p:sp>
      <p:sp>
        <p:nvSpPr>
          <p:cNvPr id="21" name="Text 1"/>
          <p:cNvSpPr/>
          <p:nvPr>
            <p:ph idx="102" hasCustomPrompt="1"/>
          </p:nvPr>
        </p:nvSpPr>
        <p:spPr>
          <a:xfrm>
            <a:off x="1124712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rgbClr val="2F3C7E"/>
                </a:solidFill>
              </a:rPr>
              <a:t>Sold out is a state, not a dead end</a:t>
            </a:r>
            <a:endParaRPr lang="en-US" sz="3200" dirty="0"/>
          </a:p>
        </p:txBody>
      </p:sp>
      <p:sp>
        <p:nvSpPr>
          <p:cNvPr id="3" name="Text 1"/>
          <p:cNvSpPr txBox="1"/>
          <p:nvPr/>
        </p:nvSpPr>
        <p:spPr>
          <a:xfrm>
            <a:off x="640080" y="1280160"/>
            <a:ext cx="10881360" cy="548640"/>
          </a:xfrm>
          <a:prstGeom prst="rect">
            <a:avLst/>
          </a:prstGeom>
          <a:noFill/>
          <a:ln/>
        </p:spPr>
        <p:txBody>
          <a:bodyPr wrap="square" lIns="0" tIns="0" rIns="0" bIns="0" rtlCol="0" anchor="ctr"/>
          <a:lstStyle/>
          <a:p>
            <a:pPr indent="0" marL="0">
              <a:buNone/>
            </a:pPr>
            <a:r>
              <a:rPr lang="en-US" sz="1500" dirty="0">
                <a:solidFill>
                  <a:srgbClr val="16213E"/>
                </a:solidFill>
              </a:rPr>
              <a:t>Capacity, closing and the waitlist are three separate decisions, because they mean three different things to the person trying to enter.</a:t>
            </a:r>
            <a:endParaRPr lang="en-US" sz="1500" dirty="0"/>
          </a:p>
        </p:txBody>
      </p:sp>
      <p:sp>
        <p:nvSpPr>
          <p:cNvPr id="4" name="cap-full-card"/>
          <p:cNvSpPr/>
          <p:nvPr/>
        </p:nvSpPr>
        <p:spPr>
          <a:xfrm>
            <a:off x="640080" y="1965960"/>
            <a:ext cx="3520440" cy="2651760"/>
          </a:xfrm>
          <a:prstGeom prst="roundRect">
            <a:avLst>
              <a:gd name="adj" fmla="val 2069"/>
            </a:avLst>
          </a:prstGeom>
          <a:solidFill>
            <a:srgbClr val="F2F4FA"/>
          </a:solidFill>
          <a:ln w="12700">
            <a:solidFill>
              <a:srgbClr val="F2F4FA"/>
            </a:solidFill>
            <a:prstDash val="solid"/>
          </a:ln>
          <a:effectLst>
            <a:outerShdw sx="100000" sy="100000" kx="0" ky="0" algn="bl" rotWithShape="0" blurRad="76200" dist="12700" dir="5400000">
              <a:srgbClr val="16213E">
                <a:alpha val="10000"/>
              </a:srgbClr>
            </a:outerShdw>
          </a:effectLst>
        </p:spPr>
      </p:sp>
      <p:sp>
        <p:nvSpPr>
          <p:cNvPr id="5" name="cap-full-h"/>
          <p:cNvSpPr txBox="1"/>
          <p:nvPr/>
        </p:nvSpPr>
        <p:spPr>
          <a:xfrm>
            <a:off x="877824" y="2148840"/>
            <a:ext cx="3044952" cy="365760"/>
          </a:xfrm>
          <a:prstGeom prst="rect">
            <a:avLst/>
          </a:prstGeom>
          <a:noFill/>
          <a:ln/>
        </p:spPr>
        <p:txBody>
          <a:bodyPr wrap="square" lIns="0" tIns="0" rIns="0" bIns="0" rtlCol="0" anchor="t"/>
          <a:lstStyle/>
          <a:p>
            <a:pPr indent="0" marL="0">
              <a:buNone/>
            </a:pPr>
            <a:r>
              <a:rPr lang="en-US" sz="1500" b="1" dirty="0">
                <a:solidFill>
                  <a:srgbClr val="2F3C7E"/>
                </a:solidFill>
              </a:rPr>
              <a:t>Full</a:t>
            </a:r>
            <a:endParaRPr lang="en-US" sz="1500" dirty="0"/>
          </a:p>
        </p:txBody>
      </p:sp>
      <p:sp>
        <p:nvSpPr>
          <p:cNvPr id="6" name="cap-full-b"/>
          <p:cNvSpPr txBox="1"/>
          <p:nvPr/>
        </p:nvSpPr>
        <p:spPr>
          <a:xfrm>
            <a:off x="877824" y="2569464"/>
            <a:ext cx="3044952" cy="18288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13E"/>
                </a:solidFill>
              </a:rPr>
              <a:t>Every place taken</a:t>
            </a:r>
            <a:endParaRPr lang="en-US" sz="1200" dirty="0"/>
          </a:p>
          <a:p>
            <a:pPr marL="342900" indent="-342900">
              <a:spcAft>
                <a:spcPts val="500"/>
              </a:spcAft>
              <a:buSzPct val="100000"/>
              <a:buChar char="•"/>
            </a:pPr>
            <a:r>
              <a:rPr lang="en-US" sz="1200" dirty="0">
                <a:solidFill>
                  <a:srgbClr val="16213E"/>
                </a:solidFill>
              </a:rPr>
              <a:t>Offers the waitlist</a:t>
            </a:r>
            <a:endParaRPr lang="en-US" sz="1200" dirty="0"/>
          </a:p>
          <a:p>
            <a:pPr marL="342900" indent="-342900">
              <a:spcAft>
                <a:spcPts val="500"/>
              </a:spcAft>
              <a:buSzPct val="100000"/>
              <a:buChar char="•"/>
            </a:pPr>
            <a:r>
              <a:rPr lang="en-US" sz="1200" dirty="0">
                <a:solidFill>
                  <a:srgbClr val="16213E"/>
                </a:solidFill>
              </a:rPr>
              <a:t>Freed places promote the next person automatically</a:t>
            </a:r>
            <a:endParaRPr lang="en-US" sz="1200" dirty="0"/>
          </a:p>
        </p:txBody>
      </p:sp>
      <p:sp>
        <p:nvSpPr>
          <p:cNvPr id="7" name="cap-closed-card"/>
          <p:cNvSpPr/>
          <p:nvPr/>
        </p:nvSpPr>
        <p:spPr>
          <a:xfrm>
            <a:off x="4434840" y="1965960"/>
            <a:ext cx="3520440" cy="2651760"/>
          </a:xfrm>
          <a:prstGeom prst="roundRect">
            <a:avLst>
              <a:gd name="adj" fmla="val 2069"/>
            </a:avLst>
          </a:prstGeom>
          <a:solidFill>
            <a:srgbClr val="F2F4FA"/>
          </a:solidFill>
          <a:ln w="12700">
            <a:solidFill>
              <a:srgbClr val="F2F4FA"/>
            </a:solidFill>
            <a:prstDash val="solid"/>
          </a:ln>
          <a:effectLst>
            <a:outerShdw sx="100000" sy="100000" kx="0" ky="0" algn="bl" rotWithShape="0" blurRad="76200" dist="12700" dir="5400000">
              <a:srgbClr val="16213E">
                <a:alpha val="10000"/>
              </a:srgbClr>
            </a:outerShdw>
          </a:effectLst>
        </p:spPr>
      </p:sp>
      <p:sp>
        <p:nvSpPr>
          <p:cNvPr id="8" name="cap-closed-h"/>
          <p:cNvSpPr txBox="1"/>
          <p:nvPr/>
        </p:nvSpPr>
        <p:spPr>
          <a:xfrm>
            <a:off x="4672584" y="2148840"/>
            <a:ext cx="3044952" cy="365760"/>
          </a:xfrm>
          <a:prstGeom prst="rect">
            <a:avLst/>
          </a:prstGeom>
          <a:noFill/>
          <a:ln/>
        </p:spPr>
        <p:txBody>
          <a:bodyPr wrap="square" lIns="0" tIns="0" rIns="0" bIns="0" rtlCol="0" anchor="t"/>
          <a:lstStyle/>
          <a:p>
            <a:pPr indent="0" marL="0">
              <a:buNone/>
            </a:pPr>
            <a:r>
              <a:rPr lang="en-US" sz="1500" b="1" dirty="0">
                <a:solidFill>
                  <a:srgbClr val="2F3C7E"/>
                </a:solidFill>
              </a:rPr>
              <a:t>Closed by the organizer</a:t>
            </a:r>
            <a:endParaRPr lang="en-US" sz="1500" dirty="0"/>
          </a:p>
        </p:txBody>
      </p:sp>
      <p:sp>
        <p:nvSpPr>
          <p:cNvPr id="9" name="cap-closed-b"/>
          <p:cNvSpPr txBox="1"/>
          <p:nvPr/>
        </p:nvSpPr>
        <p:spPr>
          <a:xfrm>
            <a:off x="4672584" y="2569464"/>
            <a:ext cx="3044952" cy="18288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13E"/>
                </a:solidFill>
              </a:rPr>
              <a:t>Bibs printed, catering confirmed, permit headcount fixed</a:t>
            </a:r>
            <a:endParaRPr lang="en-US" sz="1200" dirty="0"/>
          </a:p>
          <a:p>
            <a:pPr marL="342900" indent="-342900">
              <a:spcAft>
                <a:spcPts val="500"/>
              </a:spcAft>
              <a:buSzPct val="100000"/>
              <a:buChar char="•"/>
            </a:pPr>
            <a:r>
              <a:rPr lang="en-US" sz="1200" dirty="0">
                <a:solidFill>
                  <a:srgbClr val="16213E"/>
                </a:solidFill>
              </a:rPr>
              <a:t>May still have hundreds of free places</a:t>
            </a:r>
            <a:endParaRPr lang="en-US" sz="1200" dirty="0"/>
          </a:p>
          <a:p>
            <a:pPr marL="342900" indent="-342900">
              <a:spcAft>
                <a:spcPts val="500"/>
              </a:spcAft>
              <a:buSzPct val="100000"/>
              <a:buChar char="•"/>
            </a:pPr>
            <a:r>
              <a:rPr lang="en-US" sz="1200" dirty="0">
                <a:solidFill>
                  <a:srgbClr val="16213E"/>
                </a:solidFill>
              </a:rPr>
              <a:t>Offers nothing — and says so plainly</a:t>
            </a:r>
            <a:endParaRPr lang="en-US" sz="1200" dirty="0"/>
          </a:p>
        </p:txBody>
      </p:sp>
      <p:sp>
        <p:nvSpPr>
          <p:cNvPr id="10" name="cap-deadline-card"/>
          <p:cNvSpPr/>
          <p:nvPr/>
        </p:nvSpPr>
        <p:spPr>
          <a:xfrm>
            <a:off x="8229600" y="1965960"/>
            <a:ext cx="3291840" cy="2651760"/>
          </a:xfrm>
          <a:prstGeom prst="roundRect">
            <a:avLst>
              <a:gd name="adj" fmla="val 2069"/>
            </a:avLst>
          </a:prstGeom>
          <a:solidFill>
            <a:srgbClr val="F2F4FA"/>
          </a:solidFill>
          <a:ln w="12700">
            <a:solidFill>
              <a:srgbClr val="F2F4FA"/>
            </a:solidFill>
            <a:prstDash val="solid"/>
          </a:ln>
          <a:effectLst>
            <a:outerShdw sx="100000" sy="100000" kx="0" ky="0" algn="bl" rotWithShape="0" blurRad="76200" dist="12700" dir="5400000">
              <a:srgbClr val="16213E">
                <a:alpha val="10000"/>
              </a:srgbClr>
            </a:outerShdw>
          </a:effectLst>
        </p:spPr>
      </p:sp>
      <p:sp>
        <p:nvSpPr>
          <p:cNvPr id="11" name="cap-deadline-h"/>
          <p:cNvSpPr txBox="1"/>
          <p:nvPr/>
        </p:nvSpPr>
        <p:spPr>
          <a:xfrm>
            <a:off x="8467344" y="2148840"/>
            <a:ext cx="2816352" cy="365760"/>
          </a:xfrm>
          <a:prstGeom prst="rect">
            <a:avLst/>
          </a:prstGeom>
          <a:noFill/>
          <a:ln/>
        </p:spPr>
        <p:txBody>
          <a:bodyPr wrap="square" lIns="0" tIns="0" rIns="0" bIns="0" rtlCol="0" anchor="t"/>
          <a:lstStyle/>
          <a:p>
            <a:pPr indent="0" marL="0">
              <a:buNone/>
            </a:pPr>
            <a:r>
              <a:rPr lang="en-US" sz="1500" b="1" dirty="0">
                <a:solidFill>
                  <a:srgbClr val="2F3C7E"/>
                </a:solidFill>
              </a:rPr>
              <a:t>Past its deadline</a:t>
            </a:r>
            <a:endParaRPr lang="en-US" sz="1500" dirty="0"/>
          </a:p>
        </p:txBody>
      </p:sp>
      <p:sp>
        <p:nvSpPr>
          <p:cNvPr id="12" name="cap-deadline-b"/>
          <p:cNvSpPr txBox="1"/>
          <p:nvPr/>
        </p:nvSpPr>
        <p:spPr>
          <a:xfrm>
            <a:off x="8467344" y="2569464"/>
            <a:ext cx="2816352" cy="18288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13E"/>
                </a:solidFill>
              </a:rPr>
              <a:t>An announced closing time</a:t>
            </a:r>
            <a:endParaRPr lang="en-US" sz="1200" dirty="0"/>
          </a:p>
          <a:p>
            <a:pPr marL="342900" indent="-342900">
              <a:spcAft>
                <a:spcPts val="500"/>
              </a:spcAft>
              <a:buSzPct val="100000"/>
              <a:buChar char="•"/>
            </a:pPr>
            <a:r>
              <a:rPr lang="en-US" sz="1200" dirty="0">
                <a:solidFill>
                  <a:srgbClr val="16213E"/>
                </a:solidFill>
              </a:rPr>
              <a:t>Evaluated, never stored as a flag</a:t>
            </a:r>
            <a:endParaRPr lang="en-US" sz="1200" dirty="0"/>
          </a:p>
          <a:p>
            <a:pPr marL="342900" indent="-342900">
              <a:spcAft>
                <a:spcPts val="500"/>
              </a:spcAft>
              <a:buSzPct val="100000"/>
              <a:buChar char="•"/>
            </a:pPr>
            <a:r>
              <a:rPr lang="en-US" sz="1200" dirty="0">
                <a:solidFill>
                  <a:srgbClr val="16213E"/>
                </a:solidFill>
              </a:rPr>
              <a:t>Reopening clears both the flag and the deadline</a:t>
            </a:r>
            <a:endParaRPr lang="en-US" sz="1200" dirty="0"/>
          </a:p>
        </p:txBody>
      </p:sp>
      <p:sp>
        <p:nvSpPr>
          <p:cNvPr id="13" name="Text 11"/>
          <p:cNvSpPr txBox="1"/>
          <p:nvPr/>
        </p:nvSpPr>
        <p:spPr>
          <a:xfrm>
            <a:off x="640080" y="4892040"/>
            <a:ext cx="10881360" cy="594360"/>
          </a:xfrm>
          <a:prstGeom prst="rect">
            <a:avLst/>
          </a:prstGeom>
          <a:noFill/>
          <a:ln/>
        </p:spPr>
        <p:txBody>
          <a:bodyPr wrap="square" lIns="0" tIns="0" rIns="0" bIns="0" rtlCol="0" anchor="ctr"/>
          <a:lstStyle/>
          <a:p>
            <a:pPr indent="0" marL="0">
              <a:buNone/>
            </a:pPr>
            <a:r>
              <a:rPr lang="en-US" sz="1300" i="1" dirty="0">
                <a:solidFill>
                  <a:srgbClr val="5A6BA8"/>
                </a:solidFill>
              </a:rPr>
              <a:t>Closing an event also ends its waitlist and tells every person on it once — a freed place on a closed event stays empty, because the organizer has already counted the field.</a:t>
            </a:r>
            <a:endParaRPr lang="en-US" sz="1300" dirty="0"/>
          </a:p>
        </p:txBody>
      </p:sp>
      <p:sp>
        <p:nvSpPr>
          <p:cNvPr id="15" name="Text 1"/>
          <p:cNvSpPr/>
          <p:nvPr>
            <p:ph idx="102" hasCustomPrompt="1"/>
          </p:nvPr>
        </p:nvSpPr>
        <p:spPr>
          <a:xfrm>
            <a:off x="1124712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rgbClr val="2F3C7E"/>
                </a:solidFill>
              </a:rPr>
              <a:t>Race day and the week after</a:t>
            </a:r>
            <a:endParaRPr lang="en-US" sz="3200" dirty="0"/>
          </a:p>
        </p:txBody>
      </p:sp>
      <p:sp>
        <p:nvSpPr>
          <p:cNvPr id="3" name="Text 1"/>
          <p:cNvSpPr txBox="1"/>
          <p:nvPr/>
        </p:nvSpPr>
        <p:spPr>
          <a:xfrm>
            <a:off x="640080" y="1280160"/>
            <a:ext cx="10881360" cy="502920"/>
          </a:xfrm>
          <a:prstGeom prst="rect">
            <a:avLst/>
          </a:prstGeom>
          <a:noFill/>
          <a:ln/>
        </p:spPr>
        <p:txBody>
          <a:bodyPr wrap="square" lIns="0" tIns="0" rIns="0" bIns="0" rtlCol="0" anchor="ctr"/>
          <a:lstStyle/>
          <a:p>
            <a:pPr indent="0" marL="0">
              <a:buNone/>
            </a:pPr>
            <a:r>
              <a:rPr lang="en-US" sz="1500" dirty="0">
                <a:solidFill>
                  <a:srgbClr val="16213E"/>
                </a:solidFill>
              </a:rPr>
              <a:t>The part most registration tools leave to spreadsheets. This is where organizer switching costs come from.</a:t>
            </a:r>
            <a:endParaRPr lang="en-US" sz="1500" dirty="0"/>
          </a:p>
        </p:txBody>
      </p:sp>
      <p:sp>
        <p:nvSpPr>
          <p:cNvPr id="4" name="bullet-1-dot"/>
          <p:cNvSpPr/>
          <p:nvPr/>
        </p:nvSpPr>
        <p:spPr>
          <a:xfrm>
            <a:off x="731520" y="2057400"/>
            <a:ext cx="420624" cy="420624"/>
          </a:xfrm>
          <a:prstGeom prst="ellipse">
            <a:avLst/>
          </a:prstGeom>
          <a:solidFill>
            <a:srgbClr val="F96167"/>
          </a:solidFill>
          <a:ln w="12700">
            <a:solidFill>
              <a:srgbClr val="F96167"/>
            </a:solidFill>
            <a:prstDash val="solid"/>
          </a:ln>
        </p:spPr>
      </p:sp>
      <p:sp>
        <p:nvSpPr>
          <p:cNvPr id="5" name="bullet-1-num"/>
          <p:cNvSpPr txBox="1"/>
          <p:nvPr/>
        </p:nvSpPr>
        <p:spPr>
          <a:xfrm>
            <a:off x="731520" y="20574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bullet-1-label"/>
          <p:cNvSpPr txBox="1"/>
          <p:nvPr/>
        </p:nvSpPr>
        <p:spPr>
          <a:xfrm>
            <a:off x="1353312" y="2020824"/>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Check-in by QR, with its own staff role</a:t>
            </a:r>
            <a:endParaRPr lang="en-US" sz="1500" dirty="0"/>
          </a:p>
        </p:txBody>
      </p:sp>
      <p:sp>
        <p:nvSpPr>
          <p:cNvPr id="7" name="bullet-1-body"/>
          <p:cNvSpPr txBox="1"/>
          <p:nvPr/>
        </p:nvSpPr>
        <p:spPr>
          <a:xfrm>
            <a:off x="1353312" y="2313432"/>
            <a:ext cx="9985248" cy="475488"/>
          </a:xfrm>
          <a:prstGeom prst="rect">
            <a:avLst/>
          </a:prstGeom>
          <a:noFill/>
          <a:ln/>
        </p:spPr>
        <p:txBody>
          <a:bodyPr wrap="square" lIns="0" tIns="0" rIns="0" bIns="0" rtlCol="0" anchor="ctr"/>
          <a:lstStyle/>
          <a:p>
            <a:pPr indent="0" marL="0">
              <a:buNone/>
            </a:pPr>
            <a:r>
              <a:rPr lang="en-US" sz="1250" dirty="0">
                <a:solidFill>
                  <a:srgbClr val="16213E"/>
                </a:solidFill>
              </a:rPr>
              <a:t>A dedicated check-in role sees exactly the participant list and the check-in screen, and nothing else in the dashboard.</a:t>
            </a:r>
            <a:endParaRPr lang="en-US" sz="1250" dirty="0"/>
          </a:p>
        </p:txBody>
      </p:sp>
      <p:sp>
        <p:nvSpPr>
          <p:cNvPr id="8" name="bullet-2-dot"/>
          <p:cNvSpPr/>
          <p:nvPr/>
        </p:nvSpPr>
        <p:spPr>
          <a:xfrm>
            <a:off x="731520" y="3044952"/>
            <a:ext cx="420624" cy="420624"/>
          </a:xfrm>
          <a:prstGeom prst="ellipse">
            <a:avLst/>
          </a:prstGeom>
          <a:solidFill>
            <a:srgbClr val="F96167"/>
          </a:solidFill>
          <a:ln w="12700">
            <a:solidFill>
              <a:srgbClr val="F96167"/>
            </a:solidFill>
            <a:prstDash val="solid"/>
          </a:ln>
        </p:spPr>
      </p:sp>
      <p:sp>
        <p:nvSpPr>
          <p:cNvPr id="9" name="bullet-2-num"/>
          <p:cNvSpPr txBox="1"/>
          <p:nvPr/>
        </p:nvSpPr>
        <p:spPr>
          <a:xfrm>
            <a:off x="731520" y="304495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0" name="bullet-2-label"/>
          <p:cNvSpPr txBox="1"/>
          <p:nvPr/>
        </p:nvSpPr>
        <p:spPr>
          <a:xfrm>
            <a:off x="1353312" y="3008376"/>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Bib numbers as the organizer writes them</a:t>
            </a:r>
            <a:endParaRPr lang="en-US" sz="1500" dirty="0"/>
          </a:p>
        </p:txBody>
      </p:sp>
      <p:sp>
        <p:nvSpPr>
          <p:cNvPr id="11" name="bullet-2-body"/>
          <p:cNvSpPr txBox="1"/>
          <p:nvPr/>
        </p:nvSpPr>
        <p:spPr>
          <a:xfrm>
            <a:off x="1353312" y="3300984"/>
            <a:ext cx="9985248" cy="475488"/>
          </a:xfrm>
          <a:prstGeom prst="rect">
            <a:avLst/>
          </a:prstGeom>
          <a:noFill/>
          <a:ln/>
        </p:spPr>
        <p:txBody>
          <a:bodyPr wrap="square" lIns="0" tIns="0" rIns="0" bIns="0" rtlCol="0" anchor="ctr"/>
          <a:lstStyle/>
          <a:p>
            <a:pPr indent="0" marL="0">
              <a:buNone/>
            </a:pPr>
            <a:r>
              <a:rPr lang="en-US" sz="1250" dirty="0">
                <a:solidFill>
                  <a:srgbClr val="16213E"/>
                </a:solidFill>
              </a:rPr>
              <a:t>Stored as text — “A1042”, “10K-233”, “0007” with its leading zeros — and unique within the event.</a:t>
            </a:r>
            <a:endParaRPr lang="en-US" sz="1250" dirty="0"/>
          </a:p>
        </p:txBody>
      </p:sp>
      <p:sp>
        <p:nvSpPr>
          <p:cNvPr id="12" name="bullet-3-dot"/>
          <p:cNvSpPr/>
          <p:nvPr/>
        </p:nvSpPr>
        <p:spPr>
          <a:xfrm>
            <a:off x="731520" y="4032504"/>
            <a:ext cx="420624" cy="420624"/>
          </a:xfrm>
          <a:prstGeom prst="ellipse">
            <a:avLst/>
          </a:prstGeom>
          <a:solidFill>
            <a:srgbClr val="F96167"/>
          </a:solidFill>
          <a:ln w="12700">
            <a:solidFill>
              <a:srgbClr val="F96167"/>
            </a:solidFill>
            <a:prstDash val="solid"/>
          </a:ln>
        </p:spPr>
      </p:sp>
      <p:sp>
        <p:nvSpPr>
          <p:cNvPr id="13" name="bullet-3-num"/>
          <p:cNvSpPr txBox="1"/>
          <p:nvPr/>
        </p:nvSpPr>
        <p:spPr>
          <a:xfrm>
            <a:off x="731520" y="40325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bullet-3-label"/>
          <p:cNvSpPr txBox="1"/>
          <p:nvPr/>
        </p:nvSpPr>
        <p:spPr>
          <a:xfrm>
            <a:off x="1353312" y="3995928"/>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Results imported from the timing system</a:t>
            </a:r>
            <a:endParaRPr lang="en-US" sz="1500" dirty="0"/>
          </a:p>
        </p:txBody>
      </p:sp>
      <p:sp>
        <p:nvSpPr>
          <p:cNvPr id="15" name="bullet-3-body"/>
          <p:cNvSpPr txBox="1"/>
          <p:nvPr/>
        </p:nvSpPr>
        <p:spPr>
          <a:xfrm>
            <a:off x="1353312" y="4288536"/>
            <a:ext cx="9985248" cy="475488"/>
          </a:xfrm>
          <a:prstGeom prst="rect">
            <a:avLst/>
          </a:prstGeom>
          <a:noFill/>
          <a:ln/>
        </p:spPr>
        <p:txBody>
          <a:bodyPr wrap="square" lIns="0" tIns="0" rIns="0" bIns="0" rtlCol="0" anchor="ctr"/>
          <a:lstStyle/>
          <a:p>
            <a:pPr indent="0" marL="0">
              <a:buNone/>
            </a:pPr>
            <a:r>
              <a:rPr lang="en-US" sz="1250" dirty="0">
                <a:solidFill>
                  <a:srgbClr val="16213E"/>
                </a:solidFill>
              </a:rPr>
              <a:t>CSV matched on bib first and email second, because no chip-timing exporter emits entrant emails. Export, fill in times, re-import.</a:t>
            </a:r>
            <a:endParaRPr lang="en-US" sz="1250" dirty="0"/>
          </a:p>
        </p:txBody>
      </p:sp>
      <p:sp>
        <p:nvSpPr>
          <p:cNvPr id="16" name="bullet-4-dot"/>
          <p:cNvSpPr/>
          <p:nvPr/>
        </p:nvSpPr>
        <p:spPr>
          <a:xfrm>
            <a:off x="731520" y="5020056"/>
            <a:ext cx="420624" cy="420624"/>
          </a:xfrm>
          <a:prstGeom prst="ellipse">
            <a:avLst/>
          </a:prstGeom>
          <a:solidFill>
            <a:srgbClr val="F96167"/>
          </a:solidFill>
          <a:ln w="12700">
            <a:solidFill>
              <a:srgbClr val="F96167"/>
            </a:solidFill>
            <a:prstDash val="solid"/>
          </a:ln>
        </p:spPr>
      </p:sp>
      <p:sp>
        <p:nvSpPr>
          <p:cNvPr id="17" name="bullet-4-num"/>
          <p:cNvSpPr txBox="1"/>
          <p:nvPr/>
        </p:nvSpPr>
        <p:spPr>
          <a:xfrm>
            <a:off x="731520" y="5020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8" name="bullet-4-label"/>
          <p:cNvSpPr txBox="1"/>
          <p:nvPr/>
        </p:nvSpPr>
        <p:spPr>
          <a:xfrm>
            <a:off x="1353312" y="4983480"/>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Certificates generated from the organizer's own template</a:t>
            </a:r>
            <a:endParaRPr lang="en-US" sz="1500" dirty="0"/>
          </a:p>
        </p:txBody>
      </p:sp>
      <p:sp>
        <p:nvSpPr>
          <p:cNvPr id="19" name="bullet-4-body"/>
          <p:cNvSpPr txBox="1"/>
          <p:nvPr/>
        </p:nvSpPr>
        <p:spPr>
          <a:xfrm>
            <a:off x="1353312" y="5276088"/>
            <a:ext cx="9985248" cy="475488"/>
          </a:xfrm>
          <a:prstGeom prst="rect">
            <a:avLst/>
          </a:prstGeom>
          <a:noFill/>
          <a:ln/>
        </p:spPr>
        <p:txBody>
          <a:bodyPr wrap="square" lIns="0" tIns="0" rIns="0" bIns="0" rtlCol="0" anchor="ctr"/>
          <a:lstStyle/>
          <a:p>
            <a:pPr indent="0" marL="0">
              <a:buNone/>
            </a:pPr>
            <a:r>
              <a:rPr lang="en-US" sz="1250" dirty="0">
                <a:solidFill>
                  <a:srgbClr val="16213E"/>
                </a:solidFill>
              </a:rPr>
              <a:t>Upload a document, Rally substitutes name, event, date and place and renders a PDF per finisher.</a:t>
            </a:r>
            <a:endParaRPr lang="en-US" sz="1250" dirty="0"/>
          </a:p>
        </p:txBody>
      </p:sp>
      <p:sp>
        <p:nvSpPr>
          <p:cNvPr id="21" name="Text 1"/>
          <p:cNvSpPr/>
          <p:nvPr>
            <p:ph idx="102" hasCustomPrompt="1"/>
          </p:nvPr>
        </p:nvSpPr>
        <p:spPr>
          <a:xfrm>
            <a:off x="1124712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rgbClr val="2F3C7E"/>
                </a:solidFill>
              </a:rPr>
              <a:t>Eleven notification kinds across three channels</a:t>
            </a:r>
            <a:endParaRPr lang="en-US" sz="3200" dirty="0"/>
          </a:p>
        </p:txBody>
      </p:sp>
      <p:sp>
        <p:nvSpPr>
          <p:cNvPr id="3" name="Text 1"/>
          <p:cNvSpPr txBox="1"/>
          <p:nvPr/>
        </p:nvSpPr>
        <p:spPr>
          <a:xfrm>
            <a:off x="640080" y="1280160"/>
            <a:ext cx="10881360" cy="502920"/>
          </a:xfrm>
          <a:prstGeom prst="rect">
            <a:avLst/>
          </a:prstGeom>
          <a:noFill/>
          <a:ln/>
        </p:spPr>
        <p:txBody>
          <a:bodyPr wrap="square" lIns="0" tIns="0" rIns="0" bIns="0" rtlCol="0" anchor="ctr"/>
          <a:lstStyle/>
          <a:p>
            <a:pPr indent="0" marL="0">
              <a:buNone/>
            </a:pPr>
            <a:r>
              <a:rPr lang="en-US" sz="1500" dirty="0">
                <a:solidFill>
                  <a:srgbClr val="16213E"/>
                </a:solidFill>
              </a:rPr>
              <a:t>In-app, web push and email — each with a deliberate rule about when it is allowed to interrupt someone.</a:t>
            </a:r>
            <a:endParaRPr lang="en-US" sz="1500" dirty="0"/>
          </a:p>
        </p:txBody>
      </p:sp>
      <p:sp>
        <p:nvSpPr>
          <p:cNvPr id="4" name="notif-inapp-card"/>
          <p:cNvSpPr/>
          <p:nvPr/>
        </p:nvSpPr>
        <p:spPr>
          <a:xfrm>
            <a:off x="640080" y="1920240"/>
            <a:ext cx="3520440" cy="2377440"/>
          </a:xfrm>
          <a:prstGeom prst="roundRect">
            <a:avLst>
              <a:gd name="adj" fmla="val 2308"/>
            </a:avLst>
          </a:prstGeom>
          <a:solidFill>
            <a:srgbClr val="F2F4FA"/>
          </a:solidFill>
          <a:ln w="12700">
            <a:solidFill>
              <a:srgbClr val="F2F4FA"/>
            </a:solidFill>
            <a:prstDash val="solid"/>
          </a:ln>
          <a:effectLst>
            <a:outerShdw sx="100000" sy="100000" kx="0" ky="0" algn="bl" rotWithShape="0" blurRad="76200" dist="12700" dir="5400000">
              <a:srgbClr val="16213E">
                <a:alpha val="10000"/>
              </a:srgbClr>
            </a:outerShdw>
          </a:effectLst>
        </p:spPr>
      </p:sp>
      <p:sp>
        <p:nvSpPr>
          <p:cNvPr id="5" name="notif-inapp-h"/>
          <p:cNvSpPr txBox="1"/>
          <p:nvPr/>
        </p:nvSpPr>
        <p:spPr>
          <a:xfrm>
            <a:off x="877824" y="2103120"/>
            <a:ext cx="3044952" cy="365760"/>
          </a:xfrm>
          <a:prstGeom prst="rect">
            <a:avLst/>
          </a:prstGeom>
          <a:noFill/>
          <a:ln/>
        </p:spPr>
        <p:txBody>
          <a:bodyPr wrap="square" lIns="0" tIns="0" rIns="0" bIns="0" rtlCol="0" anchor="t"/>
          <a:lstStyle/>
          <a:p>
            <a:pPr indent="0" marL="0">
              <a:buNone/>
            </a:pPr>
            <a:r>
              <a:rPr lang="en-US" sz="1500" b="1" dirty="0">
                <a:solidFill>
                  <a:srgbClr val="2F3C7E"/>
                </a:solidFill>
              </a:rPr>
              <a:t>In-app bell</a:t>
            </a:r>
            <a:endParaRPr lang="en-US" sz="1500" dirty="0"/>
          </a:p>
        </p:txBody>
      </p:sp>
      <p:sp>
        <p:nvSpPr>
          <p:cNvPr id="6" name="notif-inapp-b"/>
          <p:cNvSpPr txBox="1"/>
          <p:nvPr/>
        </p:nvSpPr>
        <p:spPr>
          <a:xfrm>
            <a:off x="877824" y="2523744"/>
            <a:ext cx="3044952" cy="15544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13E"/>
                </a:solidFill>
              </a:rPr>
              <a:t>Always written, never suppressed</a:t>
            </a:r>
            <a:endParaRPr lang="en-US" sz="1200" dirty="0"/>
          </a:p>
          <a:p>
            <a:pPr marL="342900" indent="-342900">
              <a:spcAft>
                <a:spcPts val="500"/>
              </a:spcAft>
              <a:buSzPct val="100000"/>
              <a:buChar char="•"/>
            </a:pPr>
            <a:r>
              <a:rPr lang="en-US" sz="1200" dirty="0">
                <a:solidFill>
                  <a:srgbClr val="16213E"/>
                </a:solidFill>
              </a:rPr>
              <a:t>Something you go and look at</a:t>
            </a:r>
            <a:endParaRPr lang="en-US" sz="1200" dirty="0"/>
          </a:p>
          <a:p>
            <a:pPr marL="342900" indent="-342900">
              <a:spcAft>
                <a:spcPts val="500"/>
              </a:spcAft>
              <a:buSzPct val="100000"/>
              <a:buChar char="•"/>
            </a:pPr>
            <a:r>
              <a:rPr lang="en-US" sz="1200" dirty="0">
                <a:solidFill>
                  <a:srgbClr val="16213E"/>
                </a:solidFill>
              </a:rPr>
              <a:t>Badge updates live, with a 60-second poll behind it</a:t>
            </a:r>
            <a:endParaRPr lang="en-US" sz="1200" dirty="0"/>
          </a:p>
        </p:txBody>
      </p:sp>
      <p:sp>
        <p:nvSpPr>
          <p:cNvPr id="7" name="notif-push-card"/>
          <p:cNvSpPr/>
          <p:nvPr/>
        </p:nvSpPr>
        <p:spPr>
          <a:xfrm>
            <a:off x="4434840" y="1920240"/>
            <a:ext cx="3520440" cy="2377440"/>
          </a:xfrm>
          <a:prstGeom prst="roundRect">
            <a:avLst>
              <a:gd name="adj" fmla="val 2308"/>
            </a:avLst>
          </a:prstGeom>
          <a:solidFill>
            <a:srgbClr val="F2F4FA"/>
          </a:solidFill>
          <a:ln w="12700">
            <a:solidFill>
              <a:srgbClr val="F2F4FA"/>
            </a:solidFill>
            <a:prstDash val="solid"/>
          </a:ln>
          <a:effectLst>
            <a:outerShdw sx="100000" sy="100000" kx="0" ky="0" algn="bl" rotWithShape="0" blurRad="76200" dist="12700" dir="5400000">
              <a:srgbClr val="16213E">
                <a:alpha val="10000"/>
              </a:srgbClr>
            </a:outerShdw>
          </a:effectLst>
        </p:spPr>
      </p:sp>
      <p:sp>
        <p:nvSpPr>
          <p:cNvPr id="8" name="notif-push-h"/>
          <p:cNvSpPr txBox="1"/>
          <p:nvPr/>
        </p:nvSpPr>
        <p:spPr>
          <a:xfrm>
            <a:off x="4672584" y="2103120"/>
            <a:ext cx="3044952" cy="365760"/>
          </a:xfrm>
          <a:prstGeom prst="rect">
            <a:avLst/>
          </a:prstGeom>
          <a:noFill/>
          <a:ln/>
        </p:spPr>
        <p:txBody>
          <a:bodyPr wrap="square" lIns="0" tIns="0" rIns="0" bIns="0" rtlCol="0" anchor="t"/>
          <a:lstStyle/>
          <a:p>
            <a:pPr indent="0" marL="0">
              <a:buNone/>
            </a:pPr>
            <a:r>
              <a:rPr lang="en-US" sz="1500" b="1" dirty="0">
                <a:solidFill>
                  <a:srgbClr val="2F3C7E"/>
                </a:solidFill>
              </a:rPr>
              <a:t>Web push</a:t>
            </a:r>
            <a:endParaRPr lang="en-US" sz="1500" dirty="0"/>
          </a:p>
        </p:txBody>
      </p:sp>
      <p:sp>
        <p:nvSpPr>
          <p:cNvPr id="9" name="notif-push-b"/>
          <p:cNvSpPr txBox="1"/>
          <p:nvPr/>
        </p:nvSpPr>
        <p:spPr>
          <a:xfrm>
            <a:off x="4672584" y="2523744"/>
            <a:ext cx="3044952" cy="15544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13E"/>
                </a:solidFill>
              </a:rPr>
              <a:t>Respects per-kind preferences</a:t>
            </a:r>
            <a:endParaRPr lang="en-US" sz="1200" dirty="0"/>
          </a:p>
          <a:p>
            <a:pPr marL="342900" indent="-342900">
              <a:spcAft>
                <a:spcPts val="500"/>
              </a:spcAft>
              <a:buSzPct val="100000"/>
              <a:buChar char="•"/>
            </a:pPr>
            <a:r>
              <a:rPr lang="en-US" sz="1200" dirty="0">
                <a:solidFill>
                  <a:srgbClr val="16213E"/>
                </a:solidFill>
              </a:rPr>
              <a:t>Treated as an interruption, like email</a:t>
            </a:r>
            <a:endParaRPr lang="en-US" sz="1200" dirty="0"/>
          </a:p>
          <a:p>
            <a:pPr marL="342900" indent="-342900">
              <a:spcAft>
                <a:spcPts val="500"/>
              </a:spcAft>
              <a:buSzPct val="100000"/>
              <a:buChar char="•"/>
            </a:pPr>
            <a:r>
              <a:rPr lang="en-US" sz="1200" dirty="0">
                <a:solidFill>
                  <a:srgbClr val="16213E"/>
                </a:solidFill>
              </a:rPr>
              <a:t>Service worker invalidates the badge instantly</a:t>
            </a:r>
            <a:endParaRPr lang="en-US" sz="1200" dirty="0"/>
          </a:p>
        </p:txBody>
      </p:sp>
      <p:sp>
        <p:nvSpPr>
          <p:cNvPr id="10" name="notif-email-card"/>
          <p:cNvSpPr/>
          <p:nvPr/>
        </p:nvSpPr>
        <p:spPr>
          <a:xfrm>
            <a:off x="8229600" y="1920240"/>
            <a:ext cx="3291840" cy="2377440"/>
          </a:xfrm>
          <a:prstGeom prst="roundRect">
            <a:avLst>
              <a:gd name="adj" fmla="val 2308"/>
            </a:avLst>
          </a:prstGeom>
          <a:solidFill>
            <a:srgbClr val="F2F4FA"/>
          </a:solidFill>
          <a:ln w="12700">
            <a:solidFill>
              <a:srgbClr val="F2F4FA"/>
            </a:solidFill>
            <a:prstDash val="solid"/>
          </a:ln>
          <a:effectLst>
            <a:outerShdw sx="100000" sy="100000" kx="0" ky="0" algn="bl" rotWithShape="0" blurRad="76200" dist="12700" dir="5400000">
              <a:srgbClr val="16213E">
                <a:alpha val="10000"/>
              </a:srgbClr>
            </a:outerShdw>
          </a:effectLst>
        </p:spPr>
      </p:sp>
      <p:sp>
        <p:nvSpPr>
          <p:cNvPr id="11" name="notif-email-h"/>
          <p:cNvSpPr txBox="1"/>
          <p:nvPr/>
        </p:nvSpPr>
        <p:spPr>
          <a:xfrm>
            <a:off x="8467344" y="2103120"/>
            <a:ext cx="2816352" cy="365760"/>
          </a:xfrm>
          <a:prstGeom prst="rect">
            <a:avLst/>
          </a:prstGeom>
          <a:noFill/>
          <a:ln/>
        </p:spPr>
        <p:txBody>
          <a:bodyPr wrap="square" lIns="0" tIns="0" rIns="0" bIns="0" rtlCol="0" anchor="t"/>
          <a:lstStyle/>
          <a:p>
            <a:pPr indent="0" marL="0">
              <a:buNone/>
            </a:pPr>
            <a:r>
              <a:rPr lang="en-US" sz="1500" b="1" dirty="0">
                <a:solidFill>
                  <a:srgbClr val="2F3C7E"/>
                </a:solidFill>
              </a:rPr>
              <a:t>Email</a:t>
            </a:r>
            <a:endParaRPr lang="en-US" sz="1500" dirty="0"/>
          </a:p>
        </p:txBody>
      </p:sp>
      <p:sp>
        <p:nvSpPr>
          <p:cNvPr id="12" name="notif-email-b"/>
          <p:cNvSpPr txBox="1"/>
          <p:nvPr/>
        </p:nvSpPr>
        <p:spPr>
          <a:xfrm>
            <a:off x="8467344" y="2523744"/>
            <a:ext cx="2816352" cy="15544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13E"/>
                </a:solidFill>
              </a:rPr>
              <a:t>Transactional confirmations</a:t>
            </a:r>
            <a:endParaRPr lang="en-US" sz="1200" dirty="0"/>
          </a:p>
          <a:p>
            <a:pPr marL="342900" indent="-342900">
              <a:spcAft>
                <a:spcPts val="500"/>
              </a:spcAft>
              <a:buSzPct val="100000"/>
              <a:buChar char="•"/>
            </a:pPr>
            <a:r>
              <a:rPr lang="en-US" sz="1200" dirty="0">
                <a:solidFill>
                  <a:srgbClr val="16213E"/>
                </a:solidFill>
              </a:rPr>
              <a:t>Mutable announcements respect preferences</a:t>
            </a:r>
            <a:endParaRPr lang="en-US" sz="1200" dirty="0"/>
          </a:p>
          <a:p>
            <a:pPr marL="342900" indent="-342900">
              <a:spcAft>
                <a:spcPts val="500"/>
              </a:spcAft>
              <a:buSzPct val="100000"/>
              <a:buChar char="•"/>
            </a:pPr>
            <a:r>
              <a:rPr lang="en-US" sz="1200" dirty="0">
                <a:solidFill>
                  <a:srgbClr val="16213E"/>
                </a:solidFill>
              </a:rPr>
              <a:t>A delayed fallback when a support reply goes unread</a:t>
            </a:r>
            <a:endParaRPr lang="en-US" sz="1200" dirty="0"/>
          </a:p>
        </p:txBody>
      </p:sp>
      <p:sp>
        <p:nvSpPr>
          <p:cNvPr id="13" name="Text 11"/>
          <p:cNvSpPr txBox="1"/>
          <p:nvPr/>
        </p:nvSpPr>
        <p:spPr>
          <a:xfrm>
            <a:off x="640080" y="4572000"/>
            <a:ext cx="10881360" cy="640080"/>
          </a:xfrm>
          <a:prstGeom prst="rect">
            <a:avLst/>
          </a:prstGeom>
          <a:noFill/>
          <a:ln/>
        </p:spPr>
        <p:txBody>
          <a:bodyPr wrap="square" lIns="0" tIns="0" rIns="0" bIns="0" rtlCol="0" anchor="ctr"/>
          <a:lstStyle/>
          <a:p>
            <a:pPr indent="0" marL="0">
              <a:buNone/>
            </a:pPr>
            <a:r>
              <a:rPr lang="en-US" sz="1300" i="1" dirty="0">
                <a:solidFill>
                  <a:srgbClr val="5A6BA8"/>
                </a:solidFill>
              </a:rPr>
              <a:t>The rule that makes this work: muting payment emails must never leave someone with no way to discover that their payment cleared. So the in-app row is always written, whatever else is switched off.</a:t>
            </a:r>
            <a:endParaRPr lang="en-US" sz="1300" dirty="0"/>
          </a:p>
        </p:txBody>
      </p:sp>
      <p:sp>
        <p:nvSpPr>
          <p:cNvPr id="14" name="Text 12"/>
          <p:cNvSpPr txBox="1"/>
          <p:nvPr/>
        </p:nvSpPr>
        <p:spPr>
          <a:xfrm>
            <a:off x="640080" y="5303520"/>
            <a:ext cx="10881360" cy="640080"/>
          </a:xfrm>
          <a:prstGeom prst="rect">
            <a:avLst/>
          </a:prstGeom>
          <a:noFill/>
          <a:ln/>
        </p:spPr>
        <p:txBody>
          <a:bodyPr wrap="square" lIns="0" tIns="0" rIns="0" bIns="0" rtlCol="0" anchor="ctr"/>
          <a:lstStyle/>
          <a:p>
            <a:pPr indent="0" marL="0">
              <a:buNone/>
            </a:pPr>
            <a:r>
              <a:rPr lang="en-US" sz="1050" dirty="0">
                <a:solidFill>
                  <a:srgbClr val="8A93B2"/>
                </a:solidFill>
              </a:rPr>
              <a:t>registration confirmed · payment received · promoted from waitlist · refund issued · event details changed · support reply · waitlist closed · event reported · account impersonated · staff role granted · staff role revoked</a:t>
            </a:r>
            <a:endParaRPr lang="en-US" sz="1050" dirty="0"/>
          </a:p>
        </p:txBody>
      </p:sp>
      <p:sp>
        <p:nvSpPr>
          <p:cNvPr id="16" name="Text 1"/>
          <p:cNvSpPr/>
          <p:nvPr>
            <p:ph idx="102" hasCustomPrompt="1"/>
          </p:nvPr>
        </p:nvSpPr>
        <p:spPr>
          <a:xfrm>
            <a:off x="1124712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822960" y="2743200"/>
            <a:ext cx="9601200" cy="1188720"/>
          </a:xfrm>
          <a:prstGeom prst="rect">
            <a:avLst/>
          </a:prstGeom>
          <a:noFill/>
          <a:ln/>
        </p:spPr>
        <p:txBody>
          <a:bodyPr wrap="square" rtlCol="0" anchor="ctr"/>
          <a:lstStyle/>
          <a:p>
            <a:pPr algn="l" indent="0" marL="0">
              <a:buNone/>
            </a:pPr>
            <a:r>
              <a:rPr lang="en-US" sz="4000" b="1" dirty="0">
                <a:solidFill>
                  <a:schemeClr val="bg1"/>
                </a:solidFill>
              </a:rPr>
              <a:t>03 — Operations and trust</a:t>
            </a:r>
            <a:endParaRPr lang="en-US" sz="4000" dirty="0"/>
          </a:p>
        </p:txBody>
      </p:sp>
      <p:sp>
        <p:nvSpPr>
          <p:cNvPr id="3" name="Text 0"/>
          <p:cNvSpPr/>
          <p:nvPr>
            <p:ph idx="101" type="body" hasCustomPrompt="1"/>
          </p:nvPr>
        </p:nvSpPr>
        <p:spPr>
          <a:xfrm>
            <a:off x="822960" y="3931920"/>
            <a:ext cx="9144000" cy="914400"/>
          </a:xfrm>
          <a:prstGeom prst="rect">
            <a:avLst/>
          </a:prstGeom>
          <a:noFill/>
          <a:ln/>
        </p:spPr>
        <p:txBody>
          <a:bodyPr wrap="square" rtlCol="0"/>
          <a:lstStyle/>
          <a:p>
            <a:pPr indent="0" marL="0">
              <a:buNone/>
            </a:pPr>
            <a:r>
              <a:rPr lang="en-US" sz="1500" dirty="0">
                <a:solidFill>
                  <a:srgbClr val="F9E795"/>
                </a:solidFill>
              </a:rPr>
              <a:t>Support, administration, reporting, governance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rgbClr val="2F3C7E"/>
                </a:solidFill>
              </a:rPr>
              <a:t>Support chat, built in rather than embedded</a:t>
            </a:r>
            <a:endParaRPr lang="en-US" sz="3200" dirty="0"/>
          </a:p>
        </p:txBody>
      </p:sp>
      <p:sp>
        <p:nvSpPr>
          <p:cNvPr id="3" name="Text 1"/>
          <p:cNvSpPr txBox="1"/>
          <p:nvPr/>
        </p:nvSpPr>
        <p:spPr>
          <a:xfrm>
            <a:off x="640080" y="1280160"/>
            <a:ext cx="10881360" cy="731520"/>
          </a:xfrm>
          <a:prstGeom prst="rect">
            <a:avLst/>
          </a:prstGeom>
          <a:noFill/>
          <a:ln/>
        </p:spPr>
        <p:txBody>
          <a:bodyPr wrap="square" lIns="0" tIns="0" rIns="0" bIns="0" rtlCol="0" anchor="ctr"/>
          <a:lstStyle/>
          <a:p>
            <a:pPr indent="0" marL="0">
              <a:buNone/>
            </a:pPr>
            <a:r>
              <a:rPr lang="en-US" sz="1500" dirty="0">
                <a:solidFill>
                  <a:srgbClr val="16213E"/>
                </a:solidFill>
              </a:rPr>
              <a:t>A participant opens a thread from any page. Staff answer from a console that shows the conversation and that person's registrations, payment states and refunds side by side.</a:t>
            </a:r>
            <a:endParaRPr lang="en-US" sz="1500" dirty="0"/>
          </a:p>
        </p:txBody>
      </p:sp>
      <p:sp>
        <p:nvSpPr>
          <p:cNvPr id="4" name="bullet-1-dot"/>
          <p:cNvSpPr/>
          <p:nvPr/>
        </p:nvSpPr>
        <p:spPr>
          <a:xfrm>
            <a:off x="731520" y="2194560"/>
            <a:ext cx="420624" cy="420624"/>
          </a:xfrm>
          <a:prstGeom prst="ellipse">
            <a:avLst/>
          </a:prstGeom>
          <a:solidFill>
            <a:srgbClr val="F96167"/>
          </a:solidFill>
          <a:ln w="12700">
            <a:solidFill>
              <a:srgbClr val="F96167"/>
            </a:solidFill>
            <a:prstDash val="solid"/>
          </a:ln>
        </p:spPr>
      </p:sp>
      <p:sp>
        <p:nvSpPr>
          <p:cNvPr id="5" name="bullet-1-num"/>
          <p:cNvSpPr txBox="1"/>
          <p:nvPr/>
        </p:nvSpPr>
        <p:spPr>
          <a:xfrm>
            <a:off x="731520" y="219456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bullet-1-label"/>
          <p:cNvSpPr txBox="1"/>
          <p:nvPr/>
        </p:nvSpPr>
        <p:spPr>
          <a:xfrm>
            <a:off x="1353312" y="2157984"/>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That context panel is the whole argument for building it</a:t>
            </a:r>
            <a:endParaRPr lang="en-US" sz="1500" dirty="0"/>
          </a:p>
        </p:txBody>
      </p:sp>
      <p:sp>
        <p:nvSpPr>
          <p:cNvPr id="7" name="bullet-1-body"/>
          <p:cNvSpPr txBox="1"/>
          <p:nvPr/>
        </p:nvSpPr>
        <p:spPr>
          <a:xfrm>
            <a:off x="1353312" y="2450592"/>
            <a:ext cx="9985248" cy="475488"/>
          </a:xfrm>
          <a:prstGeom prst="rect">
            <a:avLst/>
          </a:prstGeom>
          <a:noFill/>
          <a:ln/>
        </p:spPr>
        <p:txBody>
          <a:bodyPr wrap="square" lIns="0" tIns="0" rIns="0" bIns="0" rtlCol="0" anchor="ctr"/>
          <a:lstStyle/>
          <a:p>
            <a:pPr indent="0" marL="0">
              <a:buNone/>
            </a:pPr>
            <a:r>
              <a:rPr lang="en-US" sz="1250" dirty="0">
                <a:solidFill>
                  <a:srgbClr val="16213E"/>
                </a:solidFill>
              </a:rPr>
              <a:t>A hosted widget cannot show payment state next to the message. On a payments product, most questions are “where is my money” — and the answer is already on screen.</a:t>
            </a:r>
            <a:endParaRPr lang="en-US" sz="1250" dirty="0"/>
          </a:p>
        </p:txBody>
      </p:sp>
      <p:sp>
        <p:nvSpPr>
          <p:cNvPr id="8" name="bullet-2-dot"/>
          <p:cNvSpPr/>
          <p:nvPr/>
        </p:nvSpPr>
        <p:spPr>
          <a:xfrm>
            <a:off x="731520" y="3182112"/>
            <a:ext cx="420624" cy="420624"/>
          </a:xfrm>
          <a:prstGeom prst="ellipse">
            <a:avLst/>
          </a:prstGeom>
          <a:solidFill>
            <a:srgbClr val="F96167"/>
          </a:solidFill>
          <a:ln w="12700">
            <a:solidFill>
              <a:srgbClr val="F96167"/>
            </a:solidFill>
            <a:prstDash val="solid"/>
          </a:ln>
        </p:spPr>
      </p:sp>
      <p:sp>
        <p:nvSpPr>
          <p:cNvPr id="9" name="bullet-2-num"/>
          <p:cNvSpPr txBox="1"/>
          <p:nvPr/>
        </p:nvSpPr>
        <p:spPr>
          <a:xfrm>
            <a:off x="731520" y="3182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0" name="bullet-2-label"/>
          <p:cNvSpPr txBox="1"/>
          <p:nvPr/>
        </p:nvSpPr>
        <p:spPr>
          <a:xfrm>
            <a:off x="1353312" y="3145536"/>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Live over a WebSocket, with layered fallbacks</a:t>
            </a:r>
            <a:endParaRPr lang="en-US" sz="1500" dirty="0"/>
          </a:p>
        </p:txBody>
      </p:sp>
      <p:sp>
        <p:nvSpPr>
          <p:cNvPr id="11" name="bullet-2-body"/>
          <p:cNvSpPr txBox="1"/>
          <p:nvPr/>
        </p:nvSpPr>
        <p:spPr>
          <a:xfrm>
            <a:off x="1353312" y="3438144"/>
            <a:ext cx="9985248" cy="475488"/>
          </a:xfrm>
          <a:prstGeom prst="rect">
            <a:avLst/>
          </a:prstGeom>
          <a:noFill/>
          <a:ln/>
        </p:spPr>
        <p:txBody>
          <a:bodyPr wrap="square" lIns="0" tIns="0" rIns="0" bIns="0" rtlCol="0" anchor="ctr"/>
          <a:lstStyle/>
          <a:p>
            <a:pPr indent="0" marL="0">
              <a:buNone/>
            </a:pPr>
            <a:r>
              <a:rPr lang="en-US" sz="1250" dirty="0">
                <a:solidFill>
                  <a:srgbClr val="16213E"/>
                </a:solidFill>
              </a:rPr>
              <a:t>Delivery is never assumed: a 60-second poll covers the badge, and an unread reply triggers a nudge email after three minutes — one email, not one per reply.</a:t>
            </a:r>
            <a:endParaRPr lang="en-US" sz="1250" dirty="0"/>
          </a:p>
        </p:txBody>
      </p:sp>
      <p:sp>
        <p:nvSpPr>
          <p:cNvPr id="12" name="bullet-3-dot"/>
          <p:cNvSpPr/>
          <p:nvPr/>
        </p:nvSpPr>
        <p:spPr>
          <a:xfrm>
            <a:off x="731520" y="4169664"/>
            <a:ext cx="420624" cy="420624"/>
          </a:xfrm>
          <a:prstGeom prst="ellipse">
            <a:avLst/>
          </a:prstGeom>
          <a:solidFill>
            <a:srgbClr val="F96167"/>
          </a:solidFill>
          <a:ln w="12700">
            <a:solidFill>
              <a:srgbClr val="F96167"/>
            </a:solidFill>
            <a:prstDash val="solid"/>
          </a:ln>
        </p:spPr>
      </p:sp>
      <p:sp>
        <p:nvSpPr>
          <p:cNvPr id="13" name="bullet-3-num"/>
          <p:cNvSpPr txBox="1"/>
          <p:nvPr/>
        </p:nvSpPr>
        <p:spPr>
          <a:xfrm>
            <a:off x="731520" y="4169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bullet-3-label"/>
          <p:cNvSpPr txBox="1"/>
          <p:nvPr/>
        </p:nvSpPr>
        <p:spPr>
          <a:xfrm>
            <a:off x="1353312" y="4133088"/>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The email deliberately does not quote the reply</a:t>
            </a:r>
            <a:endParaRPr lang="en-US" sz="1500" dirty="0"/>
          </a:p>
        </p:txBody>
      </p:sp>
      <p:sp>
        <p:nvSpPr>
          <p:cNvPr id="15" name="bullet-3-body"/>
          <p:cNvSpPr txBox="1"/>
          <p:nvPr/>
        </p:nvSpPr>
        <p:spPr>
          <a:xfrm>
            <a:off x="1353312" y="4425696"/>
            <a:ext cx="9985248" cy="475488"/>
          </a:xfrm>
          <a:prstGeom prst="rect">
            <a:avLst/>
          </a:prstGeom>
          <a:noFill/>
          <a:ln/>
        </p:spPr>
        <p:txBody>
          <a:bodyPr wrap="square" lIns="0" tIns="0" rIns="0" bIns="0" rtlCol="0" anchor="ctr"/>
          <a:lstStyle/>
          <a:p>
            <a:pPr indent="0" marL="0">
              <a:buNone/>
            </a:pPr>
            <a:r>
              <a:rPr lang="en-US" sz="1250" dirty="0">
                <a:solidFill>
                  <a:srgbClr val="16213E"/>
                </a:solidFill>
              </a:rPr>
              <a:t>Support threads carry whatever people paste, which on a payments product means card complaints. A nudge to come and read it leaks nothing.</a:t>
            </a:r>
            <a:endParaRPr lang="en-US" sz="1250" dirty="0"/>
          </a:p>
        </p:txBody>
      </p:sp>
      <p:sp>
        <p:nvSpPr>
          <p:cNvPr id="16" name="bullet-4-dot"/>
          <p:cNvSpPr/>
          <p:nvPr/>
        </p:nvSpPr>
        <p:spPr>
          <a:xfrm>
            <a:off x="731520" y="5157216"/>
            <a:ext cx="420624" cy="420624"/>
          </a:xfrm>
          <a:prstGeom prst="ellipse">
            <a:avLst/>
          </a:prstGeom>
          <a:solidFill>
            <a:srgbClr val="F96167"/>
          </a:solidFill>
          <a:ln w="12700">
            <a:solidFill>
              <a:srgbClr val="F96167"/>
            </a:solidFill>
            <a:prstDash val="solid"/>
          </a:ln>
        </p:spPr>
      </p:sp>
      <p:sp>
        <p:nvSpPr>
          <p:cNvPr id="17" name="bullet-4-num"/>
          <p:cNvSpPr txBox="1"/>
          <p:nvPr/>
        </p:nvSpPr>
        <p:spPr>
          <a:xfrm>
            <a:off x="731520" y="51572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8" name="bullet-4-label"/>
          <p:cNvSpPr txBox="1"/>
          <p:nvPr/>
        </p:nvSpPr>
        <p:spPr>
          <a:xfrm>
            <a:off x="1353312" y="5120640"/>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Twelve-month retention, published and enforced</a:t>
            </a:r>
            <a:endParaRPr lang="en-US" sz="1500" dirty="0"/>
          </a:p>
        </p:txBody>
      </p:sp>
      <p:sp>
        <p:nvSpPr>
          <p:cNvPr id="19" name="bullet-4-body"/>
          <p:cNvSpPr txBox="1"/>
          <p:nvPr/>
        </p:nvSpPr>
        <p:spPr>
          <a:xfrm>
            <a:off x="1353312" y="5413248"/>
            <a:ext cx="9985248" cy="475488"/>
          </a:xfrm>
          <a:prstGeom prst="rect">
            <a:avLst/>
          </a:prstGeom>
          <a:noFill/>
          <a:ln/>
        </p:spPr>
        <p:txBody>
          <a:bodyPr wrap="square" lIns="0" tIns="0" rIns="0" bIns="0" rtlCol="0" anchor="ctr"/>
          <a:lstStyle/>
          <a:p>
            <a:pPr indent="0" marL="0">
              <a:buNone/>
            </a:pPr>
            <a:r>
              <a:rPr lang="en-US" sz="1250" dirty="0">
                <a:solidFill>
                  <a:srgbClr val="16213E"/>
                </a:solidFill>
              </a:rPr>
              <a:t>Resolved threads are purged after a year. A test reads the privacy policy and fails if it states a different number — in both English and Khmer.</a:t>
            </a:r>
            <a:endParaRPr lang="en-US" sz="1250" dirty="0"/>
          </a:p>
        </p:txBody>
      </p:sp>
      <p:sp>
        <p:nvSpPr>
          <p:cNvPr id="21" name="Text 1"/>
          <p:cNvSpPr/>
          <p:nvPr>
            <p:ph idx="102" hasCustomPrompt="1"/>
          </p:nvPr>
        </p:nvSpPr>
        <p:spPr>
          <a:xfrm>
            <a:off x="1124712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rgbClr val="2F3C7E"/>
                </a:solidFill>
              </a:rPr>
              <a:t>One console, three staff roles</a:t>
            </a:r>
            <a:endParaRPr lang="en-US" sz="3200" dirty="0"/>
          </a:p>
        </p:txBody>
      </p:sp>
      <p:sp>
        <p:nvSpPr>
          <p:cNvPr id="3" name="Text 1"/>
          <p:cNvSpPr txBox="1"/>
          <p:nvPr/>
        </p:nvSpPr>
        <p:spPr>
          <a:xfrm>
            <a:off x="640080" y="1280160"/>
            <a:ext cx="10881360" cy="731520"/>
          </a:xfrm>
          <a:prstGeom prst="rect">
            <a:avLst/>
          </a:prstGeom>
          <a:noFill/>
          <a:ln/>
        </p:spPr>
        <p:txBody>
          <a:bodyPr wrap="square" lIns="0" tIns="0" rIns="0" bIns="0" rtlCol="0" anchor="ctr"/>
          <a:lstStyle/>
          <a:p>
            <a:pPr indent="0" marL="0">
              <a:buNone/>
            </a:pPr>
            <a:r>
              <a:rPr lang="en-US" sz="1500" dirty="0">
                <a:solidFill>
                  <a:srgbClr val="16213E"/>
                </a:solidFill>
              </a:rPr>
              <a:t>Twenty-five named capabilities mapped to three roles, so support staff are not handed the power to delete an organizer's event in order to answer a question about a receipt.</a:t>
            </a:r>
            <a:endParaRPr lang="en-US" sz="1500" dirty="0"/>
          </a:p>
        </p:txBody>
      </p:sp>
      <p:sp>
        <p:nvSpPr>
          <p:cNvPr id="4" name="role-0"/>
          <p:cNvSpPr/>
          <p:nvPr/>
        </p:nvSpPr>
        <p:spPr>
          <a:xfrm>
            <a:off x="640080" y="2194560"/>
            <a:ext cx="3520440" cy="1600200"/>
          </a:xfrm>
          <a:prstGeom prst="roundRect">
            <a:avLst>
              <a:gd name="adj" fmla="val 4571"/>
            </a:avLst>
          </a:prstGeom>
          <a:solidFill>
            <a:srgbClr val="0E7C66"/>
          </a:solidFill>
          <a:ln w="12700">
            <a:solidFill>
              <a:srgbClr val="0E7C66"/>
            </a:solidFill>
            <a:prstDash val="solid"/>
          </a:ln>
        </p:spPr>
      </p:sp>
      <p:sp>
        <p:nvSpPr>
          <p:cNvPr id="5" name="role-0-n"/>
          <p:cNvSpPr txBox="1"/>
          <p:nvPr/>
        </p:nvSpPr>
        <p:spPr>
          <a:xfrm>
            <a:off x="877824" y="2377440"/>
            <a:ext cx="3017520" cy="365760"/>
          </a:xfrm>
          <a:prstGeom prst="rect">
            <a:avLst/>
          </a:prstGeom>
          <a:noFill/>
          <a:ln/>
        </p:spPr>
        <p:txBody>
          <a:bodyPr wrap="square" lIns="0" tIns="0" rIns="0" bIns="0" rtlCol="0" anchor="ctr"/>
          <a:lstStyle/>
          <a:p>
            <a:pPr indent="0" marL="0">
              <a:buNone/>
            </a:pPr>
            <a:r>
              <a:rPr lang="en-US" sz="1700" b="1" dirty="0">
                <a:solidFill>
                  <a:srgbClr val="FFFFFF"/>
                </a:solidFill>
              </a:rPr>
              <a:t>Support</a:t>
            </a:r>
            <a:endParaRPr lang="en-US" sz="1700" dirty="0"/>
          </a:p>
        </p:txBody>
      </p:sp>
      <p:sp>
        <p:nvSpPr>
          <p:cNvPr id="6" name="role-0-b"/>
          <p:cNvSpPr txBox="1"/>
          <p:nvPr/>
        </p:nvSpPr>
        <p:spPr>
          <a:xfrm>
            <a:off x="877824" y="2761488"/>
            <a:ext cx="3044952" cy="914400"/>
          </a:xfrm>
          <a:prstGeom prst="rect">
            <a:avLst/>
          </a:prstGeom>
          <a:noFill/>
          <a:ln/>
        </p:spPr>
        <p:txBody>
          <a:bodyPr wrap="square" lIns="0" tIns="0" rIns="0" bIns="0" rtlCol="0" anchor="t"/>
          <a:lstStyle/>
          <a:p>
            <a:pPr indent="0" marL="0">
              <a:buNone/>
            </a:pPr>
            <a:r>
              <a:rPr lang="en-US" sz="1200" dirty="0">
                <a:solidFill>
                  <a:srgbClr val="FFFFFF"/>
                </a:solidFill>
              </a:rPr>
              <a:t>Answers chat, reads accounts, opens support sessions</a:t>
            </a:r>
            <a:endParaRPr lang="en-US" sz="1200" dirty="0"/>
          </a:p>
        </p:txBody>
      </p:sp>
      <p:sp>
        <p:nvSpPr>
          <p:cNvPr id="7" name="role-1"/>
          <p:cNvSpPr/>
          <p:nvPr/>
        </p:nvSpPr>
        <p:spPr>
          <a:xfrm>
            <a:off x="4361688" y="2194560"/>
            <a:ext cx="3520440" cy="1600200"/>
          </a:xfrm>
          <a:prstGeom prst="roundRect">
            <a:avLst>
              <a:gd name="adj" fmla="val 4571"/>
            </a:avLst>
          </a:prstGeom>
          <a:solidFill>
            <a:srgbClr val="5A6BA8"/>
          </a:solidFill>
          <a:ln w="12700">
            <a:solidFill>
              <a:srgbClr val="5A6BA8"/>
            </a:solidFill>
            <a:prstDash val="solid"/>
          </a:ln>
        </p:spPr>
      </p:sp>
      <p:sp>
        <p:nvSpPr>
          <p:cNvPr id="8" name="role-1-n"/>
          <p:cNvSpPr txBox="1"/>
          <p:nvPr/>
        </p:nvSpPr>
        <p:spPr>
          <a:xfrm>
            <a:off x="4599432" y="2377440"/>
            <a:ext cx="3017520" cy="365760"/>
          </a:xfrm>
          <a:prstGeom prst="rect">
            <a:avLst/>
          </a:prstGeom>
          <a:noFill/>
          <a:ln/>
        </p:spPr>
        <p:txBody>
          <a:bodyPr wrap="square" lIns="0" tIns="0" rIns="0" bIns="0" rtlCol="0" anchor="ctr"/>
          <a:lstStyle/>
          <a:p>
            <a:pPr indent="0" marL="0">
              <a:buNone/>
            </a:pPr>
            <a:r>
              <a:rPr lang="en-US" sz="1700" b="1" dirty="0">
                <a:solidFill>
                  <a:srgbClr val="FFFFFF"/>
                </a:solidFill>
              </a:rPr>
              <a:t>Moderator</a:t>
            </a:r>
            <a:endParaRPr lang="en-US" sz="1700" dirty="0"/>
          </a:p>
        </p:txBody>
      </p:sp>
      <p:sp>
        <p:nvSpPr>
          <p:cNvPr id="9" name="role-1-b"/>
          <p:cNvSpPr txBox="1"/>
          <p:nvPr/>
        </p:nvSpPr>
        <p:spPr>
          <a:xfrm>
            <a:off x="4599432" y="2761488"/>
            <a:ext cx="3044952" cy="914400"/>
          </a:xfrm>
          <a:prstGeom prst="rect">
            <a:avLst/>
          </a:prstGeom>
          <a:noFill/>
          <a:ln/>
        </p:spPr>
        <p:txBody>
          <a:bodyPr wrap="square" lIns="0" tIns="0" rIns="0" bIns="0" rtlCol="0" anchor="t"/>
          <a:lstStyle/>
          <a:p>
            <a:pPr indent="0" marL="0">
              <a:buNone/>
            </a:pPr>
            <a:r>
              <a:rPr lang="en-US" sz="1200" dirty="0">
                <a:solidFill>
                  <a:srgbClr val="FFFFFF"/>
                </a:solidFill>
              </a:rPr>
              <a:t>Everything above, plus the report queue, suspension and verification</a:t>
            </a:r>
            <a:endParaRPr lang="en-US" sz="1200" dirty="0"/>
          </a:p>
        </p:txBody>
      </p:sp>
      <p:sp>
        <p:nvSpPr>
          <p:cNvPr id="10" name="role-2"/>
          <p:cNvSpPr/>
          <p:nvPr/>
        </p:nvSpPr>
        <p:spPr>
          <a:xfrm>
            <a:off x="8083296" y="2194560"/>
            <a:ext cx="3520440" cy="1600200"/>
          </a:xfrm>
          <a:prstGeom prst="roundRect">
            <a:avLst>
              <a:gd name="adj" fmla="val 4571"/>
            </a:avLst>
          </a:prstGeom>
          <a:solidFill>
            <a:srgbClr val="2F3C7E"/>
          </a:solidFill>
          <a:ln w="12700">
            <a:solidFill>
              <a:srgbClr val="2F3C7E"/>
            </a:solidFill>
            <a:prstDash val="solid"/>
          </a:ln>
        </p:spPr>
      </p:sp>
      <p:sp>
        <p:nvSpPr>
          <p:cNvPr id="11" name="role-2-n"/>
          <p:cNvSpPr txBox="1"/>
          <p:nvPr/>
        </p:nvSpPr>
        <p:spPr>
          <a:xfrm>
            <a:off x="8321040" y="2377440"/>
            <a:ext cx="3017520" cy="365760"/>
          </a:xfrm>
          <a:prstGeom prst="rect">
            <a:avLst/>
          </a:prstGeom>
          <a:noFill/>
          <a:ln/>
        </p:spPr>
        <p:txBody>
          <a:bodyPr wrap="square" lIns="0" tIns="0" rIns="0" bIns="0" rtlCol="0" anchor="ctr"/>
          <a:lstStyle/>
          <a:p>
            <a:pPr indent="0" marL="0">
              <a:buNone/>
            </a:pPr>
            <a:r>
              <a:rPr lang="en-US" sz="1700" b="1" dirty="0">
                <a:solidFill>
                  <a:srgbClr val="FFFFFF"/>
                </a:solidFill>
              </a:rPr>
              <a:t>Admin</a:t>
            </a:r>
            <a:endParaRPr lang="en-US" sz="1700" dirty="0"/>
          </a:p>
        </p:txBody>
      </p:sp>
      <p:sp>
        <p:nvSpPr>
          <p:cNvPr id="12" name="role-2-b"/>
          <p:cNvSpPr txBox="1"/>
          <p:nvPr/>
        </p:nvSpPr>
        <p:spPr>
          <a:xfrm>
            <a:off x="8321040" y="2761488"/>
            <a:ext cx="3044952" cy="914400"/>
          </a:xfrm>
          <a:prstGeom prst="rect">
            <a:avLst/>
          </a:prstGeom>
          <a:noFill/>
          <a:ln/>
        </p:spPr>
        <p:txBody>
          <a:bodyPr wrap="square" lIns="0" tIns="0" rIns="0" bIns="0" rtlCol="0" anchor="t"/>
          <a:lstStyle/>
          <a:p>
            <a:pPr indent="0" marL="0">
              <a:buNone/>
            </a:pPr>
            <a:r>
              <a:rPr lang="en-US" sz="1200" dirty="0">
                <a:solidFill>
                  <a:srgbClr val="FFFFFF"/>
                </a:solidFill>
              </a:rPr>
              <a:t>Everything, plus refunds, deletions and granting staff roles</a:t>
            </a:r>
            <a:endParaRPr lang="en-US" sz="1200" dirty="0"/>
          </a:p>
        </p:txBody>
      </p:sp>
      <p:sp>
        <p:nvSpPr>
          <p:cNvPr id="13" name="bullet-1-dot"/>
          <p:cNvSpPr/>
          <p:nvPr/>
        </p:nvSpPr>
        <p:spPr>
          <a:xfrm>
            <a:off x="731520" y="4069080"/>
            <a:ext cx="420624" cy="420624"/>
          </a:xfrm>
          <a:prstGeom prst="ellipse">
            <a:avLst/>
          </a:prstGeom>
          <a:solidFill>
            <a:srgbClr val="F96167"/>
          </a:solidFill>
          <a:ln w="12700">
            <a:solidFill>
              <a:srgbClr val="F96167"/>
            </a:solidFill>
            <a:prstDash val="solid"/>
          </a:ln>
        </p:spPr>
      </p:sp>
      <p:sp>
        <p:nvSpPr>
          <p:cNvPr id="14" name="bullet-1-num"/>
          <p:cNvSpPr txBox="1"/>
          <p:nvPr/>
        </p:nvSpPr>
        <p:spPr>
          <a:xfrm>
            <a:off x="731520" y="40690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5" name="bullet-1-label"/>
          <p:cNvSpPr txBox="1"/>
          <p:nvPr/>
        </p:nvSpPr>
        <p:spPr>
          <a:xfrm>
            <a:off x="1353312" y="4032504"/>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Destructive actions need a second person</a:t>
            </a:r>
            <a:endParaRPr lang="en-US" sz="1500" dirty="0"/>
          </a:p>
        </p:txBody>
      </p:sp>
      <p:sp>
        <p:nvSpPr>
          <p:cNvPr id="16" name="bullet-1-body"/>
          <p:cNvSpPr txBox="1"/>
          <p:nvPr/>
        </p:nvSpPr>
        <p:spPr>
          <a:xfrm>
            <a:off x="1353312" y="4325112"/>
            <a:ext cx="9985248" cy="475488"/>
          </a:xfrm>
          <a:prstGeom prst="rect">
            <a:avLst/>
          </a:prstGeom>
          <a:noFill/>
          <a:ln/>
        </p:spPr>
        <p:txBody>
          <a:bodyPr wrap="square" lIns="0" tIns="0" rIns="0" bIns="0" rtlCol="0" anchor="ctr"/>
          <a:lstStyle/>
          <a:p>
            <a:pPr indent="0" marL="0">
              <a:buNone/>
            </a:pPr>
            <a:r>
              <a:rPr lang="en-US" sz="1250" dirty="0">
                <a:solidFill>
                  <a:srgbClr val="16213E"/>
                </a:solidFill>
              </a:rPr>
              <a:t>Deleting an event, suspending an organization, waiving a payment, granting a staff role and any refund over $100 all require a colleague's approval, pinned to the exact parameters requested.</a:t>
            </a:r>
            <a:endParaRPr lang="en-US" sz="1250" dirty="0"/>
          </a:p>
        </p:txBody>
      </p:sp>
      <p:sp>
        <p:nvSpPr>
          <p:cNvPr id="17" name="bullet-2-dot"/>
          <p:cNvSpPr/>
          <p:nvPr/>
        </p:nvSpPr>
        <p:spPr>
          <a:xfrm>
            <a:off x="731520" y="5056632"/>
            <a:ext cx="420624" cy="420624"/>
          </a:xfrm>
          <a:prstGeom prst="ellipse">
            <a:avLst/>
          </a:prstGeom>
          <a:solidFill>
            <a:srgbClr val="F96167"/>
          </a:solidFill>
          <a:ln w="12700">
            <a:solidFill>
              <a:srgbClr val="F96167"/>
            </a:solidFill>
            <a:prstDash val="solid"/>
          </a:ln>
        </p:spPr>
      </p:sp>
      <p:sp>
        <p:nvSpPr>
          <p:cNvPr id="18" name="bullet-2-num"/>
          <p:cNvSpPr txBox="1"/>
          <p:nvPr/>
        </p:nvSpPr>
        <p:spPr>
          <a:xfrm>
            <a:off x="731520" y="505663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9" name="bullet-2-label"/>
          <p:cNvSpPr txBox="1"/>
          <p:nvPr/>
        </p:nvSpPr>
        <p:spPr>
          <a:xfrm>
            <a:off x="1353312" y="5020056"/>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Taking access away never waits</a:t>
            </a:r>
            <a:endParaRPr lang="en-US" sz="1500" dirty="0"/>
          </a:p>
        </p:txBody>
      </p:sp>
      <p:sp>
        <p:nvSpPr>
          <p:cNvPr id="20" name="bullet-2-body"/>
          <p:cNvSpPr txBox="1"/>
          <p:nvPr/>
        </p:nvSpPr>
        <p:spPr>
          <a:xfrm>
            <a:off x="1353312" y="5312664"/>
            <a:ext cx="9985248" cy="475488"/>
          </a:xfrm>
          <a:prstGeom prst="rect">
            <a:avLst/>
          </a:prstGeom>
          <a:noFill/>
          <a:ln/>
        </p:spPr>
        <p:txBody>
          <a:bodyPr wrap="square" lIns="0" tIns="0" rIns="0" bIns="0" rtlCol="0" anchor="ctr"/>
          <a:lstStyle/>
          <a:p>
            <a:pPr indent="0" marL="0">
              <a:buNone/>
            </a:pPr>
            <a:r>
              <a:rPr lang="en-US" sz="1250" dirty="0">
                <a:solidFill>
                  <a:srgbClr val="16213E"/>
                </a:solidFill>
              </a:rPr>
              <a:t>Approval gates only the direction that adds power. Revoking a role or restoring a suspended organization is immediate — a compromised account is stripped now, not when somebody wakes up.</a:t>
            </a:r>
            <a:endParaRPr lang="en-US" sz="1250" dirty="0"/>
          </a:p>
        </p:txBody>
      </p:sp>
      <p:sp>
        <p:nvSpPr>
          <p:cNvPr id="22" name="Text 1"/>
          <p:cNvSpPr/>
          <p:nvPr>
            <p:ph idx="102" hasCustomPrompt="1"/>
          </p:nvPr>
        </p:nvSpPr>
        <p:spPr>
          <a:xfrm>
            <a:off x="1124712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rgbClr val="2F3C7E"/>
                </a:solidFill>
              </a:rPr>
              <a:t>Reporting an organizer can reconcile against</a:t>
            </a:r>
            <a:endParaRPr lang="en-US" sz="3200" dirty="0"/>
          </a:p>
        </p:txBody>
      </p:sp>
      <p:sp>
        <p:nvSpPr>
          <p:cNvPr id="3" name="Text 1"/>
          <p:cNvSpPr txBox="1"/>
          <p:nvPr/>
        </p:nvSpPr>
        <p:spPr>
          <a:xfrm>
            <a:off x="640080" y="1280160"/>
            <a:ext cx="10881360" cy="685800"/>
          </a:xfrm>
          <a:prstGeom prst="rect">
            <a:avLst/>
          </a:prstGeom>
          <a:noFill/>
          <a:ln/>
        </p:spPr>
        <p:txBody>
          <a:bodyPr wrap="square" lIns="0" tIns="0" rIns="0" bIns="0" rtlCol="0" anchor="ctr"/>
          <a:lstStyle/>
          <a:p>
            <a:pPr indent="0" marL="0">
              <a:buNone/>
            </a:pPr>
            <a:r>
              <a:rPr lang="en-US" sz="1500" dirty="0">
                <a:solidFill>
                  <a:srgbClr val="16213E"/>
                </a:solidFill>
              </a:rPr>
              <a:t>Participant lists are paginated and searched on the server; the figures above them are computed in SQL. Those two facts are the same decision.</a:t>
            </a:r>
            <a:endParaRPr lang="en-US" sz="1500" dirty="0"/>
          </a:p>
        </p:txBody>
      </p:sp>
      <p:sp>
        <p:nvSpPr>
          <p:cNvPr id="4" name="rep-org-card"/>
          <p:cNvSpPr/>
          <p:nvPr/>
        </p:nvSpPr>
        <p:spPr>
          <a:xfrm>
            <a:off x="640080" y="2103120"/>
            <a:ext cx="5349240" cy="2606040"/>
          </a:xfrm>
          <a:prstGeom prst="roundRect">
            <a:avLst>
              <a:gd name="adj" fmla="val 2105"/>
            </a:avLst>
          </a:prstGeom>
          <a:solidFill>
            <a:srgbClr val="F2F4FA"/>
          </a:solidFill>
          <a:ln w="12700">
            <a:solidFill>
              <a:srgbClr val="F2F4FA"/>
            </a:solidFill>
            <a:prstDash val="solid"/>
          </a:ln>
          <a:effectLst>
            <a:outerShdw sx="100000" sy="100000" kx="0" ky="0" algn="bl" rotWithShape="0" blurRad="76200" dist="12700" dir="5400000">
              <a:srgbClr val="16213E">
                <a:alpha val="10000"/>
              </a:srgbClr>
            </a:outerShdw>
          </a:effectLst>
        </p:spPr>
      </p:sp>
      <p:sp>
        <p:nvSpPr>
          <p:cNvPr id="5" name="rep-org-h"/>
          <p:cNvSpPr txBox="1"/>
          <p:nvPr/>
        </p:nvSpPr>
        <p:spPr>
          <a:xfrm>
            <a:off x="877824" y="2286000"/>
            <a:ext cx="4873752" cy="365760"/>
          </a:xfrm>
          <a:prstGeom prst="rect">
            <a:avLst/>
          </a:prstGeom>
          <a:noFill/>
          <a:ln/>
        </p:spPr>
        <p:txBody>
          <a:bodyPr wrap="square" lIns="0" tIns="0" rIns="0" bIns="0" rtlCol="0" anchor="t"/>
          <a:lstStyle/>
          <a:p>
            <a:pPr indent="0" marL="0">
              <a:buNone/>
            </a:pPr>
            <a:r>
              <a:rPr lang="en-US" sz="1500" b="1" dirty="0">
                <a:solidFill>
                  <a:srgbClr val="2F3C7E"/>
                </a:solidFill>
              </a:rPr>
              <a:t>For the organizer</a:t>
            </a:r>
            <a:endParaRPr lang="en-US" sz="1500" dirty="0"/>
          </a:p>
        </p:txBody>
      </p:sp>
      <p:sp>
        <p:nvSpPr>
          <p:cNvPr id="6" name="rep-org-b"/>
          <p:cNvSpPr txBox="1"/>
          <p:nvPr/>
        </p:nvSpPr>
        <p:spPr>
          <a:xfrm>
            <a:off x="877824" y="2706624"/>
            <a:ext cx="4873752" cy="17830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13E"/>
                </a:solidFill>
              </a:rPr>
              <a:t>Revenue, entries, checked-in and per-type breakdown</a:t>
            </a:r>
            <a:endParaRPr lang="en-US" sz="1200" dirty="0"/>
          </a:p>
          <a:p>
            <a:pPr marL="342900" indent="-342900">
              <a:spcAft>
                <a:spcPts val="500"/>
              </a:spcAft>
              <a:buSzPct val="100000"/>
              <a:buChar char="•"/>
            </a:pPr>
            <a:r>
              <a:rPr lang="en-US" sz="1200" dirty="0">
                <a:solidFill>
                  <a:srgbClr val="16213E"/>
                </a:solidFill>
              </a:rPr>
              <a:t>Searchable participant list with CSV export</a:t>
            </a:r>
            <a:endParaRPr lang="en-US" sz="1200" dirty="0"/>
          </a:p>
          <a:p>
            <a:pPr marL="342900" indent="-342900">
              <a:spcAft>
                <a:spcPts val="500"/>
              </a:spcAft>
              <a:buSzPct val="100000"/>
              <a:buChar char="•"/>
            </a:pPr>
            <a:r>
              <a:rPr lang="en-US" sz="1200" dirty="0">
                <a:solidFill>
                  <a:srgbClr val="16213E"/>
                </a:solidFill>
              </a:rPr>
              <a:t>Payment state and refunded total per entry</a:t>
            </a:r>
            <a:endParaRPr lang="en-US" sz="1200" dirty="0"/>
          </a:p>
          <a:p>
            <a:pPr marL="342900" indent="-342900">
              <a:spcAft>
                <a:spcPts val="500"/>
              </a:spcAft>
              <a:buSzPct val="100000"/>
              <a:buChar char="•"/>
            </a:pPr>
            <a:r>
              <a:rPr lang="en-US" sz="1200" dirty="0">
                <a:solidFill>
                  <a:srgbClr val="16213E"/>
                </a:solidFill>
              </a:rPr>
              <a:t>Activity log of every change to the event</a:t>
            </a:r>
            <a:endParaRPr lang="en-US" sz="1200" dirty="0"/>
          </a:p>
        </p:txBody>
      </p:sp>
      <p:sp>
        <p:nvSpPr>
          <p:cNvPr id="7" name="rep-plat-card"/>
          <p:cNvSpPr/>
          <p:nvPr/>
        </p:nvSpPr>
        <p:spPr>
          <a:xfrm>
            <a:off x="6172200" y="2103120"/>
            <a:ext cx="5349240" cy="2606040"/>
          </a:xfrm>
          <a:prstGeom prst="roundRect">
            <a:avLst>
              <a:gd name="adj" fmla="val 2105"/>
            </a:avLst>
          </a:prstGeom>
          <a:solidFill>
            <a:srgbClr val="F2F4FA"/>
          </a:solidFill>
          <a:ln w="12700">
            <a:solidFill>
              <a:srgbClr val="F2F4FA"/>
            </a:solidFill>
            <a:prstDash val="solid"/>
          </a:ln>
          <a:effectLst>
            <a:outerShdw sx="100000" sy="100000" kx="0" ky="0" algn="bl" rotWithShape="0" blurRad="76200" dist="12700" dir="5400000">
              <a:srgbClr val="16213E">
                <a:alpha val="10000"/>
              </a:srgbClr>
            </a:outerShdw>
          </a:effectLst>
        </p:spPr>
      </p:sp>
      <p:sp>
        <p:nvSpPr>
          <p:cNvPr id="8" name="rep-plat-h"/>
          <p:cNvSpPr txBox="1"/>
          <p:nvPr/>
        </p:nvSpPr>
        <p:spPr>
          <a:xfrm>
            <a:off x="6409944" y="2286000"/>
            <a:ext cx="4873752" cy="365760"/>
          </a:xfrm>
          <a:prstGeom prst="rect">
            <a:avLst/>
          </a:prstGeom>
          <a:noFill/>
          <a:ln/>
        </p:spPr>
        <p:txBody>
          <a:bodyPr wrap="square" lIns="0" tIns="0" rIns="0" bIns="0" rtlCol="0" anchor="t"/>
          <a:lstStyle/>
          <a:p>
            <a:pPr indent="0" marL="0">
              <a:buNone/>
            </a:pPr>
            <a:r>
              <a:rPr lang="en-US" sz="1500" b="1" dirty="0">
                <a:solidFill>
                  <a:srgbClr val="2F3C7E"/>
                </a:solidFill>
              </a:rPr>
              <a:t>For the platform</a:t>
            </a:r>
            <a:endParaRPr lang="en-US" sz="1500" dirty="0"/>
          </a:p>
        </p:txBody>
      </p:sp>
      <p:sp>
        <p:nvSpPr>
          <p:cNvPr id="9" name="rep-plat-b"/>
          <p:cNvSpPr txBox="1"/>
          <p:nvPr/>
        </p:nvSpPr>
        <p:spPr>
          <a:xfrm>
            <a:off x="6409944" y="2706624"/>
            <a:ext cx="4873752" cy="17830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13E"/>
                </a:solidFill>
              </a:rPr>
              <a:t>Cross-event analytics dashboard by period</a:t>
            </a:r>
            <a:endParaRPr lang="en-US" sz="1200" dirty="0"/>
          </a:p>
          <a:p>
            <a:pPr marL="342900" indent="-342900">
              <a:spcAft>
                <a:spcPts val="500"/>
              </a:spcAft>
              <a:buSzPct val="100000"/>
              <a:buChar char="•"/>
            </a:pPr>
            <a:r>
              <a:rPr lang="en-US" sz="1200" dirty="0">
                <a:solidFill>
                  <a:srgbClr val="16213E"/>
                </a:solidFill>
              </a:rPr>
              <a:t>Plan payments: what was sold and what was waived</a:t>
            </a:r>
            <a:endParaRPr lang="en-US" sz="1200" dirty="0"/>
          </a:p>
          <a:p>
            <a:pPr marL="342900" indent="-342900">
              <a:spcAft>
                <a:spcPts val="500"/>
              </a:spcAft>
              <a:buSzPct val="100000"/>
              <a:buChar char="•"/>
            </a:pPr>
            <a:r>
              <a:rPr lang="en-US" sz="1200" dirty="0">
                <a:solidFill>
                  <a:srgbClr val="16213E"/>
                </a:solidFill>
              </a:rPr>
              <a:t>Refunds, with who authorised each one</a:t>
            </a:r>
            <a:endParaRPr lang="en-US" sz="1200" dirty="0"/>
          </a:p>
          <a:p>
            <a:pPr marL="342900" indent="-342900">
              <a:spcAft>
                <a:spcPts val="500"/>
              </a:spcAft>
              <a:buSzPct val="100000"/>
              <a:buChar char="•"/>
            </a:pPr>
            <a:r>
              <a:rPr lang="en-US" sz="1200" dirty="0">
                <a:solidFill>
                  <a:srgbClr val="16213E"/>
                </a:solidFill>
              </a:rPr>
              <a:t>Append-only audit log of every staff action</a:t>
            </a:r>
            <a:endParaRPr lang="en-US" sz="1200" dirty="0"/>
          </a:p>
        </p:txBody>
      </p:sp>
      <p:sp>
        <p:nvSpPr>
          <p:cNvPr id="10" name="Text 8"/>
          <p:cNvSpPr txBox="1"/>
          <p:nvPr/>
        </p:nvSpPr>
        <p:spPr>
          <a:xfrm>
            <a:off x="640080" y="4937760"/>
            <a:ext cx="10881360" cy="777240"/>
          </a:xfrm>
          <a:prstGeom prst="rect">
            <a:avLst/>
          </a:prstGeom>
          <a:noFill/>
          <a:ln/>
        </p:spPr>
        <p:txBody>
          <a:bodyPr wrap="square" lIns="0" tIns="0" rIns="0" bIns="0" rtlCol="0" anchor="ctr"/>
          <a:lstStyle/>
          <a:p>
            <a:pPr indent="0" marL="0">
              <a:buNone/>
            </a:pPr>
            <a:r>
              <a:rPr lang="en-US" sz="1250" i="1" dirty="0">
                <a:solidFill>
                  <a:srgbClr val="5A6BA8"/>
                </a:solidFill>
              </a:rPr>
              <a:t>The revenue figure used to be computed in the browser by summing the rows on screen. Paginating the list without moving that into SQL would have under-reported takings on a product that handles real money — so the summary endpoint exists to make pagination safe, not as a nicety.</a:t>
            </a:r>
            <a:endParaRPr lang="en-US" sz="1250" dirty="0"/>
          </a:p>
        </p:txBody>
      </p:sp>
      <p:sp>
        <p:nvSpPr>
          <p:cNvPr id="12" name="Text 1"/>
          <p:cNvSpPr/>
          <p:nvPr>
            <p:ph idx="102" hasCustomPrompt="1"/>
          </p:nvPr>
        </p:nvSpPr>
        <p:spPr>
          <a:xfrm>
            <a:off x="1124712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rgbClr val="2F3C7E"/>
                </a:solidFill>
              </a:rPr>
              <a:t>Support can see what you see — and change nothing</a:t>
            </a:r>
            <a:endParaRPr lang="en-US" sz="3200" dirty="0"/>
          </a:p>
        </p:txBody>
      </p:sp>
      <p:sp>
        <p:nvSpPr>
          <p:cNvPr id="3" name="Text 1"/>
          <p:cNvSpPr txBox="1"/>
          <p:nvPr/>
        </p:nvSpPr>
        <p:spPr>
          <a:xfrm>
            <a:off x="640080" y="1280160"/>
            <a:ext cx="10881360" cy="731520"/>
          </a:xfrm>
          <a:prstGeom prst="rect">
            <a:avLst/>
          </a:prstGeom>
          <a:noFill/>
          <a:ln/>
        </p:spPr>
        <p:txBody>
          <a:bodyPr wrap="square" lIns="0" tIns="0" rIns="0" bIns="0" rtlCol="0" anchor="ctr"/>
          <a:lstStyle/>
          <a:p>
            <a:pPr indent="0" marL="0">
              <a:buNone/>
            </a:pPr>
            <a:r>
              <a:rPr lang="en-US" sz="1500" dirty="0">
                <a:solidFill>
                  <a:srgbClr val="16213E"/>
                </a:solidFill>
              </a:rPr>
              <a:t>An administrator can open the app as any user to reproduce a problem. The session is read-only, time-limited, disclosed to the user and audited.</a:t>
            </a:r>
            <a:endParaRPr lang="en-US" sz="1500" dirty="0"/>
          </a:p>
        </p:txBody>
      </p:sp>
      <p:sp>
        <p:nvSpPr>
          <p:cNvPr id="4" name="bullet-1-dot"/>
          <p:cNvSpPr/>
          <p:nvPr/>
        </p:nvSpPr>
        <p:spPr>
          <a:xfrm>
            <a:off x="731520" y="2194560"/>
            <a:ext cx="420624" cy="420624"/>
          </a:xfrm>
          <a:prstGeom prst="ellipse">
            <a:avLst/>
          </a:prstGeom>
          <a:solidFill>
            <a:srgbClr val="F96167"/>
          </a:solidFill>
          <a:ln w="12700">
            <a:solidFill>
              <a:srgbClr val="F96167"/>
            </a:solidFill>
            <a:prstDash val="solid"/>
          </a:ln>
        </p:spPr>
      </p:sp>
      <p:sp>
        <p:nvSpPr>
          <p:cNvPr id="5" name="bullet-1-num"/>
          <p:cNvSpPr txBox="1"/>
          <p:nvPr/>
        </p:nvSpPr>
        <p:spPr>
          <a:xfrm>
            <a:off x="731520" y="219456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bullet-1-label"/>
          <p:cNvSpPr txBox="1"/>
          <p:nvPr/>
        </p:nvSpPr>
        <p:spPr>
          <a:xfrm>
            <a:off x="1353312" y="2157984"/>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Read-only, enforced on the request method</a:t>
            </a:r>
            <a:endParaRPr lang="en-US" sz="1500" dirty="0"/>
          </a:p>
        </p:txBody>
      </p:sp>
      <p:sp>
        <p:nvSpPr>
          <p:cNvPr id="7" name="bullet-1-body"/>
          <p:cNvSpPr txBox="1"/>
          <p:nvPr/>
        </p:nvSpPr>
        <p:spPr>
          <a:xfrm>
            <a:off x="1353312" y="2450592"/>
            <a:ext cx="9985248" cy="475488"/>
          </a:xfrm>
          <a:prstGeom prst="rect">
            <a:avLst/>
          </a:prstGeom>
          <a:noFill/>
          <a:ln/>
        </p:spPr>
        <p:txBody>
          <a:bodyPr wrap="square" lIns="0" tIns="0" rIns="0" bIns="0" rtlCol="0" anchor="ctr"/>
          <a:lstStyle/>
          <a:p>
            <a:pPr indent="0" marL="0">
              <a:buNone/>
            </a:pPr>
            <a:r>
              <a:rPr lang="en-US" sz="1250" dirty="0">
                <a:solidFill>
                  <a:srgbClr val="16213E"/>
                </a:solidFill>
              </a:rPr>
              <a:t>The rule is the HTTP verb, default-deny — not a list of protected endpoints. An endpoint written next year is covered by someone who never read the design.</a:t>
            </a:r>
            <a:endParaRPr lang="en-US" sz="1250" dirty="0"/>
          </a:p>
        </p:txBody>
      </p:sp>
      <p:sp>
        <p:nvSpPr>
          <p:cNvPr id="8" name="bullet-2-dot"/>
          <p:cNvSpPr/>
          <p:nvPr/>
        </p:nvSpPr>
        <p:spPr>
          <a:xfrm>
            <a:off x="731520" y="3182112"/>
            <a:ext cx="420624" cy="420624"/>
          </a:xfrm>
          <a:prstGeom prst="ellipse">
            <a:avLst/>
          </a:prstGeom>
          <a:solidFill>
            <a:srgbClr val="F96167"/>
          </a:solidFill>
          <a:ln w="12700">
            <a:solidFill>
              <a:srgbClr val="F96167"/>
            </a:solidFill>
            <a:prstDash val="solid"/>
          </a:ln>
        </p:spPr>
      </p:sp>
      <p:sp>
        <p:nvSpPr>
          <p:cNvPr id="9" name="bullet-2-num"/>
          <p:cNvSpPr txBox="1"/>
          <p:nvPr/>
        </p:nvSpPr>
        <p:spPr>
          <a:xfrm>
            <a:off x="731520" y="3182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0" name="bullet-2-label"/>
          <p:cNvSpPr txBox="1"/>
          <p:nvPr/>
        </p:nvSpPr>
        <p:spPr>
          <a:xfrm>
            <a:off x="1353312" y="3145536"/>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The user is told, every time</a:t>
            </a:r>
            <a:endParaRPr lang="en-US" sz="1500" dirty="0"/>
          </a:p>
        </p:txBody>
      </p:sp>
      <p:sp>
        <p:nvSpPr>
          <p:cNvPr id="11" name="bullet-2-body"/>
          <p:cNvSpPr txBox="1"/>
          <p:nvPr/>
        </p:nvSpPr>
        <p:spPr>
          <a:xfrm>
            <a:off x="1353312" y="3438144"/>
            <a:ext cx="9985248" cy="475488"/>
          </a:xfrm>
          <a:prstGeom prst="rect">
            <a:avLst/>
          </a:prstGeom>
          <a:noFill/>
          <a:ln/>
        </p:spPr>
        <p:txBody>
          <a:bodyPr wrap="square" lIns="0" tIns="0" rIns="0" bIns="0" rtlCol="0" anchor="ctr"/>
          <a:lstStyle/>
          <a:p>
            <a:pPr indent="0" marL="0">
              <a:buNone/>
            </a:pPr>
            <a:r>
              <a:rPr lang="en-US" sz="1250" dirty="0">
                <a:solidFill>
                  <a:srgbClr val="16213E"/>
                </a:solidFill>
              </a:rPr>
              <a:t>The notification and the session are created in one transaction. “A session existed that the user was never told about” is not a state the database can hold.</a:t>
            </a:r>
            <a:endParaRPr lang="en-US" sz="1250" dirty="0"/>
          </a:p>
        </p:txBody>
      </p:sp>
      <p:sp>
        <p:nvSpPr>
          <p:cNvPr id="12" name="bullet-3-dot"/>
          <p:cNvSpPr/>
          <p:nvPr/>
        </p:nvSpPr>
        <p:spPr>
          <a:xfrm>
            <a:off x="731520" y="4169664"/>
            <a:ext cx="420624" cy="420624"/>
          </a:xfrm>
          <a:prstGeom prst="ellipse">
            <a:avLst/>
          </a:prstGeom>
          <a:solidFill>
            <a:srgbClr val="F96167"/>
          </a:solidFill>
          <a:ln w="12700">
            <a:solidFill>
              <a:srgbClr val="F96167"/>
            </a:solidFill>
            <a:prstDash val="solid"/>
          </a:ln>
        </p:spPr>
      </p:sp>
      <p:sp>
        <p:nvSpPr>
          <p:cNvPr id="13" name="bullet-3-num"/>
          <p:cNvSpPr txBox="1"/>
          <p:nvPr/>
        </p:nvSpPr>
        <p:spPr>
          <a:xfrm>
            <a:off x="731520" y="4169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bullet-3-label"/>
          <p:cNvSpPr txBox="1"/>
          <p:nvPr/>
        </p:nvSpPr>
        <p:spPr>
          <a:xfrm>
            <a:off x="1353312" y="4133088"/>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Thirty minutes, and withdrawable</a:t>
            </a:r>
            <a:endParaRPr lang="en-US" sz="1500" dirty="0"/>
          </a:p>
        </p:txBody>
      </p:sp>
      <p:sp>
        <p:nvSpPr>
          <p:cNvPr id="15" name="bullet-3-body"/>
          <p:cNvSpPr txBox="1"/>
          <p:nvPr/>
        </p:nvSpPr>
        <p:spPr>
          <a:xfrm>
            <a:off x="1353312" y="4425696"/>
            <a:ext cx="9985248" cy="475488"/>
          </a:xfrm>
          <a:prstGeom prst="rect">
            <a:avLst/>
          </a:prstGeom>
          <a:noFill/>
          <a:ln/>
        </p:spPr>
        <p:txBody>
          <a:bodyPr wrap="square" lIns="0" tIns="0" rIns="0" bIns="0" rtlCol="0" anchor="ctr"/>
          <a:lstStyle/>
          <a:p>
            <a:pPr indent="0" marL="0">
              <a:buNone/>
            </a:pPr>
            <a:r>
              <a:rPr lang="en-US" sz="1250" dirty="0">
                <a:solidFill>
                  <a:srgbClr val="16213E"/>
                </a:solidFill>
              </a:rPr>
              <a:t>Ordinary sign-ins last 30 days; a support session lasts 30 minutes and can be revoked mid-session. The staff member's own status is re-checked on every request.</a:t>
            </a:r>
            <a:endParaRPr lang="en-US" sz="1250" dirty="0"/>
          </a:p>
        </p:txBody>
      </p:sp>
      <p:sp>
        <p:nvSpPr>
          <p:cNvPr id="16" name="bullet-4-dot"/>
          <p:cNvSpPr/>
          <p:nvPr/>
        </p:nvSpPr>
        <p:spPr>
          <a:xfrm>
            <a:off x="731520" y="5157216"/>
            <a:ext cx="420624" cy="420624"/>
          </a:xfrm>
          <a:prstGeom prst="ellipse">
            <a:avLst/>
          </a:prstGeom>
          <a:solidFill>
            <a:srgbClr val="F96167"/>
          </a:solidFill>
          <a:ln w="12700">
            <a:solidFill>
              <a:srgbClr val="F96167"/>
            </a:solidFill>
            <a:prstDash val="solid"/>
          </a:ln>
        </p:spPr>
      </p:sp>
      <p:sp>
        <p:nvSpPr>
          <p:cNvPr id="17" name="bullet-4-num"/>
          <p:cNvSpPr txBox="1"/>
          <p:nvPr/>
        </p:nvSpPr>
        <p:spPr>
          <a:xfrm>
            <a:off x="731520" y="51572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8" name="bullet-4-label"/>
          <p:cNvSpPr txBox="1"/>
          <p:nvPr/>
        </p:nvSpPr>
        <p:spPr>
          <a:xfrm>
            <a:off x="1353312" y="5120640"/>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Secrets stay secret</a:t>
            </a:r>
            <a:endParaRPr lang="en-US" sz="1500" dirty="0"/>
          </a:p>
        </p:txBody>
      </p:sp>
      <p:sp>
        <p:nvSpPr>
          <p:cNvPr id="19" name="bullet-4-body"/>
          <p:cNvSpPr txBox="1"/>
          <p:nvPr/>
        </p:nvSpPr>
        <p:spPr>
          <a:xfrm>
            <a:off x="1353312" y="5413248"/>
            <a:ext cx="9985248" cy="475488"/>
          </a:xfrm>
          <a:prstGeom prst="rect">
            <a:avLst/>
          </a:prstGeom>
          <a:noFill/>
          <a:ln/>
        </p:spPr>
        <p:txBody>
          <a:bodyPr wrap="square" lIns="0" tIns="0" rIns="0" bIns="0" rtlCol="0" anchor="ctr"/>
          <a:lstStyle/>
          <a:p>
            <a:pPr indent="0" marL="0">
              <a:buNone/>
            </a:pPr>
            <a:r>
              <a:rPr lang="en-US" sz="1250" dirty="0">
                <a:solidFill>
                  <a:srgbClr val="16213E"/>
                </a:solidFill>
              </a:rPr>
              <a:t>An organizer's payment credentials are blanked in a support session — but the flag saying whether payments are configured stays, because that is the question support is asked.</a:t>
            </a:r>
            <a:endParaRPr lang="en-US" sz="1250" dirty="0"/>
          </a:p>
        </p:txBody>
      </p:sp>
      <p:sp>
        <p:nvSpPr>
          <p:cNvPr id="21" name="Text 1"/>
          <p:cNvSpPr/>
          <p:nvPr>
            <p:ph idx="102" hasCustomPrompt="1"/>
          </p:nvPr>
        </p:nvSpPr>
        <p:spPr>
          <a:xfrm>
            <a:off x="1124712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rgbClr val="2F3C7E"/>
                </a:solidFill>
              </a:rPr>
              <a:t>Trust and safety without a false-positive machine</a:t>
            </a:r>
            <a:endParaRPr lang="en-US" sz="3200" dirty="0"/>
          </a:p>
        </p:txBody>
      </p:sp>
      <p:sp>
        <p:nvSpPr>
          <p:cNvPr id="3" name="Text 1"/>
          <p:cNvSpPr txBox="1"/>
          <p:nvPr/>
        </p:nvSpPr>
        <p:spPr>
          <a:xfrm>
            <a:off x="640080" y="1280160"/>
            <a:ext cx="10881360" cy="731520"/>
          </a:xfrm>
          <a:prstGeom prst="rect">
            <a:avLst/>
          </a:prstGeom>
          <a:noFill/>
          <a:ln/>
        </p:spPr>
        <p:txBody>
          <a:bodyPr wrap="square" lIns="0" tIns="0" rIns="0" bIns="0" rtlCol="0" anchor="ctr"/>
          <a:lstStyle/>
          <a:p>
            <a:pPr indent="0" marL="0">
              <a:buNone/>
            </a:pPr>
            <a:r>
              <a:rPr lang="en-US" sz="1500" dirty="0">
                <a:solidFill>
                  <a:srgbClr val="16213E"/>
                </a:solidFill>
              </a:rPr>
              <a:t>Rally refuses to host gatherings for four purposes: political, gambling, violence, discrimination. How it finds out about them was a deliberate choice.</a:t>
            </a:r>
            <a:endParaRPr lang="en-US" sz="1500" dirty="0"/>
          </a:p>
        </p:txBody>
      </p:sp>
      <p:sp>
        <p:nvSpPr>
          <p:cNvPr id="4" name="mod-chosen-card"/>
          <p:cNvSpPr/>
          <p:nvPr/>
        </p:nvSpPr>
        <p:spPr>
          <a:xfrm>
            <a:off x="640080" y="2194560"/>
            <a:ext cx="5349240" cy="2468880"/>
          </a:xfrm>
          <a:prstGeom prst="roundRect">
            <a:avLst>
              <a:gd name="adj" fmla="val 2222"/>
            </a:avLst>
          </a:prstGeom>
          <a:solidFill>
            <a:srgbClr val="F2F4FA"/>
          </a:solidFill>
          <a:ln w="12700">
            <a:solidFill>
              <a:srgbClr val="F2F4FA"/>
            </a:solidFill>
            <a:prstDash val="solid"/>
          </a:ln>
          <a:effectLst>
            <a:outerShdw sx="100000" sy="100000" kx="0" ky="0" algn="bl" rotWithShape="0" blurRad="76200" dist="12700" dir="5400000">
              <a:srgbClr val="16213E">
                <a:alpha val="10000"/>
              </a:srgbClr>
            </a:outerShdw>
          </a:effectLst>
        </p:spPr>
      </p:sp>
      <p:sp>
        <p:nvSpPr>
          <p:cNvPr id="5" name="mod-chosen-h"/>
          <p:cNvSpPr txBox="1"/>
          <p:nvPr/>
        </p:nvSpPr>
        <p:spPr>
          <a:xfrm>
            <a:off x="877824" y="2377440"/>
            <a:ext cx="4873752" cy="365760"/>
          </a:xfrm>
          <a:prstGeom prst="rect">
            <a:avLst/>
          </a:prstGeom>
          <a:noFill/>
          <a:ln/>
        </p:spPr>
        <p:txBody>
          <a:bodyPr wrap="square" lIns="0" tIns="0" rIns="0" bIns="0" rtlCol="0" anchor="t"/>
          <a:lstStyle/>
          <a:p>
            <a:pPr indent="0" marL="0">
              <a:buNone/>
            </a:pPr>
            <a:r>
              <a:rPr lang="en-US" sz="1500" b="1" dirty="0">
                <a:solidFill>
                  <a:srgbClr val="2F3C7E"/>
                </a:solidFill>
              </a:rPr>
              <a:t>Chosen: notice and takedown</a:t>
            </a:r>
            <a:endParaRPr lang="en-US" sz="1500" dirty="0"/>
          </a:p>
        </p:txBody>
      </p:sp>
      <p:sp>
        <p:nvSpPr>
          <p:cNvPr id="6" name="mod-chosen-b"/>
          <p:cNvSpPr txBox="1"/>
          <p:nvPr/>
        </p:nvSpPr>
        <p:spPr>
          <a:xfrm>
            <a:off x="877824" y="2798064"/>
            <a:ext cx="4873752" cy="16459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13E"/>
                </a:solidFill>
              </a:rPr>
              <a:t>Anyone who can see an event can report it — no account needed</a:t>
            </a:r>
            <a:endParaRPr lang="en-US" sz="1200" dirty="0"/>
          </a:p>
          <a:p>
            <a:pPr marL="342900" indent="-342900">
              <a:spcAft>
                <a:spcPts val="500"/>
              </a:spcAft>
              <a:buSzPct val="100000"/>
              <a:buChar char="•"/>
            </a:pPr>
            <a:r>
              <a:rPr lang="en-US" sz="1200" dirty="0">
                <a:solidFill>
                  <a:srgbClr val="16213E"/>
                </a:solidFill>
              </a:rPr>
              <a:t>Report volume sets queue priority and nothing else</a:t>
            </a:r>
            <a:endParaRPr lang="en-US" sz="1200" dirty="0"/>
          </a:p>
          <a:p>
            <a:pPr marL="342900" indent="-342900">
              <a:spcAft>
                <a:spcPts val="500"/>
              </a:spcAft>
              <a:buSzPct val="100000"/>
              <a:buChar char="•"/>
            </a:pPr>
            <a:r>
              <a:rPr lang="en-US" sz="1200" dirty="0">
                <a:solidFill>
                  <a:srgbClr val="16213E"/>
                </a:solidFill>
              </a:rPr>
              <a:t>Nothing in the report path ever changes an event's state</a:t>
            </a:r>
            <a:endParaRPr lang="en-US" sz="1200" dirty="0"/>
          </a:p>
          <a:p>
            <a:pPr marL="342900" indent="-342900">
              <a:spcAft>
                <a:spcPts val="500"/>
              </a:spcAft>
              <a:buSzPct val="100000"/>
              <a:buChar char="•"/>
            </a:pPr>
            <a:r>
              <a:rPr lang="en-US" sz="1200" dirty="0">
                <a:solidFill>
                  <a:srgbClr val="16213E"/>
                </a:solidFill>
              </a:rPr>
              <a:t>Staff review, staff decide, every decision audited</a:t>
            </a:r>
            <a:endParaRPr lang="en-US" sz="1200" dirty="0"/>
          </a:p>
        </p:txBody>
      </p:sp>
      <p:sp>
        <p:nvSpPr>
          <p:cNvPr id="7" name="mod-rejected-card"/>
          <p:cNvSpPr/>
          <p:nvPr/>
        </p:nvSpPr>
        <p:spPr>
          <a:xfrm>
            <a:off x="6172200" y="2194560"/>
            <a:ext cx="5349240" cy="2468880"/>
          </a:xfrm>
          <a:prstGeom prst="roundRect">
            <a:avLst>
              <a:gd name="adj" fmla="val 2222"/>
            </a:avLst>
          </a:prstGeom>
          <a:solidFill>
            <a:srgbClr val="FBE9EA"/>
          </a:solidFill>
          <a:ln w="12700">
            <a:solidFill>
              <a:srgbClr val="FBE9EA"/>
            </a:solidFill>
            <a:prstDash val="solid"/>
          </a:ln>
          <a:effectLst>
            <a:outerShdw sx="100000" sy="100000" kx="0" ky="0" algn="bl" rotWithShape="0" blurRad="76200" dist="12700" dir="5400000">
              <a:srgbClr val="16213E">
                <a:alpha val="10000"/>
              </a:srgbClr>
            </a:outerShdw>
          </a:effectLst>
        </p:spPr>
      </p:sp>
      <p:sp>
        <p:nvSpPr>
          <p:cNvPr id="8" name="mod-rejected-h"/>
          <p:cNvSpPr txBox="1"/>
          <p:nvPr/>
        </p:nvSpPr>
        <p:spPr>
          <a:xfrm>
            <a:off x="6409944" y="2377440"/>
            <a:ext cx="4873752" cy="365760"/>
          </a:xfrm>
          <a:prstGeom prst="rect">
            <a:avLst/>
          </a:prstGeom>
          <a:noFill/>
          <a:ln/>
        </p:spPr>
        <p:txBody>
          <a:bodyPr wrap="square" lIns="0" tIns="0" rIns="0" bIns="0" rtlCol="0" anchor="t"/>
          <a:lstStyle/>
          <a:p>
            <a:pPr indent="0" marL="0">
              <a:buNone/>
            </a:pPr>
            <a:r>
              <a:rPr lang="en-US" sz="1500" b="1" dirty="0">
                <a:solidFill>
                  <a:srgbClr val="2F3C7E"/>
                </a:solidFill>
              </a:rPr>
              <a:t>Rejected: an AI classifier</a:t>
            </a:r>
            <a:endParaRPr lang="en-US" sz="1500" dirty="0"/>
          </a:p>
        </p:txBody>
      </p:sp>
      <p:sp>
        <p:nvSpPr>
          <p:cNvPr id="9" name="mod-rejected-b"/>
          <p:cNvSpPr txBox="1"/>
          <p:nvPr/>
        </p:nvSpPr>
        <p:spPr>
          <a:xfrm>
            <a:off x="6409944" y="2798064"/>
            <a:ext cx="4873752" cy="16459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13E"/>
                </a:solidFill>
              </a:rPr>
              <a:t>The four refused categories overlap badly with real sport: boxing, charity casino nights, women-only and disability-category races</a:t>
            </a:r>
            <a:endParaRPr lang="en-US" sz="1200" dirty="0"/>
          </a:p>
          <a:p>
            <a:pPr marL="342900" indent="-342900">
              <a:spcAft>
                <a:spcPts val="500"/>
              </a:spcAft>
              <a:buSzPct val="100000"/>
              <a:buChar char="•"/>
            </a:pPr>
            <a:r>
              <a:rPr lang="en-US" sz="1200" dirty="0">
                <a:solidFill>
                  <a:srgbClr val="16213E"/>
                </a:solidFill>
              </a:rPr>
              <a:t>A filter precise enough to help would hold a real share of paying events</a:t>
            </a:r>
            <a:endParaRPr lang="en-US" sz="1200" dirty="0"/>
          </a:p>
          <a:p>
            <a:pPr marL="342900" indent="-342900">
              <a:spcAft>
                <a:spcPts val="500"/>
              </a:spcAft>
              <a:buSzPct val="100000"/>
              <a:buChar char="•"/>
            </a:pPr>
            <a:r>
              <a:rPr lang="en-US" sz="1200" dirty="0">
                <a:solidFill>
                  <a:srgbClr val="16213E"/>
                </a:solidFill>
              </a:rPr>
              <a:t>And it answers the motivating threat — a hijacked account — only after the damage is published</a:t>
            </a:r>
            <a:endParaRPr lang="en-US" sz="1200" dirty="0"/>
          </a:p>
        </p:txBody>
      </p:sp>
      <p:sp>
        <p:nvSpPr>
          <p:cNvPr id="10" name="Text 8"/>
          <p:cNvSpPr txBox="1"/>
          <p:nvPr/>
        </p:nvSpPr>
        <p:spPr>
          <a:xfrm>
            <a:off x="640080" y="4892040"/>
            <a:ext cx="10881360" cy="731520"/>
          </a:xfrm>
          <a:prstGeom prst="rect">
            <a:avLst/>
          </a:prstGeom>
          <a:noFill/>
          <a:ln/>
        </p:spPr>
        <p:txBody>
          <a:bodyPr wrap="square" lIns="0" tIns="0" rIns="0" bIns="0" rtlCol="0" anchor="ctr"/>
          <a:lstStyle/>
          <a:p>
            <a:pPr indent="0" marL="0">
              <a:buNone/>
            </a:pPr>
            <a:r>
              <a:rPr lang="en-US" sz="1250" i="1" dirty="0">
                <a:solidFill>
                  <a:srgbClr val="5A6BA8"/>
                </a:solidFill>
              </a:rPr>
              <a:t>An auto-hide threshold would hand anybody with a handful of accounts a button that takes a competitor's paid event down. A platform strangers can make delete an organizer's work is worse than one that takes an hour to read a complaint.</a:t>
            </a:r>
            <a:endParaRPr lang="en-US" sz="1250" dirty="0"/>
          </a:p>
        </p:txBody>
      </p:sp>
      <p:sp>
        <p:nvSpPr>
          <p:cNvPr id="12" name="Text 1"/>
          <p:cNvSpPr/>
          <p:nvPr>
            <p:ph idx="102" hasCustomPrompt="1"/>
          </p:nvPr>
        </p:nvSpPr>
        <p:spPr>
          <a:xfrm>
            <a:off x="1124712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822960" y="2743200"/>
            <a:ext cx="9601200" cy="1188720"/>
          </a:xfrm>
          <a:prstGeom prst="rect">
            <a:avLst/>
          </a:prstGeom>
          <a:noFill/>
          <a:ln/>
        </p:spPr>
        <p:txBody>
          <a:bodyPr wrap="square" rtlCol="0" anchor="ctr"/>
          <a:lstStyle/>
          <a:p>
            <a:pPr algn="l" indent="0" marL="0">
              <a:buNone/>
            </a:pPr>
            <a:r>
              <a:rPr lang="en-US" sz="4000" b="1" dirty="0">
                <a:solidFill>
                  <a:schemeClr val="bg1"/>
                </a:solidFill>
              </a:rPr>
              <a:t>04 — Engineering and infrastructure</a:t>
            </a:r>
            <a:endParaRPr lang="en-US" sz="4000" dirty="0"/>
          </a:p>
        </p:txBody>
      </p:sp>
      <p:sp>
        <p:nvSpPr>
          <p:cNvPr id="3" name="Text 0"/>
          <p:cNvSpPr/>
          <p:nvPr>
            <p:ph idx="101" type="body" hasCustomPrompt="1"/>
          </p:nvPr>
        </p:nvSpPr>
        <p:spPr>
          <a:xfrm>
            <a:off x="822960" y="3931920"/>
            <a:ext cx="9144000" cy="914400"/>
          </a:xfrm>
          <a:prstGeom prst="rect">
            <a:avLst/>
          </a:prstGeom>
          <a:noFill/>
          <a:ln/>
        </p:spPr>
        <p:txBody>
          <a:bodyPr wrap="square" rtlCol="0"/>
          <a:lstStyle/>
          <a:p>
            <a:pPr indent="0" marL="0">
              <a:buNone/>
            </a:pPr>
            <a:r>
              <a:rPr lang="en-US" sz="1500" dirty="0">
                <a:solidFill>
                  <a:srgbClr val="F9E795"/>
                </a:solidFill>
              </a:rPr>
              <a:t>How it is built, and what that buys</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rgbClr val="2F3C7E"/>
                </a:solidFill>
              </a:rPr>
              <a:t>A clean split between product and platform</a:t>
            </a:r>
            <a:endParaRPr lang="en-US" sz="3200" dirty="0"/>
          </a:p>
        </p:txBody>
      </p:sp>
      <p:sp>
        <p:nvSpPr>
          <p:cNvPr id="3" name="Text 1"/>
          <p:cNvSpPr txBox="1"/>
          <p:nvPr/>
        </p:nvSpPr>
        <p:spPr>
          <a:xfrm>
            <a:off x="640080" y="1280160"/>
            <a:ext cx="10881360" cy="548640"/>
          </a:xfrm>
          <a:prstGeom prst="rect">
            <a:avLst/>
          </a:prstGeom>
          <a:noFill/>
          <a:ln/>
        </p:spPr>
        <p:txBody>
          <a:bodyPr wrap="square" lIns="0" tIns="0" rIns="0" bIns="0" rtlCol="0" anchor="ctr"/>
          <a:lstStyle/>
          <a:p>
            <a:pPr indent="0" marL="0">
              <a:buNone/>
            </a:pPr>
            <a:r>
              <a:rPr lang="en-US" sz="1500" dirty="0">
                <a:solidFill>
                  <a:srgbClr val="16213E"/>
                </a:solidFill>
              </a:rPr>
              <a:t>The frontend is a static application; the backend is a JSON API. They deploy independently, and a change to one does not ship the other.</a:t>
            </a:r>
            <a:endParaRPr lang="en-US" sz="1500" dirty="0"/>
          </a:p>
        </p:txBody>
      </p:sp>
      <p:sp>
        <p:nvSpPr>
          <p:cNvPr id="4" name="tier-0"/>
          <p:cNvSpPr/>
          <p:nvPr/>
        </p:nvSpPr>
        <p:spPr>
          <a:xfrm>
            <a:off x="640080" y="2011680"/>
            <a:ext cx="5852160" cy="1005840"/>
          </a:xfrm>
          <a:prstGeom prst="roundRect">
            <a:avLst>
              <a:gd name="adj" fmla="val 7273"/>
            </a:avLst>
          </a:prstGeom>
          <a:solidFill>
            <a:srgbClr val="F96167"/>
          </a:solidFill>
          <a:ln w="12700">
            <a:solidFill>
              <a:srgbClr val="F96167"/>
            </a:solidFill>
            <a:prstDash val="solid"/>
          </a:ln>
        </p:spPr>
      </p:sp>
      <p:sp>
        <p:nvSpPr>
          <p:cNvPr id="5" name="tier-0-n"/>
          <p:cNvSpPr txBox="1"/>
          <p:nvPr/>
        </p:nvSpPr>
        <p:spPr>
          <a:xfrm>
            <a:off x="914400" y="2121408"/>
            <a:ext cx="1828800" cy="365760"/>
          </a:xfrm>
          <a:prstGeom prst="rect">
            <a:avLst/>
          </a:prstGeom>
          <a:noFill/>
          <a:ln/>
        </p:spPr>
        <p:txBody>
          <a:bodyPr wrap="square" lIns="0" tIns="0" rIns="0" bIns="0" rtlCol="0" anchor="ctr"/>
          <a:lstStyle/>
          <a:p>
            <a:pPr indent="0" marL="0">
              <a:buNone/>
            </a:pPr>
            <a:r>
              <a:rPr lang="en-US" sz="1600" b="1" dirty="0">
                <a:solidFill>
                  <a:srgbClr val="FFFFFF"/>
                </a:solidFill>
              </a:rPr>
              <a:t>Frontend</a:t>
            </a:r>
            <a:endParaRPr lang="en-US" sz="1600" dirty="0"/>
          </a:p>
        </p:txBody>
      </p:sp>
      <p:sp>
        <p:nvSpPr>
          <p:cNvPr id="6" name="tier-0-b"/>
          <p:cNvSpPr txBox="1"/>
          <p:nvPr/>
        </p:nvSpPr>
        <p:spPr>
          <a:xfrm>
            <a:off x="2651760" y="2139696"/>
            <a:ext cx="3657600" cy="786384"/>
          </a:xfrm>
          <a:prstGeom prst="rect">
            <a:avLst/>
          </a:prstGeom>
          <a:noFill/>
          <a:ln/>
        </p:spPr>
        <p:txBody>
          <a:bodyPr wrap="square" lIns="0" tIns="0" rIns="0" bIns="0" rtlCol="0" anchor="t"/>
          <a:lstStyle/>
          <a:p>
            <a:pPr indent="0" marL="0">
              <a:buNone/>
            </a:pPr>
            <a:r>
              <a:rPr lang="en-US" sz="1150" dirty="0">
                <a:solidFill>
                  <a:srgbClr val="FFFFFF"/>
                </a:solidFill>
              </a:rPr>
              <a:t>React 19 · TanStack Start · Tailwind</a:t>
            </a:r>
            <a:endParaRPr lang="en-US" sz="1150" dirty="0"/>
          </a:p>
          <a:p>
            <a:pPr indent="0" marL="0">
              <a:buNone/>
            </a:pPr>
            <a:r>
              <a:rPr lang="en-US" sz="1150" dirty="0">
                <a:solidFill>
                  <a:srgbClr val="FFFFFF"/>
                </a:solidFill>
              </a:rPr>
              <a:t>Static build on S3 behind CloudFront</a:t>
            </a:r>
            <a:endParaRPr lang="en-US" sz="1150" dirty="0"/>
          </a:p>
        </p:txBody>
      </p:sp>
      <p:sp>
        <p:nvSpPr>
          <p:cNvPr id="7" name="tier-1"/>
          <p:cNvSpPr/>
          <p:nvPr/>
        </p:nvSpPr>
        <p:spPr>
          <a:xfrm>
            <a:off x="640080" y="3200400"/>
            <a:ext cx="5852160" cy="1005840"/>
          </a:xfrm>
          <a:prstGeom prst="roundRect">
            <a:avLst>
              <a:gd name="adj" fmla="val 7273"/>
            </a:avLst>
          </a:prstGeom>
          <a:solidFill>
            <a:srgbClr val="2F3C7E"/>
          </a:solidFill>
          <a:ln w="12700">
            <a:solidFill>
              <a:srgbClr val="2F3C7E"/>
            </a:solidFill>
            <a:prstDash val="solid"/>
          </a:ln>
        </p:spPr>
      </p:sp>
      <p:sp>
        <p:nvSpPr>
          <p:cNvPr id="8" name="tier-1-n"/>
          <p:cNvSpPr txBox="1"/>
          <p:nvPr/>
        </p:nvSpPr>
        <p:spPr>
          <a:xfrm>
            <a:off x="914400" y="3310128"/>
            <a:ext cx="1828800" cy="365760"/>
          </a:xfrm>
          <a:prstGeom prst="rect">
            <a:avLst/>
          </a:prstGeom>
          <a:noFill/>
          <a:ln/>
        </p:spPr>
        <p:txBody>
          <a:bodyPr wrap="square" lIns="0" tIns="0" rIns="0" bIns="0" rtlCol="0" anchor="ctr"/>
          <a:lstStyle/>
          <a:p>
            <a:pPr indent="0" marL="0">
              <a:buNone/>
            </a:pPr>
            <a:r>
              <a:rPr lang="en-US" sz="1600" b="1" dirty="0">
                <a:solidFill>
                  <a:srgbClr val="FFFFFF"/>
                </a:solidFill>
              </a:rPr>
              <a:t>API</a:t>
            </a:r>
            <a:endParaRPr lang="en-US" sz="1600" dirty="0"/>
          </a:p>
        </p:txBody>
      </p:sp>
      <p:sp>
        <p:nvSpPr>
          <p:cNvPr id="9" name="tier-1-b"/>
          <p:cNvSpPr txBox="1"/>
          <p:nvPr/>
        </p:nvSpPr>
        <p:spPr>
          <a:xfrm>
            <a:off x="2651760" y="3328416"/>
            <a:ext cx="3657600" cy="786384"/>
          </a:xfrm>
          <a:prstGeom prst="rect">
            <a:avLst/>
          </a:prstGeom>
          <a:noFill/>
          <a:ln/>
        </p:spPr>
        <p:txBody>
          <a:bodyPr wrap="square" lIns="0" tIns="0" rIns="0" bIns="0" rtlCol="0" anchor="t"/>
          <a:lstStyle/>
          <a:p>
            <a:pPr indent="0" marL="0">
              <a:buNone/>
            </a:pPr>
            <a:r>
              <a:rPr lang="en-US" sz="1150" dirty="0">
                <a:solidFill>
                  <a:srgbClr val="FFFFFF"/>
                </a:solidFill>
              </a:rPr>
              <a:t>Rails 8.1, API-only · stateless JWT</a:t>
            </a:r>
            <a:endParaRPr lang="en-US" sz="1150" dirty="0"/>
          </a:p>
          <a:p>
            <a:pPr indent="0" marL="0">
              <a:buNone/>
            </a:pPr>
            <a:r>
              <a:rPr lang="en-US" sz="1150" dirty="0">
                <a:solidFill>
                  <a:srgbClr val="FFFFFF"/>
                </a:solidFill>
              </a:rPr>
              <a:t>Two services: web and background worker</a:t>
            </a:r>
            <a:endParaRPr lang="en-US" sz="1150" dirty="0"/>
          </a:p>
        </p:txBody>
      </p:sp>
      <p:sp>
        <p:nvSpPr>
          <p:cNvPr id="10" name="tier-2"/>
          <p:cNvSpPr/>
          <p:nvPr/>
        </p:nvSpPr>
        <p:spPr>
          <a:xfrm>
            <a:off x="640080" y="4389120"/>
            <a:ext cx="5852160" cy="1005840"/>
          </a:xfrm>
          <a:prstGeom prst="roundRect">
            <a:avLst>
              <a:gd name="adj" fmla="val 7273"/>
            </a:avLst>
          </a:prstGeom>
          <a:solidFill>
            <a:srgbClr val="5A6BA8"/>
          </a:solidFill>
          <a:ln w="12700">
            <a:solidFill>
              <a:srgbClr val="5A6BA8"/>
            </a:solidFill>
            <a:prstDash val="solid"/>
          </a:ln>
        </p:spPr>
      </p:sp>
      <p:sp>
        <p:nvSpPr>
          <p:cNvPr id="11" name="tier-2-n"/>
          <p:cNvSpPr txBox="1"/>
          <p:nvPr/>
        </p:nvSpPr>
        <p:spPr>
          <a:xfrm>
            <a:off x="914400" y="4498848"/>
            <a:ext cx="1828800" cy="365760"/>
          </a:xfrm>
          <a:prstGeom prst="rect">
            <a:avLst/>
          </a:prstGeom>
          <a:noFill/>
          <a:ln/>
        </p:spPr>
        <p:txBody>
          <a:bodyPr wrap="square" lIns="0" tIns="0" rIns="0" bIns="0" rtlCol="0" anchor="ctr"/>
          <a:lstStyle/>
          <a:p>
            <a:pPr indent="0" marL="0">
              <a:buNone/>
            </a:pPr>
            <a:r>
              <a:rPr lang="en-US" sz="1600" b="1" dirty="0">
                <a:solidFill>
                  <a:srgbClr val="FFFFFF"/>
                </a:solidFill>
              </a:rPr>
              <a:t>Data</a:t>
            </a:r>
            <a:endParaRPr lang="en-US" sz="1600" dirty="0"/>
          </a:p>
        </p:txBody>
      </p:sp>
      <p:sp>
        <p:nvSpPr>
          <p:cNvPr id="12" name="tier-2-b"/>
          <p:cNvSpPr txBox="1"/>
          <p:nvPr/>
        </p:nvSpPr>
        <p:spPr>
          <a:xfrm>
            <a:off x="2651760" y="4517136"/>
            <a:ext cx="3657600" cy="786384"/>
          </a:xfrm>
          <a:prstGeom prst="rect">
            <a:avLst/>
          </a:prstGeom>
          <a:noFill/>
          <a:ln/>
        </p:spPr>
        <p:txBody>
          <a:bodyPr wrap="square" lIns="0" tIns="0" rIns="0" bIns="0" rtlCol="0" anchor="t"/>
          <a:lstStyle/>
          <a:p>
            <a:pPr indent="0" marL="0">
              <a:buNone/>
            </a:pPr>
            <a:r>
              <a:rPr lang="en-US" sz="1150" dirty="0">
                <a:solidFill>
                  <a:srgbClr val="FFFFFF"/>
                </a:solidFill>
              </a:rPr>
              <a:t>PostgreSQL · job queue, cache and</a:t>
            </a:r>
            <a:endParaRPr lang="en-US" sz="1150" dirty="0"/>
          </a:p>
          <a:p>
            <a:pPr indent="0" marL="0">
              <a:buNone/>
            </a:pPr>
            <a:r>
              <a:rPr lang="en-US" sz="1150" dirty="0">
                <a:solidFill>
                  <a:srgbClr val="FFFFFF"/>
                </a:solidFill>
              </a:rPr>
              <a:t>pub-sub in their own databases</a:t>
            </a:r>
            <a:endParaRPr lang="en-US" sz="1150" dirty="0"/>
          </a:p>
        </p:txBody>
      </p:sp>
      <p:sp>
        <p:nvSpPr>
          <p:cNvPr id="13" name="arch-why-card"/>
          <p:cNvSpPr/>
          <p:nvPr/>
        </p:nvSpPr>
        <p:spPr>
          <a:xfrm>
            <a:off x="6858000" y="2011680"/>
            <a:ext cx="4663440" cy="3566160"/>
          </a:xfrm>
          <a:prstGeom prst="roundRect">
            <a:avLst>
              <a:gd name="adj" fmla="val 1538"/>
            </a:avLst>
          </a:prstGeom>
          <a:solidFill>
            <a:srgbClr val="F2F4FA"/>
          </a:solidFill>
          <a:ln w="12700">
            <a:solidFill>
              <a:srgbClr val="F2F4FA"/>
            </a:solidFill>
            <a:prstDash val="solid"/>
          </a:ln>
          <a:effectLst>
            <a:outerShdw sx="100000" sy="100000" kx="0" ky="0" algn="bl" rotWithShape="0" blurRad="76200" dist="12700" dir="5400000">
              <a:srgbClr val="16213E">
                <a:alpha val="10000"/>
              </a:srgbClr>
            </a:outerShdw>
          </a:effectLst>
        </p:spPr>
      </p:sp>
      <p:sp>
        <p:nvSpPr>
          <p:cNvPr id="14" name="arch-why-h"/>
          <p:cNvSpPr txBox="1"/>
          <p:nvPr/>
        </p:nvSpPr>
        <p:spPr>
          <a:xfrm>
            <a:off x="7095744" y="2194560"/>
            <a:ext cx="4187952" cy="365760"/>
          </a:xfrm>
          <a:prstGeom prst="rect">
            <a:avLst/>
          </a:prstGeom>
          <a:noFill/>
          <a:ln/>
        </p:spPr>
        <p:txBody>
          <a:bodyPr wrap="square" lIns="0" tIns="0" rIns="0" bIns="0" rtlCol="0" anchor="t"/>
          <a:lstStyle/>
          <a:p>
            <a:pPr indent="0" marL="0">
              <a:buNone/>
            </a:pPr>
            <a:r>
              <a:rPr lang="en-US" sz="1500" b="1" dirty="0">
                <a:solidFill>
                  <a:srgbClr val="2F3C7E"/>
                </a:solidFill>
              </a:rPr>
              <a:t>What the split buys</a:t>
            </a:r>
            <a:endParaRPr lang="en-US" sz="1500" dirty="0"/>
          </a:p>
        </p:txBody>
      </p:sp>
      <p:sp>
        <p:nvSpPr>
          <p:cNvPr id="15" name="arch-why-b"/>
          <p:cNvSpPr txBox="1"/>
          <p:nvPr/>
        </p:nvSpPr>
        <p:spPr>
          <a:xfrm>
            <a:off x="7095744" y="2615184"/>
            <a:ext cx="4187952" cy="27432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13E"/>
                </a:solidFill>
              </a:rPr>
              <a:t>A frontend release carries no database risk, and a backend release carries no UI risk</a:t>
            </a:r>
            <a:endParaRPr lang="en-US" sz="1200" dirty="0"/>
          </a:p>
          <a:p>
            <a:pPr marL="342900" indent="-342900">
              <a:spcAft>
                <a:spcPts val="500"/>
              </a:spcAft>
              <a:buSzPct val="100000"/>
              <a:buChar char="•"/>
            </a:pPr>
            <a:r>
              <a:rPr lang="en-US" sz="1200" dirty="0">
                <a:solidFill>
                  <a:srgbClr val="16213E"/>
                </a:solidFill>
              </a:rPr>
              <a:t>Continuous integration only runs the jobs for what actually changed</a:t>
            </a:r>
            <a:endParaRPr lang="en-US" sz="1200" dirty="0"/>
          </a:p>
          <a:p>
            <a:pPr marL="342900" indent="-342900">
              <a:spcAft>
                <a:spcPts val="500"/>
              </a:spcAft>
              <a:buSzPct val="100000"/>
              <a:buChar char="•"/>
            </a:pPr>
            <a:r>
              <a:rPr lang="en-US" sz="1200" dirty="0">
                <a:solidFill>
                  <a:srgbClr val="16213E"/>
                </a:solidFill>
              </a:rPr>
              <a:t>Background work runs in its own service — document rendering cannot slow a page load</a:t>
            </a:r>
            <a:endParaRPr lang="en-US" sz="1200" dirty="0"/>
          </a:p>
          <a:p>
            <a:pPr marL="342900" indent="-342900">
              <a:spcAft>
                <a:spcPts val="500"/>
              </a:spcAft>
              <a:buSzPct val="100000"/>
              <a:buChar char="•"/>
            </a:pPr>
            <a:r>
              <a:rPr lang="en-US" sz="1200" dirty="0">
                <a:solidFill>
                  <a:srgbClr val="16213E"/>
                </a:solidFill>
              </a:rPr>
              <a:t>The API is already the integration surface a partner would consume</a:t>
            </a:r>
            <a:endParaRPr lang="en-US" sz="1200" dirty="0"/>
          </a:p>
          <a:p>
            <a:pPr marL="342900" indent="-342900">
              <a:spcAft>
                <a:spcPts val="500"/>
              </a:spcAft>
              <a:buSzPct val="100000"/>
              <a:buChar char="•"/>
            </a:pPr>
            <a:r>
              <a:rPr lang="en-US" sz="1200" dirty="0">
                <a:solidFill>
                  <a:srgbClr val="16213E"/>
                </a:solidFill>
              </a:rPr>
              <a:t>A second client — a native app, a partner portal — needs no backend rewrite</a:t>
            </a:r>
            <a:endParaRPr lang="en-US" sz="1200" dirty="0"/>
          </a:p>
        </p:txBody>
      </p:sp>
      <p:sp>
        <p:nvSpPr>
          <p:cNvPr id="17" name="Text 1"/>
          <p:cNvSpPr/>
          <p:nvPr>
            <p:ph idx="102" hasCustomPrompt="1"/>
          </p:nvPr>
        </p:nvSpPr>
        <p:spPr>
          <a:xfrm>
            <a:off x="1124712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rgbClr val="2F3C7E"/>
                </a:solidFill>
              </a:rPr>
              <a:t>The whole environment is code</a:t>
            </a:r>
            <a:endParaRPr lang="en-US" sz="3200" dirty="0"/>
          </a:p>
        </p:txBody>
      </p:sp>
      <p:sp>
        <p:nvSpPr>
          <p:cNvPr id="3" name="Text 1"/>
          <p:cNvSpPr txBox="1"/>
          <p:nvPr/>
        </p:nvSpPr>
        <p:spPr>
          <a:xfrm>
            <a:off x="640080" y="1280160"/>
            <a:ext cx="10881360" cy="731520"/>
          </a:xfrm>
          <a:prstGeom prst="rect">
            <a:avLst/>
          </a:prstGeom>
          <a:noFill/>
          <a:ln/>
        </p:spPr>
        <p:txBody>
          <a:bodyPr wrap="square" lIns="0" tIns="0" rIns="0" bIns="0" rtlCol="0" anchor="ctr"/>
          <a:lstStyle/>
          <a:p>
            <a:pPr indent="0" marL="0">
              <a:buNone/>
            </a:pPr>
            <a:r>
              <a:rPr lang="en-US" sz="1500" dirty="0">
                <a:solidFill>
                  <a:srgbClr val="16213E"/>
                </a:solidFill>
              </a:rPr>
              <a:t>Networking, containers, database, storage, CDN, secrets and alarms are all defined in Terraform and applied from version control. Nothing important was clicked into existence.</a:t>
            </a:r>
            <a:endParaRPr lang="en-US" sz="1500" dirty="0"/>
          </a:p>
        </p:txBody>
      </p:sp>
      <p:sp>
        <p:nvSpPr>
          <p:cNvPr id="4" name="bullet-1-dot"/>
          <p:cNvSpPr/>
          <p:nvPr/>
        </p:nvSpPr>
        <p:spPr>
          <a:xfrm>
            <a:off x="731520" y="2194560"/>
            <a:ext cx="420624" cy="420624"/>
          </a:xfrm>
          <a:prstGeom prst="ellipse">
            <a:avLst/>
          </a:prstGeom>
          <a:solidFill>
            <a:srgbClr val="F96167"/>
          </a:solidFill>
          <a:ln w="12700">
            <a:solidFill>
              <a:srgbClr val="F96167"/>
            </a:solidFill>
            <a:prstDash val="solid"/>
          </a:ln>
        </p:spPr>
      </p:sp>
      <p:sp>
        <p:nvSpPr>
          <p:cNvPr id="5" name="bullet-1-num"/>
          <p:cNvSpPr txBox="1"/>
          <p:nvPr/>
        </p:nvSpPr>
        <p:spPr>
          <a:xfrm>
            <a:off x="731520" y="219456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bullet-1-label"/>
          <p:cNvSpPr txBox="1"/>
          <p:nvPr/>
        </p:nvSpPr>
        <p:spPr>
          <a:xfrm>
            <a:off x="1353312" y="2157984"/>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Containers on AWS ECS Fargate</a:t>
            </a:r>
            <a:endParaRPr lang="en-US" sz="1500" dirty="0"/>
          </a:p>
        </p:txBody>
      </p:sp>
      <p:sp>
        <p:nvSpPr>
          <p:cNvPr id="7" name="bullet-1-body"/>
          <p:cNvSpPr txBox="1"/>
          <p:nvPr/>
        </p:nvSpPr>
        <p:spPr>
          <a:xfrm>
            <a:off x="1353312" y="2450592"/>
            <a:ext cx="9985248" cy="475488"/>
          </a:xfrm>
          <a:prstGeom prst="rect">
            <a:avLst/>
          </a:prstGeom>
          <a:noFill/>
          <a:ln/>
        </p:spPr>
        <p:txBody>
          <a:bodyPr wrap="square" lIns="0" tIns="0" rIns="0" bIns="0" rtlCol="0" anchor="ctr"/>
          <a:lstStyle/>
          <a:p>
            <a:pPr indent="0" marL="0">
              <a:buNone/>
            </a:pPr>
            <a:r>
              <a:rPr lang="en-US" sz="1250" dirty="0">
                <a:solidFill>
                  <a:srgbClr val="16213E"/>
                </a:solidFill>
              </a:rPr>
              <a:t>Two services — the API and the background worker — running the same image with different commands. No servers to patch, and the API and the worker scale separately.</a:t>
            </a:r>
            <a:endParaRPr lang="en-US" sz="1250" dirty="0"/>
          </a:p>
        </p:txBody>
      </p:sp>
      <p:sp>
        <p:nvSpPr>
          <p:cNvPr id="8" name="bullet-2-dot"/>
          <p:cNvSpPr/>
          <p:nvPr/>
        </p:nvSpPr>
        <p:spPr>
          <a:xfrm>
            <a:off x="731520" y="3182112"/>
            <a:ext cx="420624" cy="420624"/>
          </a:xfrm>
          <a:prstGeom prst="ellipse">
            <a:avLst/>
          </a:prstGeom>
          <a:solidFill>
            <a:srgbClr val="F96167"/>
          </a:solidFill>
          <a:ln w="12700">
            <a:solidFill>
              <a:srgbClr val="F96167"/>
            </a:solidFill>
            <a:prstDash val="solid"/>
          </a:ln>
        </p:spPr>
      </p:sp>
      <p:sp>
        <p:nvSpPr>
          <p:cNvPr id="9" name="bullet-2-num"/>
          <p:cNvSpPr txBox="1"/>
          <p:nvPr/>
        </p:nvSpPr>
        <p:spPr>
          <a:xfrm>
            <a:off x="731520" y="3182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0" name="bullet-2-label"/>
          <p:cNvSpPr txBox="1"/>
          <p:nvPr/>
        </p:nvSpPr>
        <p:spPr>
          <a:xfrm>
            <a:off x="1353312" y="3145536"/>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Capacity today is one task per service</a:t>
            </a:r>
            <a:endParaRPr lang="en-US" sz="1500" dirty="0"/>
          </a:p>
        </p:txBody>
      </p:sp>
      <p:sp>
        <p:nvSpPr>
          <p:cNvPr id="11" name="bullet-2-body"/>
          <p:cNvSpPr txBox="1"/>
          <p:nvPr/>
        </p:nvSpPr>
        <p:spPr>
          <a:xfrm>
            <a:off x="1353312" y="3438144"/>
            <a:ext cx="9985248" cy="475488"/>
          </a:xfrm>
          <a:prstGeom prst="rect">
            <a:avLst/>
          </a:prstGeom>
          <a:noFill/>
          <a:ln/>
        </p:spPr>
        <p:txBody>
          <a:bodyPr wrap="square" lIns="0" tIns="0" rIns="0" bIns="0" rtlCol="0" anchor="ctr"/>
          <a:lstStyle/>
          <a:p>
            <a:pPr indent="0" marL="0">
              <a:buNone/>
            </a:pPr>
            <a:r>
              <a:rPr lang="en-US" sz="1250" dirty="0">
                <a:solidFill>
                  <a:srgbClr val="16213E"/>
                </a:solidFill>
              </a:rPr>
              <a:t>Deliberate at current volume. Scaling horizontally is a number in a configuration file, not a re-architecture, because nothing in the application holds per-server state.</a:t>
            </a:r>
            <a:endParaRPr lang="en-US" sz="1250" dirty="0"/>
          </a:p>
        </p:txBody>
      </p:sp>
      <p:sp>
        <p:nvSpPr>
          <p:cNvPr id="12" name="bullet-3-dot"/>
          <p:cNvSpPr/>
          <p:nvPr/>
        </p:nvSpPr>
        <p:spPr>
          <a:xfrm>
            <a:off x="731520" y="4169664"/>
            <a:ext cx="420624" cy="420624"/>
          </a:xfrm>
          <a:prstGeom prst="ellipse">
            <a:avLst/>
          </a:prstGeom>
          <a:solidFill>
            <a:srgbClr val="F96167"/>
          </a:solidFill>
          <a:ln w="12700">
            <a:solidFill>
              <a:srgbClr val="F96167"/>
            </a:solidFill>
            <a:prstDash val="solid"/>
          </a:ln>
        </p:spPr>
      </p:sp>
      <p:sp>
        <p:nvSpPr>
          <p:cNvPr id="13" name="bullet-3-num"/>
          <p:cNvSpPr txBox="1"/>
          <p:nvPr/>
        </p:nvSpPr>
        <p:spPr>
          <a:xfrm>
            <a:off x="731520" y="4169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bullet-3-label"/>
          <p:cNvSpPr txBox="1"/>
          <p:nvPr/>
        </p:nvSpPr>
        <p:spPr>
          <a:xfrm>
            <a:off x="1353312" y="4133088"/>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Deployment is automated and gated</a:t>
            </a:r>
            <a:endParaRPr lang="en-US" sz="1500" dirty="0"/>
          </a:p>
        </p:txBody>
      </p:sp>
      <p:sp>
        <p:nvSpPr>
          <p:cNvPr id="15" name="bullet-3-body"/>
          <p:cNvSpPr txBox="1"/>
          <p:nvPr/>
        </p:nvSpPr>
        <p:spPr>
          <a:xfrm>
            <a:off x="1353312" y="4425696"/>
            <a:ext cx="9985248" cy="475488"/>
          </a:xfrm>
          <a:prstGeom prst="rect">
            <a:avLst/>
          </a:prstGeom>
          <a:noFill/>
          <a:ln/>
        </p:spPr>
        <p:txBody>
          <a:bodyPr wrap="square" lIns="0" tIns="0" rIns="0" bIns="0" rtlCol="0" anchor="ctr"/>
          <a:lstStyle/>
          <a:p>
            <a:pPr indent="0" marL="0">
              <a:buNone/>
            </a:pPr>
            <a:r>
              <a:rPr lang="en-US" sz="1250" dirty="0">
                <a:solidFill>
                  <a:srgbClr val="16213E"/>
                </a:solidFill>
              </a:rPr>
              <a:t>Merging to the main branch builds, pushes and rolls both services in the correct order. Production requires a human approval; a staging environment deploys without one.</a:t>
            </a:r>
            <a:endParaRPr lang="en-US" sz="1250" dirty="0"/>
          </a:p>
        </p:txBody>
      </p:sp>
      <p:sp>
        <p:nvSpPr>
          <p:cNvPr id="16" name="bullet-4-dot"/>
          <p:cNvSpPr/>
          <p:nvPr/>
        </p:nvSpPr>
        <p:spPr>
          <a:xfrm>
            <a:off x="731520" y="5157216"/>
            <a:ext cx="420624" cy="420624"/>
          </a:xfrm>
          <a:prstGeom prst="ellipse">
            <a:avLst/>
          </a:prstGeom>
          <a:solidFill>
            <a:srgbClr val="F96167"/>
          </a:solidFill>
          <a:ln w="12700">
            <a:solidFill>
              <a:srgbClr val="F96167"/>
            </a:solidFill>
            <a:prstDash val="solid"/>
          </a:ln>
        </p:spPr>
      </p:sp>
      <p:sp>
        <p:nvSpPr>
          <p:cNvPr id="17" name="bullet-4-num"/>
          <p:cNvSpPr txBox="1"/>
          <p:nvPr/>
        </p:nvSpPr>
        <p:spPr>
          <a:xfrm>
            <a:off x="731520" y="51572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8" name="bullet-4-label"/>
          <p:cNvSpPr txBox="1"/>
          <p:nvPr/>
        </p:nvSpPr>
        <p:spPr>
          <a:xfrm>
            <a:off x="1353312" y="5120640"/>
            <a:ext cx="9985248" cy="292608"/>
          </a:xfrm>
          <a:prstGeom prst="rect">
            <a:avLst/>
          </a:prstGeom>
          <a:noFill/>
          <a:ln/>
        </p:spPr>
        <p:txBody>
          <a:bodyPr wrap="square" lIns="0" tIns="0" rIns="0" bIns="0" rtlCol="0" anchor="ctr"/>
          <a:lstStyle/>
          <a:p>
            <a:pPr indent="0" marL="0">
              <a:buNone/>
            </a:pPr>
            <a:r>
              <a:rPr lang="en-US" sz="1500" b="1" dirty="0">
                <a:solidFill>
                  <a:srgbClr val="2F3C7E"/>
                </a:solidFill>
              </a:rPr>
              <a:t>The monitoring watches work, not heartbeats</a:t>
            </a:r>
            <a:endParaRPr lang="en-US" sz="1500" dirty="0"/>
          </a:p>
        </p:txBody>
      </p:sp>
      <p:sp>
        <p:nvSpPr>
          <p:cNvPr id="19" name="bullet-4-body"/>
          <p:cNvSpPr txBox="1"/>
          <p:nvPr/>
        </p:nvSpPr>
        <p:spPr>
          <a:xfrm>
            <a:off x="1353312" y="5413248"/>
            <a:ext cx="9985248" cy="475488"/>
          </a:xfrm>
          <a:prstGeom prst="rect">
            <a:avLst/>
          </a:prstGeom>
          <a:noFill/>
          <a:ln/>
        </p:spPr>
        <p:txBody>
          <a:bodyPr wrap="square" lIns="0" tIns="0" rIns="0" bIns="0" rtlCol="0" anchor="ctr"/>
          <a:lstStyle/>
          <a:p>
            <a:pPr indent="0" marL="0">
              <a:buNone/>
            </a:pPr>
            <a:r>
              <a:rPr lang="en-US" sz="1250" dirty="0">
                <a:solidFill>
                  <a:srgbClr val="16213E"/>
                </a:solidFill>
              </a:rPr>
              <a:t>A probe job proves the whole chain — schedule, dispatch, claim, execute — actually ran. A worker wedged on a stuck conversion keeps its heartbeat perfectly fresh, so the heartbeat is not the signal.</a:t>
            </a:r>
            <a:endParaRPr lang="en-US" sz="1250" dirty="0"/>
          </a:p>
        </p:txBody>
      </p:sp>
      <p:sp>
        <p:nvSpPr>
          <p:cNvPr id="21" name="Text 1"/>
          <p:cNvSpPr/>
          <p:nvPr>
            <p:ph idx="102" hasCustomPrompt="1"/>
          </p:nvPr>
        </p:nvSpPr>
        <p:spPr>
          <a:xfrm>
            <a:off x="1124712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rgbClr val="2F3C7E"/>
                </a:solidFill>
              </a:rPr>
              <a:t>The suite is the asset, not the slide deck</a:t>
            </a:r>
            <a:endParaRPr lang="en-US" sz="3200" dirty="0"/>
          </a:p>
        </p:txBody>
      </p:sp>
      <p:sp>
        <p:nvSpPr>
          <p:cNvPr id="3" name="Text 1"/>
          <p:cNvSpPr txBox="1"/>
          <p:nvPr/>
        </p:nvSpPr>
        <p:spPr>
          <a:xfrm>
            <a:off x="640080" y="1280160"/>
            <a:ext cx="10881360" cy="548640"/>
          </a:xfrm>
          <a:prstGeom prst="rect">
            <a:avLst/>
          </a:prstGeom>
          <a:noFill/>
          <a:ln/>
        </p:spPr>
        <p:txBody>
          <a:bodyPr wrap="square" lIns="0" tIns="0" rIns="0" bIns="0" rtlCol="0" anchor="ctr"/>
          <a:lstStyle/>
          <a:p>
            <a:pPr indent="0" marL="0">
              <a:buNone/>
            </a:pPr>
            <a:r>
              <a:rPr lang="en-US" sz="1500" dirty="0">
                <a:solidFill>
                  <a:srgbClr val="16213E"/>
                </a:solidFill>
              </a:rPr>
              <a:t>What makes it safe for a small team to ship often — which is what actually determines how fast the product moves after an investment.</a:t>
            </a:r>
            <a:endParaRPr lang="en-US" sz="1500" dirty="0"/>
          </a:p>
        </p:txBody>
      </p:sp>
      <p:sp>
        <p:nvSpPr>
          <p:cNvPr id="4" name="qa-0"/>
          <p:cNvSpPr/>
          <p:nvPr/>
        </p:nvSpPr>
        <p:spPr>
          <a:xfrm>
            <a:off x="640080" y="2011680"/>
            <a:ext cx="2606040" cy="1737360"/>
          </a:xfrm>
          <a:prstGeom prst="roundRect">
            <a:avLst>
              <a:gd name="adj" fmla="val 4211"/>
            </a:avLst>
          </a:prstGeom>
          <a:solidFill>
            <a:srgbClr val="F2F4FA"/>
          </a:solidFill>
          <a:ln w="12700">
            <a:solidFill>
              <a:srgbClr val="F2F4FA"/>
            </a:solidFill>
            <a:prstDash val="solid"/>
          </a:ln>
        </p:spPr>
      </p:sp>
      <p:sp>
        <p:nvSpPr>
          <p:cNvPr id="5" name="qa-0-v"/>
          <p:cNvSpPr txBox="1"/>
          <p:nvPr/>
        </p:nvSpPr>
        <p:spPr>
          <a:xfrm>
            <a:off x="640080" y="2212848"/>
            <a:ext cx="2606040" cy="822960"/>
          </a:xfrm>
          <a:prstGeom prst="rect">
            <a:avLst/>
          </a:prstGeom>
          <a:noFill/>
          <a:ln/>
        </p:spPr>
        <p:txBody>
          <a:bodyPr wrap="square" lIns="0" tIns="0" rIns="0" bIns="0" rtlCol="0" anchor="ctr"/>
          <a:lstStyle/>
          <a:p>
            <a:pPr algn="ctr" indent="0" marL="0">
              <a:buNone/>
            </a:pPr>
            <a:r>
              <a:rPr lang="en-US" sz="4200" b="1" dirty="0">
                <a:solidFill>
                  <a:srgbClr val="2F3C7E"/>
                </a:solidFill>
              </a:rPr>
              <a:t>1,805</a:t>
            </a:r>
            <a:endParaRPr lang="en-US" sz="4200" dirty="0"/>
          </a:p>
        </p:txBody>
      </p:sp>
      <p:sp>
        <p:nvSpPr>
          <p:cNvPr id="6" name="qa-0-l"/>
          <p:cNvSpPr txBox="1"/>
          <p:nvPr/>
        </p:nvSpPr>
        <p:spPr>
          <a:xfrm>
            <a:off x="822960" y="3017520"/>
            <a:ext cx="2240280" cy="502920"/>
          </a:xfrm>
          <a:prstGeom prst="rect">
            <a:avLst/>
          </a:prstGeom>
          <a:noFill/>
          <a:ln/>
        </p:spPr>
        <p:txBody>
          <a:bodyPr wrap="square" lIns="0" tIns="0" rIns="0" bIns="0" rtlCol="0" anchor="ctr"/>
          <a:lstStyle/>
          <a:p>
            <a:pPr algn="ctr" indent="0" marL="0">
              <a:buNone/>
            </a:pPr>
            <a:r>
              <a:rPr lang="en-US" sz="1200" dirty="0">
                <a:solidFill>
                  <a:srgbClr val="16213E"/>
                </a:solidFill>
              </a:rPr>
              <a:t>Backend test examples</a:t>
            </a:r>
            <a:endParaRPr lang="en-US" sz="1200" dirty="0"/>
          </a:p>
        </p:txBody>
      </p:sp>
      <p:sp>
        <p:nvSpPr>
          <p:cNvPr id="7" name="qa-1"/>
          <p:cNvSpPr/>
          <p:nvPr/>
        </p:nvSpPr>
        <p:spPr>
          <a:xfrm>
            <a:off x="3447288" y="2011680"/>
            <a:ext cx="2606040" cy="1737360"/>
          </a:xfrm>
          <a:prstGeom prst="roundRect">
            <a:avLst>
              <a:gd name="adj" fmla="val 4211"/>
            </a:avLst>
          </a:prstGeom>
          <a:solidFill>
            <a:srgbClr val="F2F4FA"/>
          </a:solidFill>
          <a:ln w="12700">
            <a:solidFill>
              <a:srgbClr val="F2F4FA"/>
            </a:solidFill>
            <a:prstDash val="solid"/>
          </a:ln>
        </p:spPr>
      </p:sp>
      <p:sp>
        <p:nvSpPr>
          <p:cNvPr id="8" name="qa-1-v"/>
          <p:cNvSpPr txBox="1"/>
          <p:nvPr/>
        </p:nvSpPr>
        <p:spPr>
          <a:xfrm>
            <a:off x="3447288" y="2212848"/>
            <a:ext cx="2606040" cy="822960"/>
          </a:xfrm>
          <a:prstGeom prst="rect">
            <a:avLst/>
          </a:prstGeom>
          <a:noFill/>
          <a:ln/>
        </p:spPr>
        <p:txBody>
          <a:bodyPr wrap="square" lIns="0" tIns="0" rIns="0" bIns="0" rtlCol="0" anchor="ctr"/>
          <a:lstStyle/>
          <a:p>
            <a:pPr algn="ctr" indent="0" marL="0">
              <a:buNone/>
            </a:pPr>
            <a:r>
              <a:rPr lang="en-US" sz="4200" b="1" dirty="0">
                <a:solidFill>
                  <a:srgbClr val="5A6BA8"/>
                </a:solidFill>
              </a:rPr>
              <a:t>91</a:t>
            </a:r>
            <a:endParaRPr lang="en-US" sz="4200" dirty="0"/>
          </a:p>
        </p:txBody>
      </p:sp>
      <p:sp>
        <p:nvSpPr>
          <p:cNvPr id="9" name="qa-1-l"/>
          <p:cNvSpPr txBox="1"/>
          <p:nvPr/>
        </p:nvSpPr>
        <p:spPr>
          <a:xfrm>
            <a:off x="3630168" y="3017520"/>
            <a:ext cx="2240280" cy="502920"/>
          </a:xfrm>
          <a:prstGeom prst="rect">
            <a:avLst/>
          </a:prstGeom>
          <a:noFill/>
          <a:ln/>
        </p:spPr>
        <p:txBody>
          <a:bodyPr wrap="square" lIns="0" tIns="0" rIns="0" bIns="0" rtlCol="0" anchor="ctr"/>
          <a:lstStyle/>
          <a:p>
            <a:pPr algn="ctr" indent="0" marL="0">
              <a:buNone/>
            </a:pPr>
            <a:r>
              <a:rPr lang="en-US" sz="1200" dirty="0">
                <a:solidFill>
                  <a:srgbClr val="16213E"/>
                </a:solidFill>
              </a:rPr>
              <a:t>Backend spec files</a:t>
            </a:r>
            <a:endParaRPr lang="en-US" sz="1200" dirty="0"/>
          </a:p>
        </p:txBody>
      </p:sp>
      <p:sp>
        <p:nvSpPr>
          <p:cNvPr id="10" name="qa-2"/>
          <p:cNvSpPr/>
          <p:nvPr/>
        </p:nvSpPr>
        <p:spPr>
          <a:xfrm>
            <a:off x="6254496" y="2011680"/>
            <a:ext cx="2606040" cy="1737360"/>
          </a:xfrm>
          <a:prstGeom prst="roundRect">
            <a:avLst>
              <a:gd name="adj" fmla="val 4211"/>
            </a:avLst>
          </a:prstGeom>
          <a:solidFill>
            <a:srgbClr val="F2F4FA"/>
          </a:solidFill>
          <a:ln w="12700">
            <a:solidFill>
              <a:srgbClr val="F2F4FA"/>
            </a:solidFill>
            <a:prstDash val="solid"/>
          </a:ln>
        </p:spPr>
      </p:sp>
      <p:sp>
        <p:nvSpPr>
          <p:cNvPr id="11" name="qa-2-v"/>
          <p:cNvSpPr txBox="1"/>
          <p:nvPr/>
        </p:nvSpPr>
        <p:spPr>
          <a:xfrm>
            <a:off x="6254496" y="2212848"/>
            <a:ext cx="2606040" cy="822960"/>
          </a:xfrm>
          <a:prstGeom prst="rect">
            <a:avLst/>
          </a:prstGeom>
          <a:noFill/>
          <a:ln/>
        </p:spPr>
        <p:txBody>
          <a:bodyPr wrap="square" lIns="0" tIns="0" rIns="0" bIns="0" rtlCol="0" anchor="ctr"/>
          <a:lstStyle/>
          <a:p>
            <a:pPr algn="ctr" indent="0" marL="0">
              <a:buNone/>
            </a:pPr>
            <a:r>
              <a:rPr lang="en-US" sz="4200" b="1" dirty="0">
                <a:solidFill>
                  <a:srgbClr val="5A6BA8"/>
                </a:solidFill>
              </a:rPr>
              <a:t>9</a:t>
            </a:r>
            <a:endParaRPr lang="en-US" sz="4200" dirty="0"/>
          </a:p>
        </p:txBody>
      </p:sp>
      <p:sp>
        <p:nvSpPr>
          <p:cNvPr id="12" name="qa-2-l"/>
          <p:cNvSpPr txBox="1"/>
          <p:nvPr/>
        </p:nvSpPr>
        <p:spPr>
          <a:xfrm>
            <a:off x="6437376" y="3017520"/>
            <a:ext cx="2240280" cy="502920"/>
          </a:xfrm>
          <a:prstGeom prst="rect">
            <a:avLst/>
          </a:prstGeom>
          <a:noFill/>
          <a:ln/>
        </p:spPr>
        <p:txBody>
          <a:bodyPr wrap="square" lIns="0" tIns="0" rIns="0" bIns="0" rtlCol="0" anchor="ctr"/>
          <a:lstStyle/>
          <a:p>
            <a:pPr algn="ctr" indent="0" marL="0">
              <a:buNone/>
            </a:pPr>
            <a:r>
              <a:rPr lang="en-US" sz="1200" dirty="0">
                <a:solidFill>
                  <a:srgbClr val="16213E"/>
                </a:solidFill>
              </a:rPr>
              <a:t>Frontend test files</a:t>
            </a:r>
            <a:endParaRPr lang="en-US" sz="1200" dirty="0"/>
          </a:p>
        </p:txBody>
      </p:sp>
      <p:sp>
        <p:nvSpPr>
          <p:cNvPr id="13" name="qa-3"/>
          <p:cNvSpPr/>
          <p:nvPr/>
        </p:nvSpPr>
        <p:spPr>
          <a:xfrm>
            <a:off x="9061704" y="2011680"/>
            <a:ext cx="2606040" cy="1737360"/>
          </a:xfrm>
          <a:prstGeom prst="roundRect">
            <a:avLst>
              <a:gd name="adj" fmla="val 4211"/>
            </a:avLst>
          </a:prstGeom>
          <a:solidFill>
            <a:srgbClr val="F2F4FA"/>
          </a:solidFill>
          <a:ln w="12700">
            <a:solidFill>
              <a:srgbClr val="F2F4FA"/>
            </a:solidFill>
            <a:prstDash val="solid"/>
          </a:ln>
        </p:spPr>
      </p:sp>
      <p:sp>
        <p:nvSpPr>
          <p:cNvPr id="14" name="qa-3-v"/>
          <p:cNvSpPr txBox="1"/>
          <p:nvPr/>
        </p:nvSpPr>
        <p:spPr>
          <a:xfrm>
            <a:off x="9061704" y="2212848"/>
            <a:ext cx="2606040" cy="822960"/>
          </a:xfrm>
          <a:prstGeom prst="rect">
            <a:avLst/>
          </a:prstGeom>
          <a:noFill/>
          <a:ln/>
        </p:spPr>
        <p:txBody>
          <a:bodyPr wrap="square" lIns="0" tIns="0" rIns="0" bIns="0" rtlCol="0" anchor="ctr"/>
          <a:lstStyle/>
          <a:p>
            <a:pPr algn="ctr" indent="0" marL="0">
              <a:buNone/>
            </a:pPr>
            <a:r>
              <a:rPr lang="en-US" sz="4200" b="1" dirty="0">
                <a:solidFill>
                  <a:srgbClr val="F96167"/>
                </a:solidFill>
              </a:rPr>
              <a:t>7</a:t>
            </a:r>
            <a:endParaRPr lang="en-US" sz="4200" dirty="0"/>
          </a:p>
        </p:txBody>
      </p:sp>
      <p:sp>
        <p:nvSpPr>
          <p:cNvPr id="15" name="qa-3-l"/>
          <p:cNvSpPr txBox="1"/>
          <p:nvPr/>
        </p:nvSpPr>
        <p:spPr>
          <a:xfrm>
            <a:off x="9244584" y="3017520"/>
            <a:ext cx="2240280" cy="502920"/>
          </a:xfrm>
          <a:prstGeom prst="rect">
            <a:avLst/>
          </a:prstGeom>
          <a:noFill/>
          <a:ln/>
        </p:spPr>
        <p:txBody>
          <a:bodyPr wrap="square" lIns="0" tIns="0" rIns="0" bIns="0" rtlCol="0" anchor="ctr"/>
          <a:lstStyle/>
          <a:p>
            <a:pPr algn="ctr" indent="0" marL="0">
              <a:buNone/>
            </a:pPr>
            <a:r>
              <a:rPr lang="en-US" sz="1200" dirty="0">
                <a:solidFill>
                  <a:srgbClr val="16213E"/>
                </a:solidFill>
              </a:rPr>
              <a:t>End-to-end journeys</a:t>
            </a:r>
            <a:endParaRPr lang="en-US" sz="1200" dirty="0"/>
          </a:p>
        </p:txBody>
      </p:sp>
      <p:sp>
        <p:nvSpPr>
          <p:cNvPr id="16" name="qa-e2e-card"/>
          <p:cNvSpPr/>
          <p:nvPr/>
        </p:nvSpPr>
        <p:spPr>
          <a:xfrm>
            <a:off x="640080" y="4023360"/>
            <a:ext cx="10881360" cy="1691640"/>
          </a:xfrm>
          <a:prstGeom prst="roundRect">
            <a:avLst>
              <a:gd name="adj" fmla="val 3243"/>
            </a:avLst>
          </a:prstGeom>
          <a:solidFill>
            <a:srgbClr val="F2F4FA"/>
          </a:solidFill>
          <a:ln w="12700">
            <a:solidFill>
              <a:srgbClr val="F2F4FA"/>
            </a:solidFill>
            <a:prstDash val="solid"/>
          </a:ln>
          <a:effectLst>
            <a:outerShdw sx="100000" sy="100000" kx="0" ky="0" algn="bl" rotWithShape="0" blurRad="76200" dist="12700" dir="5400000">
              <a:srgbClr val="16213E">
                <a:alpha val="10000"/>
              </a:srgbClr>
            </a:outerShdw>
          </a:effectLst>
        </p:spPr>
      </p:sp>
      <p:sp>
        <p:nvSpPr>
          <p:cNvPr id="17" name="qa-e2e-h"/>
          <p:cNvSpPr txBox="1"/>
          <p:nvPr/>
        </p:nvSpPr>
        <p:spPr>
          <a:xfrm>
            <a:off x="877824" y="4206240"/>
            <a:ext cx="10405872" cy="365760"/>
          </a:xfrm>
          <a:prstGeom prst="rect">
            <a:avLst/>
          </a:prstGeom>
          <a:noFill/>
          <a:ln/>
        </p:spPr>
        <p:txBody>
          <a:bodyPr wrap="square" lIns="0" tIns="0" rIns="0" bIns="0" rtlCol="0" anchor="t"/>
          <a:lstStyle/>
          <a:p>
            <a:pPr indent="0" marL="0">
              <a:buNone/>
            </a:pPr>
            <a:r>
              <a:rPr lang="en-US" sz="1500" b="1" dirty="0">
                <a:solidFill>
                  <a:srgbClr val="2F3C7E"/>
                </a:solidFill>
              </a:rPr>
              <a:t>What the end-to-end suite actually does</a:t>
            </a:r>
            <a:endParaRPr lang="en-US" sz="1500" dirty="0"/>
          </a:p>
        </p:txBody>
      </p:sp>
      <p:sp>
        <p:nvSpPr>
          <p:cNvPr id="18" name="qa-e2e-b"/>
          <p:cNvSpPr txBox="1"/>
          <p:nvPr/>
        </p:nvSpPr>
        <p:spPr>
          <a:xfrm>
            <a:off x="877824" y="4626864"/>
            <a:ext cx="10405872" cy="8686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13E"/>
                </a:solidFill>
              </a:rPr>
              <a:t>Seven journeys driving a real browser against a real server and a real database — not mocks</a:t>
            </a:r>
            <a:endParaRPr lang="en-US" sz="1200" dirty="0"/>
          </a:p>
          <a:p>
            <a:pPr marL="342900" indent="-342900">
              <a:spcAft>
                <a:spcPts val="500"/>
              </a:spcAft>
              <a:buSzPct val="100000"/>
              <a:buChar char="•"/>
            </a:pPr>
            <a:r>
              <a:rPr lang="en-US" sz="1200" dirty="0">
                <a:solidFill>
                  <a:srgbClr val="16213E"/>
                </a:solidFill>
              </a:rPr>
              <a:t>Includes paying for an event through a stand-in gateway that fires the genuine payment webhook</a:t>
            </a:r>
            <a:endParaRPr lang="en-US" sz="1200" dirty="0"/>
          </a:p>
          <a:p>
            <a:pPr marL="342900" indent="-342900">
              <a:spcAft>
                <a:spcPts val="500"/>
              </a:spcAft>
              <a:buSzPct val="100000"/>
              <a:buChar char="•"/>
            </a:pPr>
            <a:r>
              <a:rPr lang="en-US" sz="1200" dirty="0">
                <a:solidFill>
                  <a:srgbClr val="16213E"/>
                </a:solidFill>
              </a:rPr>
              <a:t>Covers publishing, paying, waitlist promotion, race day and moderation — the money paths a human can least afford to retest by hand before every release</a:t>
            </a:r>
            <a:endParaRPr lang="en-US" sz="1200" dirty="0"/>
          </a:p>
        </p:txBody>
      </p:sp>
      <p:sp>
        <p:nvSpPr>
          <p:cNvPr id="20" name="Text 1"/>
          <p:cNvSpPr/>
          <p:nvPr>
            <p:ph idx="102" hasCustomPrompt="1"/>
          </p:nvPr>
        </p:nvSpPr>
        <p:spPr>
          <a:xfrm>
            <a:off x="1124712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chemeClr val="bg1"/>
                </a:solidFill>
              </a:rPr>
              <a:t>What the next stage buys</a:t>
            </a:r>
            <a:endParaRPr lang="en-US" sz="3200" dirty="0"/>
          </a:p>
        </p:txBody>
      </p:sp>
      <p:sp>
        <p:nvSpPr>
          <p:cNvPr id="3" name="Text 1"/>
          <p:cNvSpPr txBox="1"/>
          <p:nvPr/>
        </p:nvSpPr>
        <p:spPr>
          <a:xfrm>
            <a:off x="640080" y="1280160"/>
            <a:ext cx="10881360" cy="502920"/>
          </a:xfrm>
          <a:prstGeom prst="rect">
            <a:avLst/>
          </a:prstGeom>
          <a:noFill/>
          <a:ln/>
        </p:spPr>
        <p:txBody>
          <a:bodyPr wrap="square" lIns="0" tIns="0" rIns="0" bIns="0" rtlCol="0" anchor="ctr"/>
          <a:lstStyle/>
          <a:p>
            <a:pPr indent="0" marL="0">
              <a:buNone/>
            </a:pPr>
            <a:r>
              <a:rPr lang="en-US" sz="1500" dirty="0">
                <a:solidFill>
                  <a:srgbClr val="F9E795"/>
                </a:solidFill>
              </a:rPr>
              <a:t>Three things the architecture is already shaped for and the product does not yet ship.</a:t>
            </a:r>
            <a:endParaRPr lang="en-US" sz="1500" dirty="0"/>
          </a:p>
        </p:txBody>
      </p:sp>
      <p:sp>
        <p:nvSpPr>
          <p:cNvPr id="4" name="bullet-1-dot"/>
          <p:cNvSpPr/>
          <p:nvPr/>
        </p:nvSpPr>
        <p:spPr>
          <a:xfrm>
            <a:off x="731520" y="2057400"/>
            <a:ext cx="420624" cy="420624"/>
          </a:xfrm>
          <a:prstGeom prst="ellipse">
            <a:avLst/>
          </a:prstGeom>
          <a:solidFill>
            <a:srgbClr val="F96167"/>
          </a:solidFill>
          <a:ln w="12700">
            <a:solidFill>
              <a:srgbClr val="F96167"/>
            </a:solidFill>
            <a:prstDash val="solid"/>
          </a:ln>
        </p:spPr>
      </p:sp>
      <p:sp>
        <p:nvSpPr>
          <p:cNvPr id="5" name="bullet-1-num"/>
          <p:cNvSpPr txBox="1"/>
          <p:nvPr/>
        </p:nvSpPr>
        <p:spPr>
          <a:xfrm>
            <a:off x="731520" y="20574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bullet-1-label"/>
          <p:cNvSpPr txBox="1"/>
          <p:nvPr/>
        </p:nvSpPr>
        <p:spPr>
          <a:xfrm>
            <a:off x="1353312" y="2020824"/>
            <a:ext cx="9985248" cy="292608"/>
          </a:xfrm>
          <a:prstGeom prst="rect">
            <a:avLst/>
          </a:prstGeom>
          <a:noFill/>
          <a:ln/>
        </p:spPr>
        <p:txBody>
          <a:bodyPr wrap="square" lIns="0" tIns="0" rIns="0" bIns="0" rtlCol="0" anchor="ctr"/>
          <a:lstStyle/>
          <a:p>
            <a:pPr indent="0" marL="0">
              <a:buNone/>
            </a:pPr>
            <a:r>
              <a:rPr lang="en-US" sz="1500" b="1" dirty="0">
                <a:solidFill>
                  <a:srgbClr val="FFFFFF"/>
                </a:solidFill>
              </a:rPr>
              <a:t>Genuinely invite-only events</a:t>
            </a:r>
            <a:endParaRPr lang="en-US" sz="1500" dirty="0"/>
          </a:p>
        </p:txBody>
      </p:sp>
      <p:sp>
        <p:nvSpPr>
          <p:cNvPr id="7" name="bullet-1-body"/>
          <p:cNvSpPr txBox="1"/>
          <p:nvPr/>
        </p:nvSpPr>
        <p:spPr>
          <a:xfrm>
            <a:off x="1353312" y="2313432"/>
            <a:ext cx="9985248" cy="475488"/>
          </a:xfrm>
          <a:prstGeom prst="rect">
            <a:avLst/>
          </a:prstGeom>
          <a:noFill/>
          <a:ln/>
        </p:spPr>
        <p:txBody>
          <a:bodyPr wrap="square" lIns="0" tIns="0" rIns="0" bIns="0" rtlCol="0" anchor="ctr"/>
          <a:lstStyle/>
          <a:p>
            <a:pPr indent="0" marL="0">
              <a:buNone/>
            </a:pPr>
            <a:r>
              <a:rPr lang="en-US" sz="1250" dirty="0">
                <a:solidFill>
                  <a:srgbClr val="D8DDF0"/>
                </a:solidFill>
              </a:rPr>
              <a:t>A rotatable access code or an invite list, as a third visibility mode. The data model stores visibility as an enum specifically so this lands without a migration or an API break.</a:t>
            </a:r>
            <a:endParaRPr lang="en-US" sz="1250" dirty="0"/>
          </a:p>
        </p:txBody>
      </p:sp>
      <p:sp>
        <p:nvSpPr>
          <p:cNvPr id="8" name="bullet-2-dot"/>
          <p:cNvSpPr/>
          <p:nvPr/>
        </p:nvSpPr>
        <p:spPr>
          <a:xfrm>
            <a:off x="731520" y="3246120"/>
            <a:ext cx="420624" cy="420624"/>
          </a:xfrm>
          <a:prstGeom prst="ellipse">
            <a:avLst/>
          </a:prstGeom>
          <a:solidFill>
            <a:srgbClr val="F96167"/>
          </a:solidFill>
          <a:ln w="12700">
            <a:solidFill>
              <a:srgbClr val="F96167"/>
            </a:solidFill>
            <a:prstDash val="solid"/>
          </a:ln>
        </p:spPr>
      </p:sp>
      <p:sp>
        <p:nvSpPr>
          <p:cNvPr id="9" name="bullet-2-num"/>
          <p:cNvSpPr txBox="1"/>
          <p:nvPr/>
        </p:nvSpPr>
        <p:spPr>
          <a:xfrm>
            <a:off x="731520" y="32461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0" name="bullet-2-label"/>
          <p:cNvSpPr txBox="1"/>
          <p:nvPr/>
        </p:nvSpPr>
        <p:spPr>
          <a:xfrm>
            <a:off x="1353312" y="3209544"/>
            <a:ext cx="9985248" cy="292608"/>
          </a:xfrm>
          <a:prstGeom prst="rect">
            <a:avLst/>
          </a:prstGeom>
          <a:noFill/>
          <a:ln/>
        </p:spPr>
        <p:txBody>
          <a:bodyPr wrap="square" lIns="0" tIns="0" rIns="0" bIns="0" rtlCol="0" anchor="ctr"/>
          <a:lstStyle/>
          <a:p>
            <a:pPr indent="0" marL="0">
              <a:buNone/>
            </a:pPr>
            <a:r>
              <a:rPr lang="en-US" sz="1500" b="1" dirty="0">
                <a:solidFill>
                  <a:srgbClr val="FFFFFF"/>
                </a:solidFill>
              </a:rPr>
              <a:t>Horizontal autoscaling</a:t>
            </a:r>
            <a:endParaRPr lang="en-US" sz="1500" dirty="0"/>
          </a:p>
        </p:txBody>
      </p:sp>
      <p:sp>
        <p:nvSpPr>
          <p:cNvPr id="11" name="bullet-2-body"/>
          <p:cNvSpPr txBox="1"/>
          <p:nvPr/>
        </p:nvSpPr>
        <p:spPr>
          <a:xfrm>
            <a:off x="1353312" y="3502152"/>
            <a:ext cx="9985248" cy="475488"/>
          </a:xfrm>
          <a:prstGeom prst="rect">
            <a:avLst/>
          </a:prstGeom>
          <a:noFill/>
          <a:ln/>
        </p:spPr>
        <p:txBody>
          <a:bodyPr wrap="square" lIns="0" tIns="0" rIns="0" bIns="0" rtlCol="0" anchor="ctr"/>
          <a:lstStyle/>
          <a:p>
            <a:pPr indent="0" marL="0">
              <a:buNone/>
            </a:pPr>
            <a:r>
              <a:rPr lang="en-US" sz="1250" dirty="0">
                <a:solidFill>
                  <a:srgbClr val="D8DDF0"/>
                </a:solidFill>
              </a:rPr>
              <a:t>The application holds no per-server state and jobs are claimed under a unique index, so running many tasks is a configuration change. What is missing is the scaling policy and the load testing to set it from a real figure.</a:t>
            </a:r>
            <a:endParaRPr lang="en-US" sz="1250" dirty="0"/>
          </a:p>
        </p:txBody>
      </p:sp>
      <p:sp>
        <p:nvSpPr>
          <p:cNvPr id="12" name="bullet-3-dot"/>
          <p:cNvSpPr/>
          <p:nvPr/>
        </p:nvSpPr>
        <p:spPr>
          <a:xfrm>
            <a:off x="731520" y="4434840"/>
            <a:ext cx="420624" cy="420624"/>
          </a:xfrm>
          <a:prstGeom prst="ellipse">
            <a:avLst/>
          </a:prstGeom>
          <a:solidFill>
            <a:srgbClr val="F96167"/>
          </a:solidFill>
          <a:ln w="12700">
            <a:solidFill>
              <a:srgbClr val="F96167"/>
            </a:solidFill>
            <a:prstDash val="solid"/>
          </a:ln>
        </p:spPr>
      </p:sp>
      <p:sp>
        <p:nvSpPr>
          <p:cNvPr id="13" name="bullet-3-num"/>
          <p:cNvSpPr txBox="1"/>
          <p:nvPr/>
        </p:nvSpPr>
        <p:spPr>
          <a:xfrm>
            <a:off x="731520" y="44348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bullet-3-label"/>
          <p:cNvSpPr txBox="1"/>
          <p:nvPr/>
        </p:nvSpPr>
        <p:spPr>
          <a:xfrm>
            <a:off x="1353312" y="4398264"/>
            <a:ext cx="9985248" cy="292608"/>
          </a:xfrm>
          <a:prstGeom prst="rect">
            <a:avLst/>
          </a:prstGeom>
          <a:noFill/>
          <a:ln/>
        </p:spPr>
        <p:txBody>
          <a:bodyPr wrap="square" lIns="0" tIns="0" rIns="0" bIns="0" rtlCol="0" anchor="ctr"/>
          <a:lstStyle/>
          <a:p>
            <a:pPr indent="0" marL="0">
              <a:buNone/>
            </a:pPr>
            <a:r>
              <a:rPr lang="en-US" sz="1500" b="1" dirty="0">
                <a:solidFill>
                  <a:srgbClr val="FFFFFF"/>
                </a:solidFill>
              </a:rPr>
              <a:t>A partner API</a:t>
            </a:r>
            <a:endParaRPr lang="en-US" sz="1500" dirty="0"/>
          </a:p>
        </p:txBody>
      </p:sp>
      <p:sp>
        <p:nvSpPr>
          <p:cNvPr id="15" name="bullet-3-body"/>
          <p:cNvSpPr txBox="1"/>
          <p:nvPr/>
        </p:nvSpPr>
        <p:spPr>
          <a:xfrm>
            <a:off x="1353312" y="4690872"/>
            <a:ext cx="9985248" cy="475488"/>
          </a:xfrm>
          <a:prstGeom prst="rect">
            <a:avLst/>
          </a:prstGeom>
          <a:noFill/>
          <a:ln/>
        </p:spPr>
        <p:txBody>
          <a:bodyPr wrap="square" lIns="0" tIns="0" rIns="0" bIns="0" rtlCol="0" anchor="ctr"/>
          <a:lstStyle/>
          <a:p>
            <a:pPr indent="0" marL="0">
              <a:buNone/>
            </a:pPr>
            <a:r>
              <a:rPr lang="en-US" sz="1250" dirty="0">
                <a:solidFill>
                  <a:srgbClr val="D8DDF0"/>
                </a:solidFill>
              </a:rPr>
              <a:t>The backend is already a JSON API with its own authorization layer. Opening it to timing companies and federations is a distribution channel, not a rebuild.</a:t>
            </a:r>
            <a:endParaRPr lang="en-US" sz="1250" dirty="0"/>
          </a:p>
        </p:txBody>
      </p:sp>
      <p:sp>
        <p:nvSpPr>
          <p:cNvPr id="16" name="Text 14"/>
          <p:cNvSpPr txBox="1"/>
          <p:nvPr/>
        </p:nvSpPr>
        <p:spPr>
          <a:xfrm>
            <a:off x="640080" y="5577840"/>
            <a:ext cx="10881360" cy="640080"/>
          </a:xfrm>
          <a:prstGeom prst="rect">
            <a:avLst/>
          </a:prstGeom>
          <a:noFill/>
          <a:ln/>
        </p:spPr>
        <p:txBody>
          <a:bodyPr wrap="square" lIns="0" tIns="0" rIns="0" bIns="0" rtlCol="0" anchor="ctr"/>
          <a:lstStyle/>
          <a:p>
            <a:pPr indent="0" marL="0">
              <a:buNone/>
            </a:pPr>
            <a:r>
              <a:rPr lang="en-US" sz="1400" b="1" dirty="0">
                <a:solidFill>
                  <a:srgbClr val="F9E795"/>
                </a:solidFill>
              </a:rPr>
              <a:t>Rally is a working product with real payments, real governance and a test suite that lets a small team ship without fear. The next stage is distribution and scale, not rebuilding the foundations.</a:t>
            </a:r>
            <a:endParaRPr lang="en-US" sz="1400" dirty="0"/>
          </a:p>
        </p:txBody>
      </p:sp>
      <p:sp>
        <p:nvSpPr>
          <p:cNvPr id="18" name="Text 1"/>
          <p:cNvSpPr/>
          <p:nvPr>
            <p:ph idx="102" hasCustomPrompt="1"/>
          </p:nvPr>
        </p:nvSpPr>
        <p:spPr>
          <a:xfrm>
            <a:off x="1124712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theme/theme1.xml><?xml version="1.0" encoding="utf-8"?>
<a:theme xmlns:a="http://schemas.openxmlformats.org/drawingml/2006/main" name="Rally Investor">
  <a:themeElements>
    <a:clrScheme name="Rally Investor">
      <a:dk1>
        <a:srgbClr val="16213E"/>
      </a:dk1>
      <a:lt1>
        <a:srgbClr val="FFFFFF"/>
      </a:lt1>
      <a:dk2>
        <a:srgbClr val="2F3C7E"/>
      </a:dk2>
      <a:lt2>
        <a:srgbClr val="F2F4FA"/>
      </a:lt2>
      <a:accent1>
        <a:srgbClr val="F96167"/>
      </a:accent1>
      <a:accent2>
        <a:srgbClr val="2F3C7E"/>
      </a:accent2>
      <a:accent3>
        <a:srgbClr val="F9E795"/>
      </a:accent3>
      <a:accent4>
        <a:srgbClr val="5A6BA8"/>
      </a:accent4>
      <a:accent5>
        <a:srgbClr val="0E7C66"/>
      </a:accent5>
      <a:accent6>
        <a:srgbClr val="8A93B2"/>
      </a:accent6>
      <a:hlink>
        <a:srgbClr val="F96167"/>
      </a:hlink>
      <a:folHlink>
        <a:srgbClr val="8A93B2"/>
      </a:folHlink>
    </a:clrScheme>
    <a:fontScheme name="Rally Invest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Rally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Rally — Platform Overview</dc:title>
  <dc:subject>PptxGenJS Presentation</dc:subject>
  <dc:creator>Rally</dc:creator>
  <cp:lastModifiedBy>Rally</cp:lastModifiedBy>
  <cp:revision>1</cp:revision>
  <dcterms:created xsi:type="dcterms:W3CDTF">2026-10-20T02:51:33Z</dcterms:created>
  <dcterms:modified xsi:type="dcterms:W3CDTF">2026-10-20T02:51:33Z</dcterms:modified>
</cp:coreProperties>
</file>